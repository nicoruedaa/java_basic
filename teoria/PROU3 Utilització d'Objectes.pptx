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Economica"/>
      <p:regular r:id="rId50"/>
      <p:bold r:id="rId51"/>
      <p:italic r:id="rId52"/>
      <p:boldItalic r:id="rId53"/>
    </p:embeddedFont>
    <p:embeddedFont>
      <p:font typeface="Noto Sans Symbols"/>
      <p:regular r:id="rId54"/>
      <p:bold r:id="rId55"/>
    </p:embeddedFont>
    <p:embeddedFont>
      <p:font typeface="Helvetica Neue Light"/>
      <p:regular r:id="rId56"/>
      <p:bold r:id="rId57"/>
      <p:italic r:id="rId58"/>
      <p:boldItalic r:id="rId59"/>
    </p:embeddedFont>
    <p:embeddedFont>
      <p:font typeface="Open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64" roundtripDataSignature="AMtx7mitWQfrwloD50P7u9EY1JhFvQ9A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italic.fntdata"/><Relationship Id="rId61" Type="http://schemas.openxmlformats.org/officeDocument/2006/relationships/font" Target="fonts/OpenSans-bold.fntdata"/><Relationship Id="rId20" Type="http://schemas.openxmlformats.org/officeDocument/2006/relationships/slide" Target="slides/slide15.xml"/><Relationship Id="rId64" Type="http://customschemas.google.com/relationships/presentationmetadata" Target="metadata"/><Relationship Id="rId63" Type="http://schemas.openxmlformats.org/officeDocument/2006/relationships/font" Target="fonts/Open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Economica-bold.fntdata"/><Relationship Id="rId50" Type="http://schemas.openxmlformats.org/officeDocument/2006/relationships/font" Target="fonts/Economica-regular.fntdata"/><Relationship Id="rId53" Type="http://schemas.openxmlformats.org/officeDocument/2006/relationships/font" Target="fonts/Economica-boldItalic.fntdata"/><Relationship Id="rId52" Type="http://schemas.openxmlformats.org/officeDocument/2006/relationships/font" Target="fonts/Economica-italic.fntdata"/><Relationship Id="rId11" Type="http://schemas.openxmlformats.org/officeDocument/2006/relationships/slide" Target="slides/slide6.xml"/><Relationship Id="rId55" Type="http://schemas.openxmlformats.org/officeDocument/2006/relationships/font" Target="fonts/NotoSansSymbols-bold.fntdata"/><Relationship Id="rId10" Type="http://schemas.openxmlformats.org/officeDocument/2006/relationships/slide" Target="slides/slide5.xml"/><Relationship Id="rId54" Type="http://schemas.openxmlformats.org/officeDocument/2006/relationships/font" Target="fonts/NotoSansSymbols-regular.fntdata"/><Relationship Id="rId13" Type="http://schemas.openxmlformats.org/officeDocument/2006/relationships/slide" Target="slides/slide8.xml"/><Relationship Id="rId57" Type="http://schemas.openxmlformats.org/officeDocument/2006/relationships/font" Target="fonts/HelveticaNeueLight-bold.fntdata"/><Relationship Id="rId12" Type="http://schemas.openxmlformats.org/officeDocument/2006/relationships/slide" Target="slides/slide7.xml"/><Relationship Id="rId56" Type="http://schemas.openxmlformats.org/officeDocument/2006/relationships/font" Target="fonts/HelveticaNeueLight-regular.fntdata"/><Relationship Id="rId15" Type="http://schemas.openxmlformats.org/officeDocument/2006/relationships/slide" Target="slides/slide10.xml"/><Relationship Id="rId59" Type="http://schemas.openxmlformats.org/officeDocument/2006/relationships/font" Target="fonts/HelveticaNeueLight-boldItalic.fntdata"/><Relationship Id="rId14" Type="http://schemas.openxmlformats.org/officeDocument/2006/relationships/slide" Target="slides/slide9.xml"/><Relationship Id="rId58" Type="http://schemas.openxmlformats.org/officeDocument/2006/relationships/font" Target="fonts/HelveticaNeueLight-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 name="Google Shape;7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1: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3: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5: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7: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8: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rPr lang="ca"/>
              <a:t>2/11/2021</a:t>
            </a:r>
            <a:endParaRPr/>
          </a:p>
        </p:txBody>
      </p:sp>
      <p:sp>
        <p:nvSpPr>
          <p:cNvPr id="173" name="Google Shape;17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1: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3: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5: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ca"/>
              <a:t>3/11/2021</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3: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5: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6: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rPr lang="ca"/>
              <a:t>5/11preguntar buffereader i input y necesario crear constructor siempre?</a:t>
            </a:r>
            <a:endParaRPr/>
          </a:p>
        </p:txBody>
      </p:sp>
      <p:sp>
        <p:nvSpPr>
          <p:cNvPr id="309" name="Google Shape;309;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7: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8: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1: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3: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46"/>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46"/>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3" name="Google Shape;13;p46"/>
          <p:cNvSpPr txBox="1"/>
          <p:nvPr>
            <p:ph type="ctrTitle"/>
          </p:nvPr>
        </p:nvSpPr>
        <p:spPr>
          <a:xfrm>
            <a:off x="3044700" y="1444256"/>
            <a:ext cx="3054600" cy="1537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14" name="Google Shape;14;p46"/>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5" name="Google Shape;15;p46"/>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9" name="Google Shape;19;p47"/>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47"/>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howMasterSp="0">
  <p:cSld name="TITLE_1">
    <p:spTree>
      <p:nvGrpSpPr>
        <p:cNvPr id="21" name="Shape 21"/>
        <p:cNvGrpSpPr/>
        <p:nvPr/>
      </p:nvGrpSpPr>
      <p:grpSpPr>
        <a:xfrm>
          <a:off x="0" y="0"/>
          <a:ext cx="0" cy="0"/>
          <a:chOff x="0" y="0"/>
          <a:chExt cx="0" cy="0"/>
        </a:xfrm>
      </p:grpSpPr>
      <p:sp>
        <p:nvSpPr>
          <p:cNvPr id="22" name="Google Shape;22;p48"/>
          <p:cNvSpPr txBox="1"/>
          <p:nvPr>
            <p:ph type="title"/>
          </p:nvPr>
        </p:nvSpPr>
        <p:spPr>
          <a:xfrm>
            <a:off x="685800" y="1597819"/>
            <a:ext cx="7772400" cy="1102500"/>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339933"/>
              </a:buClr>
              <a:buSzPts val="1800"/>
              <a:buNone/>
              <a:defRPr/>
            </a:lvl1pPr>
            <a:lvl2pPr lvl="1" algn="ctr">
              <a:lnSpc>
                <a:spcPct val="100000"/>
              </a:lnSpc>
              <a:spcBef>
                <a:spcPts val="0"/>
              </a:spcBef>
              <a:spcAft>
                <a:spcPts val="0"/>
              </a:spcAft>
              <a:buClr>
                <a:srgbClr val="339933"/>
              </a:buClr>
              <a:buSzPts val="1800"/>
              <a:buNone/>
              <a:defRPr/>
            </a:lvl2pPr>
            <a:lvl3pPr lvl="2" algn="ctr">
              <a:lnSpc>
                <a:spcPct val="100000"/>
              </a:lnSpc>
              <a:spcBef>
                <a:spcPts val="0"/>
              </a:spcBef>
              <a:spcAft>
                <a:spcPts val="0"/>
              </a:spcAft>
              <a:buClr>
                <a:srgbClr val="339933"/>
              </a:buClr>
              <a:buSzPts val="1800"/>
              <a:buNone/>
              <a:defRPr/>
            </a:lvl3pPr>
            <a:lvl4pPr lvl="3" algn="ctr">
              <a:lnSpc>
                <a:spcPct val="100000"/>
              </a:lnSpc>
              <a:spcBef>
                <a:spcPts val="0"/>
              </a:spcBef>
              <a:spcAft>
                <a:spcPts val="0"/>
              </a:spcAft>
              <a:buClr>
                <a:srgbClr val="339933"/>
              </a:buClr>
              <a:buSzPts val="1800"/>
              <a:buNone/>
              <a:defRPr/>
            </a:lvl4pPr>
            <a:lvl5pPr lvl="4" algn="ctr">
              <a:lnSpc>
                <a:spcPct val="100000"/>
              </a:lnSpc>
              <a:spcBef>
                <a:spcPts val="0"/>
              </a:spcBef>
              <a:spcAft>
                <a:spcPts val="0"/>
              </a:spcAft>
              <a:buClr>
                <a:srgbClr val="339933"/>
              </a:buClr>
              <a:buSzPts val="1800"/>
              <a:buNone/>
              <a:defRPr/>
            </a:lvl5pPr>
            <a:lvl6pPr lvl="5" algn="ctr">
              <a:lnSpc>
                <a:spcPct val="100000"/>
              </a:lnSpc>
              <a:spcBef>
                <a:spcPts val="0"/>
              </a:spcBef>
              <a:spcAft>
                <a:spcPts val="0"/>
              </a:spcAft>
              <a:buClr>
                <a:srgbClr val="339933"/>
              </a:buClr>
              <a:buSzPts val="1800"/>
              <a:buNone/>
              <a:defRPr/>
            </a:lvl6pPr>
            <a:lvl7pPr lvl="6" algn="ctr">
              <a:lnSpc>
                <a:spcPct val="100000"/>
              </a:lnSpc>
              <a:spcBef>
                <a:spcPts val="0"/>
              </a:spcBef>
              <a:spcAft>
                <a:spcPts val="0"/>
              </a:spcAft>
              <a:buClr>
                <a:srgbClr val="339933"/>
              </a:buClr>
              <a:buSzPts val="1800"/>
              <a:buNone/>
              <a:defRPr/>
            </a:lvl7pPr>
            <a:lvl8pPr lvl="7" algn="ctr">
              <a:lnSpc>
                <a:spcPct val="100000"/>
              </a:lnSpc>
              <a:spcBef>
                <a:spcPts val="0"/>
              </a:spcBef>
              <a:spcAft>
                <a:spcPts val="0"/>
              </a:spcAft>
              <a:buClr>
                <a:srgbClr val="339933"/>
              </a:buClr>
              <a:buSzPts val="1800"/>
              <a:buNone/>
              <a:defRPr/>
            </a:lvl8pPr>
            <a:lvl9pPr lvl="8" algn="ctr">
              <a:lnSpc>
                <a:spcPct val="100000"/>
              </a:lnSpc>
              <a:spcBef>
                <a:spcPts val="0"/>
              </a:spcBef>
              <a:spcAft>
                <a:spcPts val="0"/>
              </a:spcAft>
              <a:buClr>
                <a:srgbClr val="339933"/>
              </a:buClr>
              <a:buSzPts val="1800"/>
              <a:buNone/>
              <a:defRPr/>
            </a:lvl9pPr>
          </a:lstStyle>
          <a:p/>
        </p:txBody>
      </p:sp>
      <p:sp>
        <p:nvSpPr>
          <p:cNvPr id="23" name="Google Shape;23;p48"/>
          <p:cNvSpPr txBox="1"/>
          <p:nvPr>
            <p:ph idx="1" type="body"/>
          </p:nvPr>
        </p:nvSpPr>
        <p:spPr>
          <a:xfrm>
            <a:off x="1371600" y="2914650"/>
            <a:ext cx="6400800" cy="13146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700"/>
              </a:spcBef>
              <a:spcAft>
                <a:spcPts val="0"/>
              </a:spcAft>
              <a:buClr>
                <a:srgbClr val="000000"/>
              </a:buClr>
              <a:buSzPts val="3200"/>
              <a:buFont typeface="Arial"/>
              <a:buNone/>
              <a:defRPr sz="3200"/>
            </a:lvl1pPr>
            <a:lvl2pPr indent="-228600" lvl="1" marL="914400" algn="ctr">
              <a:lnSpc>
                <a:spcPct val="100000"/>
              </a:lnSpc>
              <a:spcBef>
                <a:spcPts val="700"/>
              </a:spcBef>
              <a:spcAft>
                <a:spcPts val="0"/>
              </a:spcAft>
              <a:buClr>
                <a:srgbClr val="000000"/>
              </a:buClr>
              <a:buSzPts val="3200"/>
              <a:buFont typeface="Arial"/>
              <a:buNone/>
              <a:defRPr sz="3200"/>
            </a:lvl2pPr>
            <a:lvl3pPr indent="-228600" lvl="2" marL="1371600" algn="ctr">
              <a:lnSpc>
                <a:spcPct val="100000"/>
              </a:lnSpc>
              <a:spcBef>
                <a:spcPts val="700"/>
              </a:spcBef>
              <a:spcAft>
                <a:spcPts val="0"/>
              </a:spcAft>
              <a:buClr>
                <a:srgbClr val="000000"/>
              </a:buClr>
              <a:buSzPts val="3200"/>
              <a:buFont typeface="Arial"/>
              <a:buNone/>
              <a:defRPr sz="3200"/>
            </a:lvl3pPr>
            <a:lvl4pPr indent="-228600" lvl="3" marL="1828800" algn="ctr">
              <a:lnSpc>
                <a:spcPct val="100000"/>
              </a:lnSpc>
              <a:spcBef>
                <a:spcPts val="700"/>
              </a:spcBef>
              <a:spcAft>
                <a:spcPts val="0"/>
              </a:spcAft>
              <a:buClr>
                <a:srgbClr val="000000"/>
              </a:buClr>
              <a:buSzPts val="3200"/>
              <a:buFont typeface="Arial"/>
              <a:buNone/>
              <a:defRPr sz="3200"/>
            </a:lvl4pPr>
            <a:lvl5pPr indent="-228600" lvl="4" marL="2286000" algn="ctr">
              <a:lnSpc>
                <a:spcPct val="100000"/>
              </a:lnSpc>
              <a:spcBef>
                <a:spcPts val="700"/>
              </a:spcBef>
              <a:spcAft>
                <a:spcPts val="0"/>
              </a:spcAft>
              <a:buClr>
                <a:srgbClr val="000000"/>
              </a:buClr>
              <a:buSzPts val="3200"/>
              <a:buFont typeface="Arial"/>
              <a:buNone/>
              <a:defRPr sz="3200"/>
            </a:lvl5pPr>
            <a:lvl6pPr indent="-342900" lvl="5" marL="2743200" algn="l">
              <a:lnSpc>
                <a:spcPct val="80000"/>
              </a:lnSpc>
              <a:spcBef>
                <a:spcPts val="700"/>
              </a:spcBef>
              <a:spcAft>
                <a:spcPts val="0"/>
              </a:spcAft>
              <a:buClr>
                <a:srgbClr val="000000"/>
              </a:buClr>
              <a:buSzPts val="1800"/>
              <a:buChar char="■"/>
              <a:defRPr/>
            </a:lvl6pPr>
            <a:lvl7pPr indent="-342900" lvl="6" marL="3200400" algn="l">
              <a:lnSpc>
                <a:spcPct val="80000"/>
              </a:lnSpc>
              <a:spcBef>
                <a:spcPts val="700"/>
              </a:spcBef>
              <a:spcAft>
                <a:spcPts val="0"/>
              </a:spcAft>
              <a:buClr>
                <a:srgbClr val="000000"/>
              </a:buClr>
              <a:buSzPts val="1800"/>
              <a:buChar char="●"/>
              <a:defRPr/>
            </a:lvl7pPr>
            <a:lvl8pPr indent="-342900" lvl="7" marL="3657600" algn="l">
              <a:lnSpc>
                <a:spcPct val="80000"/>
              </a:lnSpc>
              <a:spcBef>
                <a:spcPts val="700"/>
              </a:spcBef>
              <a:spcAft>
                <a:spcPts val="0"/>
              </a:spcAft>
              <a:buClr>
                <a:srgbClr val="000000"/>
              </a:buClr>
              <a:buSzPts val="1800"/>
              <a:buChar char="○"/>
              <a:defRPr/>
            </a:lvl8pPr>
            <a:lvl9pPr indent="-342900" lvl="8" marL="4114800" algn="l">
              <a:lnSpc>
                <a:spcPct val="80000"/>
              </a:lnSpc>
              <a:spcBef>
                <a:spcPts val="700"/>
              </a:spcBef>
              <a:spcAft>
                <a:spcPts val="0"/>
              </a:spcAft>
              <a:buClr>
                <a:srgbClr val="000000"/>
              </a:buClr>
              <a:buSzPts val="1800"/>
              <a:buChar char="■"/>
              <a:defRPr/>
            </a:lvl9pPr>
          </a:lstStyle>
          <a:p/>
        </p:txBody>
      </p:sp>
      <p:sp>
        <p:nvSpPr>
          <p:cNvPr id="24" name="Google Shape;24;p48"/>
          <p:cNvSpPr txBox="1"/>
          <p:nvPr/>
        </p:nvSpPr>
        <p:spPr>
          <a:xfrm>
            <a:off x="3390252" y="212392"/>
            <a:ext cx="2363400" cy="9339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1800"/>
              <a:buFont typeface="Helvetica Neue Light"/>
              <a:buNone/>
            </a:pPr>
            <a:r>
              <a:rPr b="0" i="0" lang="ca" sz="1800" u="none" cap="none" strike="noStrike">
                <a:solidFill>
                  <a:srgbClr val="000000"/>
                </a:solidFill>
                <a:latin typeface="Helvetica Neue Light"/>
                <a:ea typeface="Helvetica Neue Light"/>
                <a:cs typeface="Helvetica Neue Light"/>
                <a:sym typeface="Helvetica Neue Light"/>
              </a:rPr>
              <a:t>Programació - Tema 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Helvetica Neue Light"/>
              <a:buNone/>
            </a:pPr>
            <a:r>
              <a:t/>
            </a:r>
            <a:endParaRPr b="0" i="0" sz="18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800"/>
              <a:buFont typeface="Helvetica Neue Light"/>
              <a:buNone/>
            </a:pPr>
            <a:r>
              <a:rPr b="0" i="0" lang="ca" sz="1800" u="none" cap="none" strike="noStrike">
                <a:solidFill>
                  <a:srgbClr val="000000"/>
                </a:solidFill>
                <a:latin typeface="Helvetica Neue Light"/>
                <a:ea typeface="Helvetica Neue Light"/>
                <a:cs typeface="Helvetica Neue Light"/>
                <a:sym typeface="Helvetica Neue Light"/>
              </a:rPr>
              <a:t>DAM</a:t>
            </a:r>
            <a:endParaRPr b="0" i="0" sz="1400" u="none" cap="none" strike="noStrike">
              <a:solidFill>
                <a:srgbClr val="000000"/>
              </a:solidFill>
              <a:latin typeface="Arial"/>
              <a:ea typeface="Arial"/>
              <a:cs typeface="Arial"/>
              <a:sym typeface="Arial"/>
            </a:endParaRPr>
          </a:p>
        </p:txBody>
      </p:sp>
      <p:sp>
        <p:nvSpPr>
          <p:cNvPr id="25" name="Google Shape;25;p48"/>
          <p:cNvSpPr txBox="1"/>
          <p:nvPr>
            <p:ph idx="12" type="sldNum"/>
          </p:nvPr>
        </p:nvSpPr>
        <p:spPr>
          <a:xfrm>
            <a:off x="8384892" y="4683919"/>
            <a:ext cx="301800" cy="307800"/>
          </a:xfrm>
          <a:prstGeom prst="rect">
            <a:avLst/>
          </a:prstGeom>
          <a:noFill/>
          <a:ln>
            <a:noFill/>
          </a:ln>
        </p:spPr>
        <p:txBody>
          <a:bodyPr anchorCtr="0" anchor="t" bIns="45700" lIns="45700" spcFirstLastPara="1" rIns="45700" wrap="square" tIns="4570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49"/>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8" name="Google Shape;28;p49"/>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9" name="Google Shape;29;p49"/>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30" name="Google Shape;30;p49"/>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3" name="Google Shape;33;p50"/>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50"/>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50"/>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5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8" name="Google Shape;38;p51"/>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5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 name="Google Shape;41;p52"/>
          <p:cNvSpPr txBox="1"/>
          <p:nvPr>
            <p:ph idx="1" type="body"/>
          </p:nvPr>
        </p:nvSpPr>
        <p:spPr>
          <a:xfrm>
            <a:off x="311700" y="1399400"/>
            <a:ext cx="2808000" cy="27849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2" name="Google Shape;42;p52"/>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5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3"/>
          <p:cNvSpPr txBox="1"/>
          <p:nvPr>
            <p:ph type="title"/>
          </p:nvPr>
        </p:nvSpPr>
        <p:spPr>
          <a:xfrm>
            <a:off x="490250" y="450150"/>
            <a:ext cx="5878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6" name="Google Shape;46;p53"/>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54"/>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54"/>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0" name="Google Shape;50;p54"/>
          <p:cNvSpPr txBox="1"/>
          <p:nvPr>
            <p:ph type="title"/>
          </p:nvPr>
        </p:nvSpPr>
        <p:spPr>
          <a:xfrm>
            <a:off x="265500" y="929275"/>
            <a:ext cx="4045200" cy="1786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51" name="Google Shape;51;p54"/>
          <p:cNvSpPr txBox="1"/>
          <p:nvPr>
            <p:ph idx="1" type="subTitle"/>
          </p:nvPr>
        </p:nvSpPr>
        <p:spPr>
          <a:xfrm>
            <a:off x="265500" y="2769001"/>
            <a:ext cx="4045200" cy="1574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52" name="Google Shape;52;p5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3" name="Google Shape;53;p54"/>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55"/>
          <p:cNvSpPr txBox="1"/>
          <p:nvPr>
            <p:ph idx="1" type="body"/>
          </p:nvPr>
        </p:nvSpPr>
        <p:spPr>
          <a:xfrm>
            <a:off x="319500" y="42189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6" name="Google Shape;56;p55"/>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5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56"/>
          <p:cNvSpPr txBox="1"/>
          <p:nvPr>
            <p:ph hasCustomPrompt="1"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60" name="Google Shape;60;p56"/>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1" name="Google Shape;61;p56"/>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57"/>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45"/>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45"/>
          <p:cNvSpPr txBox="1"/>
          <p:nvPr>
            <p:ph idx="12" type="sldNum"/>
          </p:nvPr>
        </p:nvSpPr>
        <p:spPr>
          <a:xfrm>
            <a:off x="8472458" y="4663216"/>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pic>
        <p:nvPicPr>
          <p:cNvPr id="9" name="Google Shape;9;p45"/>
          <p:cNvPicPr preferRelativeResize="0"/>
          <p:nvPr/>
        </p:nvPicPr>
        <p:blipFill rotWithShape="1">
          <a:blip r:embed="rId1">
            <a:alphaModFix/>
          </a:blip>
          <a:srcRect b="0" l="0" r="0" t="0"/>
          <a:stretch/>
        </p:blipFill>
        <p:spPr>
          <a:xfrm>
            <a:off x="7452320" y="116632"/>
            <a:ext cx="1144581" cy="4294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cs.oracle.com/javase/7/docs/api/allclasses-noframe.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
          <p:cNvSpPr txBox="1"/>
          <p:nvPr>
            <p:ph type="ctrTitle"/>
          </p:nvPr>
        </p:nvSpPr>
        <p:spPr>
          <a:xfrm>
            <a:off x="3044700" y="1444256"/>
            <a:ext cx="3054600" cy="15372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5400"/>
              <a:buFont typeface="Arial"/>
              <a:buNone/>
            </a:pPr>
            <a:r>
              <a:rPr b="1" i="0" lang="ca" sz="5400" u="none" cap="none" strike="noStrike">
                <a:solidFill>
                  <a:srgbClr val="339933"/>
                </a:solidFill>
                <a:latin typeface="Arial"/>
                <a:ea typeface="Arial"/>
                <a:cs typeface="Arial"/>
                <a:sym typeface="Arial"/>
              </a:rPr>
              <a:t>Unitat </a:t>
            </a:r>
            <a:r>
              <a:rPr b="1" lang="ca" sz="5400">
                <a:solidFill>
                  <a:srgbClr val="339933"/>
                </a:solidFill>
              </a:rPr>
              <a:t>3</a:t>
            </a:r>
            <a:endParaRPr/>
          </a:p>
        </p:txBody>
      </p:sp>
      <p:sp>
        <p:nvSpPr>
          <p:cNvPr id="69" name="Google Shape;69;p1"/>
          <p:cNvSpPr txBox="1"/>
          <p:nvPr>
            <p:ph idx="1" type="subTitle"/>
          </p:nvPr>
        </p:nvSpPr>
        <p:spPr>
          <a:xfrm>
            <a:off x="3044700" y="3116580"/>
            <a:ext cx="3054600" cy="701400"/>
          </a:xfrm>
          <a:prstGeom prst="rect">
            <a:avLst/>
          </a:prstGeom>
          <a:noFill/>
          <a:ln>
            <a:noFill/>
          </a:ln>
        </p:spPr>
        <p:txBody>
          <a:bodyPr anchorCtr="0" anchor="t" bIns="45700" lIns="45700" spcFirstLastPara="1" rIns="45700" wrap="square" tIns="45700">
            <a:normAutofit fontScale="47500"/>
          </a:bodyPr>
          <a:lstStyle/>
          <a:p>
            <a:pPr indent="0" lvl="0" marL="0" marR="0" rtl="0" algn="ctr">
              <a:lnSpc>
                <a:spcPct val="100000"/>
              </a:lnSpc>
              <a:spcBef>
                <a:spcPts val="0"/>
              </a:spcBef>
              <a:spcAft>
                <a:spcPts val="0"/>
              </a:spcAft>
              <a:buClr>
                <a:srgbClr val="339933"/>
              </a:buClr>
              <a:buSzPct val="100000"/>
              <a:buFont typeface="Arial"/>
              <a:buNone/>
            </a:pPr>
            <a:r>
              <a:rPr b="1" i="0" lang="ca" sz="4800" u="none" cap="none" strike="noStrike">
                <a:solidFill>
                  <a:srgbClr val="339933"/>
                </a:solidFill>
                <a:latin typeface="Arial"/>
                <a:ea typeface="Arial"/>
                <a:cs typeface="Arial"/>
                <a:sym typeface="Arial"/>
              </a:rPr>
              <a:t>Utilització d'objectes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type="title"/>
          </p:nvPr>
        </p:nvSpPr>
        <p:spPr>
          <a:xfrm>
            <a:off x="311700" y="333769"/>
            <a:ext cx="8520600" cy="429600"/>
          </a:xfrm>
          <a:prstGeom prst="rect">
            <a:avLst/>
          </a:prstGeom>
          <a:noFill/>
          <a:ln>
            <a:noFill/>
          </a:ln>
          <a:effectLst>
            <a:outerShdw blurRad="57150" rotWithShape="0" algn="bl" dir="5400000" dist="19050">
              <a:srgbClr val="000000">
                <a:alpha val="0"/>
              </a:srgbClr>
            </a:outerShdw>
          </a:effectLst>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4400" u="none" cap="none" strike="noStrike">
                <a:solidFill>
                  <a:srgbClr val="339933"/>
                </a:solidFill>
                <a:latin typeface="Arial"/>
                <a:ea typeface="Arial"/>
                <a:cs typeface="Arial"/>
                <a:sym typeface="Arial"/>
              </a:rPr>
              <a:t>Índex</a:t>
            </a:r>
            <a:endParaRPr/>
          </a:p>
        </p:txBody>
      </p:sp>
      <p:sp>
        <p:nvSpPr>
          <p:cNvPr id="75" name="Google Shape;75;p2"/>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fontScale="62500" lnSpcReduction="20000"/>
          </a:bodyPr>
          <a:lstStyle/>
          <a:p>
            <a:pPr indent="-533400" lvl="0" marL="609600" marR="0" rtl="0" algn="l">
              <a:lnSpc>
                <a:spcPct val="90000"/>
              </a:lnSpc>
              <a:spcBef>
                <a:spcPts val="0"/>
              </a:spcBef>
              <a:spcAft>
                <a:spcPts val="0"/>
              </a:spcAft>
              <a:buClr>
                <a:srgbClr val="000000"/>
              </a:buClr>
              <a:buSzPct val="100000"/>
              <a:buFont typeface="Calibri"/>
              <a:buAutoNum type="arabicPeriod"/>
            </a:pPr>
            <a:r>
              <a:rPr i="0" lang="ca" sz="3200" u="none" cap="none" strike="noStrike">
                <a:solidFill>
                  <a:srgbClr val="000000"/>
                </a:solidFill>
                <a:latin typeface="Calibri"/>
                <a:ea typeface="Calibri"/>
                <a:cs typeface="Calibri"/>
                <a:sym typeface="Calibri"/>
              </a:rPr>
              <a:t>Introducció</a:t>
            </a:r>
            <a:endParaRPr>
              <a:latin typeface="Calibri"/>
              <a:ea typeface="Calibri"/>
              <a:cs typeface="Calibri"/>
              <a:sym typeface="Calibri"/>
            </a:endParaRPr>
          </a:p>
          <a:p>
            <a:pPr indent="-533400" lvl="0" marL="609600" marR="0" rtl="0" algn="l">
              <a:lnSpc>
                <a:spcPct val="90000"/>
              </a:lnSpc>
              <a:spcBef>
                <a:spcPts val="700"/>
              </a:spcBef>
              <a:spcAft>
                <a:spcPts val="0"/>
              </a:spcAft>
              <a:buClr>
                <a:srgbClr val="000000"/>
              </a:buClr>
              <a:buSzPct val="100000"/>
              <a:buFont typeface="Calibri"/>
              <a:buAutoNum type="arabicPeriod"/>
            </a:pPr>
            <a:r>
              <a:rPr i="0" lang="ca" sz="3200" u="none" cap="none" strike="noStrike">
                <a:solidFill>
                  <a:srgbClr val="000000"/>
                </a:solidFill>
                <a:latin typeface="Calibri"/>
                <a:ea typeface="Calibri"/>
                <a:cs typeface="Calibri"/>
                <a:sym typeface="Calibri"/>
              </a:rPr>
              <a:t>Manipulació d’objectes</a:t>
            </a:r>
            <a:endParaRPr>
              <a:latin typeface="Calibri"/>
              <a:ea typeface="Calibri"/>
              <a:cs typeface="Calibri"/>
              <a:sym typeface="Calibri"/>
            </a:endParaRPr>
          </a:p>
          <a:p>
            <a:pPr indent="-533400" lvl="0" marL="609600" marR="0" rtl="0" algn="l">
              <a:lnSpc>
                <a:spcPct val="90000"/>
              </a:lnSpc>
              <a:spcBef>
                <a:spcPts val="700"/>
              </a:spcBef>
              <a:spcAft>
                <a:spcPts val="0"/>
              </a:spcAft>
              <a:buClr>
                <a:srgbClr val="000000"/>
              </a:buClr>
              <a:buSzPct val="100000"/>
              <a:buFont typeface="Calibri"/>
              <a:buAutoNum type="arabicPeriod"/>
            </a:pPr>
            <a:r>
              <a:rPr i="0" lang="ca" sz="3200" u="none" cap="none" strike="noStrike">
                <a:solidFill>
                  <a:srgbClr val="000000"/>
                </a:solidFill>
                <a:latin typeface="Calibri"/>
                <a:ea typeface="Calibri"/>
                <a:cs typeface="Calibri"/>
                <a:sym typeface="Calibri"/>
              </a:rPr>
              <a:t>Característiques de la POO</a:t>
            </a:r>
            <a:endParaRPr>
              <a:latin typeface="Calibri"/>
              <a:ea typeface="Calibri"/>
              <a:cs typeface="Calibri"/>
              <a:sym typeface="Calibri"/>
            </a:endParaRPr>
          </a:p>
          <a:p>
            <a:pPr indent="-533400" lvl="0" marL="609600" marR="0" rtl="0" algn="l">
              <a:lnSpc>
                <a:spcPct val="90000"/>
              </a:lnSpc>
              <a:spcBef>
                <a:spcPts val="700"/>
              </a:spcBef>
              <a:spcAft>
                <a:spcPts val="0"/>
              </a:spcAft>
              <a:buClr>
                <a:srgbClr val="000000"/>
              </a:buClr>
              <a:buSzPct val="100000"/>
              <a:buFont typeface="Calibri"/>
              <a:buAutoNum type="arabicPeriod"/>
            </a:pPr>
            <a:r>
              <a:rPr i="0" lang="ca" sz="3200" u="none" cap="none" strike="noStrike">
                <a:solidFill>
                  <a:srgbClr val="000000"/>
                </a:solidFill>
                <a:latin typeface="Calibri"/>
                <a:ea typeface="Calibri"/>
                <a:cs typeface="Calibri"/>
                <a:sym typeface="Calibri"/>
              </a:rPr>
              <a:t>La consola: entrada i sortida</a:t>
            </a:r>
            <a:endParaRPr>
              <a:latin typeface="Calibri"/>
              <a:ea typeface="Calibri"/>
              <a:cs typeface="Calibri"/>
              <a:sym typeface="Calibri"/>
            </a:endParaRPr>
          </a:p>
          <a:p>
            <a:pPr indent="-533400" lvl="0" marL="609600" marR="0" rtl="0" algn="l">
              <a:lnSpc>
                <a:spcPct val="90000"/>
              </a:lnSpc>
              <a:spcBef>
                <a:spcPts val="700"/>
              </a:spcBef>
              <a:spcAft>
                <a:spcPts val="0"/>
              </a:spcAft>
              <a:buClr>
                <a:srgbClr val="000000"/>
              </a:buClr>
              <a:buSzPct val="100000"/>
              <a:buFont typeface="Calibri"/>
              <a:buAutoNum type="arabicPeriod"/>
            </a:pPr>
            <a:r>
              <a:rPr i="0" lang="ca" sz="3200" u="none" cap="none" strike="noStrike">
                <a:solidFill>
                  <a:srgbClr val="000000"/>
                </a:solidFill>
                <a:latin typeface="Calibri"/>
                <a:ea typeface="Calibri"/>
                <a:cs typeface="Calibri"/>
                <a:sym typeface="Calibri"/>
              </a:rPr>
              <a:t>Declaració de classes</a:t>
            </a:r>
            <a:endParaRPr>
              <a:latin typeface="Calibri"/>
              <a:ea typeface="Calibri"/>
              <a:cs typeface="Calibri"/>
              <a:sym typeface="Calibri"/>
            </a:endParaRPr>
          </a:p>
          <a:p>
            <a:pPr indent="-533400" lvl="0" marL="609600" marR="0" rtl="0" algn="l">
              <a:lnSpc>
                <a:spcPct val="90000"/>
              </a:lnSpc>
              <a:spcBef>
                <a:spcPts val="700"/>
              </a:spcBef>
              <a:spcAft>
                <a:spcPts val="0"/>
              </a:spcAft>
              <a:buClr>
                <a:srgbClr val="000000"/>
              </a:buClr>
              <a:buSzPct val="100000"/>
              <a:buFont typeface="Calibri"/>
              <a:buAutoNum type="arabicPeriod"/>
            </a:pPr>
            <a:r>
              <a:rPr i="0" lang="ca" sz="3200" u="none" cap="none" strike="noStrike">
                <a:solidFill>
                  <a:srgbClr val="000000"/>
                </a:solidFill>
                <a:latin typeface="Calibri"/>
                <a:ea typeface="Calibri"/>
                <a:cs typeface="Calibri"/>
                <a:sym typeface="Calibri"/>
              </a:rPr>
              <a:t>Paràmetres i retorn de valors</a:t>
            </a:r>
            <a:endParaRPr>
              <a:latin typeface="Calibri"/>
              <a:ea typeface="Calibri"/>
              <a:cs typeface="Calibri"/>
              <a:sym typeface="Calibri"/>
            </a:endParaRPr>
          </a:p>
          <a:p>
            <a:pPr indent="-533400" lvl="0" marL="609600" marR="0" rtl="0" algn="l">
              <a:lnSpc>
                <a:spcPct val="90000"/>
              </a:lnSpc>
              <a:spcBef>
                <a:spcPts val="700"/>
              </a:spcBef>
              <a:spcAft>
                <a:spcPts val="0"/>
              </a:spcAft>
              <a:buClr>
                <a:srgbClr val="000000"/>
              </a:buClr>
              <a:buSzPct val="100000"/>
              <a:buFont typeface="Calibri"/>
              <a:buAutoNum type="arabicPeriod"/>
            </a:pPr>
            <a:r>
              <a:rPr i="0" lang="ca" sz="3200" u="none" cap="none" strike="noStrike">
                <a:solidFill>
                  <a:srgbClr val="000000"/>
                </a:solidFill>
                <a:latin typeface="Calibri"/>
                <a:ea typeface="Calibri"/>
                <a:cs typeface="Calibri"/>
                <a:sym typeface="Calibri"/>
              </a:rPr>
              <a:t>Mètodes i atributs estàtics</a:t>
            </a:r>
            <a:endParaRPr>
              <a:latin typeface="Calibri"/>
              <a:ea typeface="Calibri"/>
              <a:cs typeface="Calibri"/>
              <a:sym typeface="Calibri"/>
            </a:endParaRPr>
          </a:p>
          <a:p>
            <a:pPr indent="-533400" lvl="0" marL="609600" marR="0" rtl="0" algn="l">
              <a:lnSpc>
                <a:spcPct val="90000"/>
              </a:lnSpc>
              <a:spcBef>
                <a:spcPts val="700"/>
              </a:spcBef>
              <a:spcAft>
                <a:spcPts val="0"/>
              </a:spcAft>
              <a:buClr>
                <a:srgbClr val="000000"/>
              </a:buClr>
              <a:buSzPct val="100000"/>
              <a:buFont typeface="Calibri"/>
              <a:buAutoNum type="arabicPeriod"/>
            </a:pPr>
            <a:r>
              <a:rPr i="0" lang="ca" sz="3200" u="none" cap="none" strike="noStrike">
                <a:solidFill>
                  <a:srgbClr val="000000"/>
                </a:solidFill>
                <a:latin typeface="Calibri"/>
                <a:ea typeface="Calibri"/>
                <a:cs typeface="Calibri"/>
                <a:sym typeface="Calibri"/>
              </a:rPr>
              <a:t>Llibreries d’objectes</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4400" u="none" cap="none" strike="noStrike">
                <a:solidFill>
                  <a:srgbClr val="339933"/>
                </a:solidFill>
                <a:latin typeface="Arial"/>
                <a:ea typeface="Arial"/>
                <a:cs typeface="Arial"/>
                <a:sym typeface="Arial"/>
              </a:rPr>
              <a:t>1. Introducció</a:t>
            </a:r>
            <a:endParaRPr/>
          </a:p>
        </p:txBody>
      </p:sp>
      <p:sp>
        <p:nvSpPr>
          <p:cNvPr id="81" name="Google Shape;81;p3"/>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a:bodyPr>
          <a:lstStyle/>
          <a:p>
            <a:pPr indent="-355598" lvl="0" marL="457200" rtl="0" algn="l">
              <a:lnSpc>
                <a:spcPct val="115000"/>
              </a:lnSpc>
              <a:spcBef>
                <a:spcPts val="0"/>
              </a:spcBef>
              <a:spcAft>
                <a:spcPts val="0"/>
              </a:spcAft>
              <a:buSzPts val="2000"/>
              <a:buFont typeface="Arial"/>
              <a:buChar char="●"/>
            </a:pPr>
            <a:r>
              <a:rPr b="1" lang="ca">
                <a:solidFill>
                  <a:srgbClr val="000000"/>
                </a:solidFill>
                <a:latin typeface="Calibri"/>
                <a:ea typeface="Calibri"/>
                <a:cs typeface="Calibri"/>
                <a:sym typeface="Calibri"/>
              </a:rPr>
              <a:t>La programació orientada a objectes (POO) </a:t>
            </a:r>
            <a:r>
              <a:rPr lang="ca">
                <a:solidFill>
                  <a:srgbClr val="000000"/>
                </a:solidFill>
                <a:latin typeface="Calibri"/>
                <a:ea typeface="Calibri"/>
                <a:cs typeface="Calibri"/>
                <a:sym typeface="Calibri"/>
              </a:rPr>
              <a:t>no es un tipus de llenguatge de programació. És una paradigma de programació*, una metodologia de treball per crear programes, que permet augmentar la </a:t>
            </a:r>
            <a:r>
              <a:rPr b="1" lang="ca">
                <a:solidFill>
                  <a:srgbClr val="000000"/>
                </a:solidFill>
                <a:latin typeface="Calibri"/>
                <a:ea typeface="Calibri"/>
                <a:cs typeface="Calibri"/>
                <a:sym typeface="Calibri"/>
              </a:rPr>
              <a:t>modularitat</a:t>
            </a:r>
            <a:r>
              <a:rPr lang="ca">
                <a:solidFill>
                  <a:srgbClr val="000000"/>
                </a:solidFill>
                <a:latin typeface="Calibri"/>
                <a:ea typeface="Calibri"/>
                <a:cs typeface="Calibri"/>
                <a:sym typeface="Calibri"/>
              </a:rPr>
              <a:t> i </a:t>
            </a:r>
            <a:r>
              <a:rPr b="1" lang="ca">
                <a:solidFill>
                  <a:srgbClr val="000000"/>
                </a:solidFill>
                <a:latin typeface="Calibri"/>
                <a:ea typeface="Calibri"/>
                <a:cs typeface="Calibri"/>
                <a:sym typeface="Calibri"/>
              </a:rPr>
              <a:t>reutilització</a:t>
            </a:r>
            <a:r>
              <a:rPr lang="ca">
                <a:solidFill>
                  <a:srgbClr val="000000"/>
                </a:solidFill>
                <a:latin typeface="Calibri"/>
                <a:ea typeface="Calibri"/>
                <a:cs typeface="Calibri"/>
                <a:sym typeface="Calibri"/>
              </a:rPr>
              <a:t> dels mateixos.</a:t>
            </a:r>
            <a:endParaRPr>
              <a:solidFill>
                <a:srgbClr val="000000"/>
              </a:solidFill>
              <a:latin typeface="Calibri"/>
              <a:ea typeface="Calibri"/>
              <a:cs typeface="Calibri"/>
              <a:sym typeface="Calibri"/>
            </a:endParaRPr>
          </a:p>
          <a:p>
            <a:pPr indent="0" lvl="0" marL="457200" rtl="0" algn="l">
              <a:lnSpc>
                <a:spcPct val="115000"/>
              </a:lnSpc>
              <a:spcBef>
                <a:spcPts val="0"/>
              </a:spcBef>
              <a:spcAft>
                <a:spcPts val="0"/>
              </a:spcAft>
              <a:buSzPts val="1800"/>
              <a:buNone/>
            </a:pPr>
            <a:r>
              <a:t/>
            </a:r>
            <a:endParaRPr>
              <a:solidFill>
                <a:srgbClr val="000000"/>
              </a:solidFill>
              <a:latin typeface="Calibri"/>
              <a:ea typeface="Calibri"/>
              <a:cs typeface="Calibri"/>
              <a:sym typeface="Calibri"/>
            </a:endParaRPr>
          </a:p>
          <a:p>
            <a:pPr indent="-355598" lvl="0" marL="457200" rtl="0" algn="l">
              <a:lnSpc>
                <a:spcPct val="115000"/>
              </a:lnSpc>
              <a:spcBef>
                <a:spcPts val="400"/>
              </a:spcBef>
              <a:spcAft>
                <a:spcPts val="0"/>
              </a:spcAft>
              <a:buSzPts val="2000"/>
              <a:buFont typeface="Calibri"/>
              <a:buChar char="●"/>
            </a:pPr>
            <a:r>
              <a:rPr lang="ca">
                <a:solidFill>
                  <a:srgbClr val="000000"/>
                </a:solidFill>
                <a:latin typeface="Calibri"/>
                <a:ea typeface="Calibri"/>
                <a:cs typeface="Calibri"/>
                <a:sym typeface="Calibri"/>
              </a:rPr>
              <a:t>Un programa en (POO) s’entén com una simulació d’un escenari del món real, en què un conjunt d’elements, els objectes, interactuen entre ells per dur a terme la tasca que es vol resoldre.</a:t>
            </a:r>
            <a:endParaRPr>
              <a:latin typeface="Calibri"/>
              <a:ea typeface="Calibri"/>
              <a:cs typeface="Calibri"/>
              <a:sym typeface="Calibri"/>
            </a:endParaRPr>
          </a:p>
        </p:txBody>
      </p:sp>
      <p:sp>
        <p:nvSpPr>
          <p:cNvPr id="82" name="Google Shape;82;p3"/>
          <p:cNvSpPr txBox="1"/>
          <p:nvPr/>
        </p:nvSpPr>
        <p:spPr>
          <a:xfrm>
            <a:off x="815525" y="3714300"/>
            <a:ext cx="7631100" cy="78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400"/>
              </a:spcBef>
              <a:spcAft>
                <a:spcPts val="0"/>
              </a:spcAft>
              <a:buClr>
                <a:srgbClr val="000000"/>
              </a:buClr>
              <a:buSzPts val="1800"/>
              <a:buFont typeface="Arial"/>
              <a:buNone/>
            </a:pPr>
            <a:r>
              <a:rPr b="0" i="1" lang="ca" sz="1800" u="none" cap="none" strike="noStrike">
                <a:solidFill>
                  <a:schemeClr val="dk1"/>
                </a:solidFill>
                <a:latin typeface="Calibri"/>
                <a:ea typeface="Calibri"/>
                <a:cs typeface="Calibri"/>
                <a:sym typeface="Calibri"/>
              </a:rPr>
              <a:t>*</a:t>
            </a:r>
            <a:r>
              <a:rPr b="1" i="1" lang="ca" sz="1800" u="none" cap="none" strike="noStrike">
                <a:solidFill>
                  <a:schemeClr val="dk1"/>
                </a:solidFill>
                <a:latin typeface="Calibri"/>
                <a:ea typeface="Calibri"/>
                <a:cs typeface="Calibri"/>
                <a:sym typeface="Calibri"/>
              </a:rPr>
              <a:t>Paradigma de programació</a:t>
            </a:r>
            <a:r>
              <a:rPr b="0" i="1" lang="ca" sz="1800" u="none" cap="none" strike="noStrike">
                <a:solidFill>
                  <a:schemeClr val="dk1"/>
                </a:solidFill>
                <a:latin typeface="Calibri"/>
                <a:ea typeface="Calibri"/>
                <a:cs typeface="Calibri"/>
                <a:sym typeface="Calibri"/>
              </a:rPr>
              <a:t>: </a:t>
            </a:r>
            <a:r>
              <a:rPr b="0" i="1" lang="ca" sz="1800" u="none" cap="none" strike="noStrike">
                <a:solidFill>
                  <a:srgbClr val="333333"/>
                </a:solidFill>
                <a:latin typeface="Calibri"/>
                <a:ea typeface="Calibri"/>
                <a:cs typeface="Calibri"/>
                <a:sym typeface="Calibri"/>
              </a:rPr>
              <a:t>Un paradigma de programació representa un enfocament particular o filosofia per dissenyar solucions.</a:t>
            </a:r>
            <a:endParaRPr b="0" i="1"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Bases de la POO</a:t>
            </a:r>
            <a:endParaRPr/>
          </a:p>
        </p:txBody>
      </p:sp>
      <p:sp>
        <p:nvSpPr>
          <p:cNvPr id="88" name="Google Shape;88;p4"/>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a:bodyPr>
          <a:lstStyle/>
          <a:p>
            <a:pPr indent="-533400" lvl="0" marL="533400" marR="0" rtl="0" algn="l">
              <a:lnSpc>
                <a:spcPct val="100000"/>
              </a:lnSpc>
              <a:spcBef>
                <a:spcPts val="0"/>
              </a:spcBef>
              <a:spcAft>
                <a:spcPts val="0"/>
              </a:spcAft>
              <a:buClr>
                <a:srgbClr val="000000"/>
              </a:buClr>
              <a:buSzPts val="2000"/>
              <a:buFont typeface="Calibri"/>
              <a:buAutoNum type="arabicPeriod"/>
            </a:pPr>
            <a:r>
              <a:rPr i="0" lang="ca" sz="2000" u="none" cap="none" strike="noStrike">
                <a:solidFill>
                  <a:srgbClr val="000000"/>
                </a:solidFill>
                <a:latin typeface="Calibri"/>
                <a:ea typeface="Calibri"/>
                <a:cs typeface="Calibri"/>
                <a:sym typeface="Calibri"/>
              </a:rPr>
              <a:t>Tot és un objecte, amb una identitat pròpia.</a:t>
            </a:r>
            <a:endParaRPr>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Calibri"/>
              <a:buAutoNum type="arabicPeriod"/>
            </a:pPr>
            <a:r>
              <a:rPr i="0" lang="ca" sz="2000" u="none" cap="none" strike="noStrike">
                <a:solidFill>
                  <a:srgbClr val="000000"/>
                </a:solidFill>
                <a:latin typeface="Calibri"/>
                <a:ea typeface="Calibri"/>
                <a:cs typeface="Calibri"/>
                <a:sym typeface="Calibri"/>
              </a:rPr>
              <a:t>Un programa és un conjunt d’objectes que interactuen entre ells.</a:t>
            </a:r>
            <a:endParaRPr>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Calibri"/>
              <a:buAutoNum type="arabicPeriod"/>
            </a:pPr>
            <a:r>
              <a:rPr i="0" lang="ca" sz="2000" u="none" cap="none" strike="noStrike">
                <a:solidFill>
                  <a:srgbClr val="000000"/>
                </a:solidFill>
                <a:latin typeface="Calibri"/>
                <a:ea typeface="Calibri"/>
                <a:cs typeface="Calibri"/>
                <a:sym typeface="Calibri"/>
              </a:rPr>
              <a:t>Un objecte pot estar format per altres objectes més simples.</a:t>
            </a:r>
            <a:endParaRPr>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Calibri"/>
              <a:buAutoNum type="arabicPeriod"/>
            </a:pPr>
            <a:r>
              <a:rPr i="0" lang="ca" sz="2000" u="none" cap="none" strike="noStrike">
                <a:solidFill>
                  <a:srgbClr val="000000"/>
                </a:solidFill>
                <a:latin typeface="Calibri"/>
                <a:ea typeface="Calibri"/>
                <a:cs typeface="Calibri"/>
                <a:sym typeface="Calibri"/>
              </a:rPr>
              <a:t>Cada objecte pertany a un tipus concret: una classe.</a:t>
            </a:r>
            <a:endParaRPr>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Calibri"/>
              <a:buAutoNum type="arabicPeriod"/>
            </a:pPr>
            <a:r>
              <a:rPr i="0" lang="ca" sz="2000" u="none" cap="none" strike="noStrike">
                <a:solidFill>
                  <a:srgbClr val="000000"/>
                </a:solidFill>
                <a:latin typeface="Calibri"/>
                <a:ea typeface="Calibri"/>
                <a:cs typeface="Calibri"/>
                <a:sym typeface="Calibri"/>
              </a:rPr>
              <a:t>Objectes del mateix tipus tenen un comportament idèntic.</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5"/>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lang="ca" sz="3200">
                <a:solidFill>
                  <a:srgbClr val="339933"/>
                </a:solidFill>
                <a:latin typeface="Arial"/>
                <a:ea typeface="Arial"/>
                <a:cs typeface="Arial"/>
                <a:sym typeface="Arial"/>
              </a:rPr>
              <a:t>Bases de la POO</a:t>
            </a:r>
            <a:endParaRPr b="1" sz="3200">
              <a:solidFill>
                <a:srgbClr val="339933"/>
              </a:solidFill>
              <a:latin typeface="Arial"/>
              <a:ea typeface="Arial"/>
              <a:cs typeface="Arial"/>
              <a:sym typeface="Arial"/>
            </a:endParaRPr>
          </a:p>
        </p:txBody>
      </p:sp>
      <p:sp>
        <p:nvSpPr>
          <p:cNvPr id="94" name="Google Shape;94;p5"/>
          <p:cNvSpPr txBox="1"/>
          <p:nvPr>
            <p:ph idx="1" type="body"/>
          </p:nvPr>
        </p:nvSpPr>
        <p:spPr>
          <a:xfrm>
            <a:off x="311700" y="864350"/>
            <a:ext cx="8520600" cy="4081200"/>
          </a:xfrm>
          <a:prstGeom prst="rect">
            <a:avLst/>
          </a:prstGeom>
          <a:noFill/>
          <a:ln>
            <a:noFill/>
          </a:ln>
        </p:spPr>
        <p:txBody>
          <a:bodyPr anchorCtr="0" anchor="t" bIns="45700" lIns="45700" spcFirstLastPara="1" rIns="45700" wrap="square" tIns="45700">
            <a:noAutofit/>
          </a:bodyPr>
          <a:lstStyle/>
          <a:p>
            <a:pPr indent="-533400" lvl="0" marL="533400" marR="0" rtl="0" algn="l">
              <a:lnSpc>
                <a:spcPct val="90000"/>
              </a:lnSpc>
              <a:spcBef>
                <a:spcPts val="0"/>
              </a:spcBef>
              <a:spcAft>
                <a:spcPts val="0"/>
              </a:spcAft>
              <a:buClr>
                <a:srgbClr val="000000"/>
              </a:buClr>
              <a:buSzPts val="1550"/>
              <a:buFont typeface="Arial"/>
              <a:buNone/>
            </a:pPr>
            <a:r>
              <a:rPr b="1" i="0" lang="ca" sz="1950" u="none" cap="none" strike="noStrike">
                <a:solidFill>
                  <a:srgbClr val="000000"/>
                </a:solidFill>
                <a:latin typeface="Calibri"/>
                <a:ea typeface="Calibri"/>
                <a:cs typeface="Calibri"/>
                <a:sym typeface="Calibri"/>
              </a:rPr>
              <a:t>1. Tot és un objecte, amb una identitat pròpia.</a:t>
            </a:r>
            <a:endParaRPr sz="1795">
              <a:latin typeface="Calibri"/>
              <a:ea typeface="Calibri"/>
              <a:cs typeface="Calibri"/>
              <a:sym typeface="Calibri"/>
            </a:endParaRPr>
          </a:p>
          <a:p>
            <a:pPr indent="-352425" lvl="0" marL="457200" marR="0" rtl="0" algn="l">
              <a:lnSpc>
                <a:spcPct val="90000"/>
              </a:lnSpc>
              <a:spcBef>
                <a:spcPts val="400"/>
              </a:spcBef>
              <a:spcAft>
                <a:spcPts val="0"/>
              </a:spcAft>
              <a:buClr>
                <a:srgbClr val="000000"/>
              </a:buClr>
              <a:buSzPts val="1950"/>
              <a:buFont typeface="Arial"/>
              <a:buChar char="●"/>
            </a:pPr>
            <a:r>
              <a:rPr i="0" lang="ca" sz="1950" u="none" cap="none" strike="noStrike">
                <a:solidFill>
                  <a:srgbClr val="000000"/>
                </a:solidFill>
                <a:latin typeface="Calibri"/>
                <a:ea typeface="Calibri"/>
                <a:cs typeface="Calibri"/>
                <a:sym typeface="Calibri"/>
              </a:rPr>
              <a:t>El programa s’estructura en un conjunt d’elements, cadascun del quals té unes propietats i un comportament concret que intenten imitar les de l’element del món real que representen. Aquests elements dins la simulació s’anomenen </a:t>
            </a:r>
            <a:r>
              <a:rPr b="1" i="0" lang="ca" sz="1950" u="none" cap="none" strike="noStrike">
                <a:solidFill>
                  <a:srgbClr val="000000"/>
                </a:solidFill>
                <a:latin typeface="Calibri"/>
                <a:ea typeface="Calibri"/>
                <a:cs typeface="Calibri"/>
                <a:sym typeface="Calibri"/>
              </a:rPr>
              <a:t>objectes</a:t>
            </a:r>
            <a:r>
              <a:rPr i="0" lang="ca" sz="1950" u="none" cap="none" strike="noStrike">
                <a:solidFill>
                  <a:srgbClr val="000000"/>
                </a:solidFill>
                <a:latin typeface="Calibri"/>
                <a:ea typeface="Calibri"/>
                <a:cs typeface="Calibri"/>
                <a:sym typeface="Calibri"/>
              </a:rPr>
              <a:t>. Així, doncs, en el programa en execució, </a:t>
            </a:r>
            <a:r>
              <a:rPr b="1" i="0" lang="ca" sz="1950" u="none" cap="none" strike="noStrike">
                <a:solidFill>
                  <a:srgbClr val="000000"/>
                </a:solidFill>
                <a:latin typeface="Calibri"/>
                <a:ea typeface="Calibri"/>
                <a:cs typeface="Calibri"/>
                <a:sym typeface="Calibri"/>
              </a:rPr>
              <a:t>tot element serà sempre un objecte</a:t>
            </a:r>
            <a:r>
              <a:rPr i="0" lang="ca" sz="1950" u="none" cap="none" strike="noStrike">
                <a:solidFill>
                  <a:srgbClr val="000000"/>
                </a:solidFill>
                <a:latin typeface="Calibri"/>
                <a:ea typeface="Calibri"/>
                <a:cs typeface="Calibri"/>
                <a:sym typeface="Calibri"/>
              </a:rPr>
              <a:t>.</a:t>
            </a:r>
            <a:endParaRPr sz="1795">
              <a:latin typeface="Calibri"/>
              <a:ea typeface="Calibri"/>
              <a:cs typeface="Calibri"/>
              <a:sym typeface="Calibri"/>
            </a:endParaRPr>
          </a:p>
          <a:p>
            <a:pPr indent="-352425" lvl="0" marL="457200" marR="0" rtl="0" algn="l">
              <a:lnSpc>
                <a:spcPct val="90000"/>
              </a:lnSpc>
              <a:spcBef>
                <a:spcPts val="0"/>
              </a:spcBef>
              <a:spcAft>
                <a:spcPts val="0"/>
              </a:spcAft>
              <a:buClr>
                <a:srgbClr val="000000"/>
              </a:buClr>
              <a:buSzPts val="1950"/>
              <a:buFont typeface="Arial"/>
              <a:buChar char="●"/>
            </a:pPr>
            <a:r>
              <a:rPr i="0" lang="ca" sz="1950" u="none" cap="none" strike="noStrike">
                <a:solidFill>
                  <a:srgbClr val="000000"/>
                </a:solidFill>
                <a:latin typeface="Calibri"/>
                <a:ea typeface="Calibri"/>
                <a:cs typeface="Calibri"/>
                <a:sym typeface="Calibri"/>
              </a:rPr>
              <a:t>Quan parlem de les </a:t>
            </a:r>
            <a:r>
              <a:rPr b="1" i="0" lang="ca" sz="1950" u="none" cap="none" strike="noStrike">
                <a:solidFill>
                  <a:srgbClr val="000000"/>
                </a:solidFill>
                <a:latin typeface="Calibri"/>
                <a:ea typeface="Calibri"/>
                <a:cs typeface="Calibri"/>
                <a:sym typeface="Calibri"/>
              </a:rPr>
              <a:t>propietats d’un objecte, </a:t>
            </a:r>
            <a:r>
              <a:rPr i="0" lang="ca" sz="1950" u="none" cap="none" strike="noStrike">
                <a:solidFill>
                  <a:srgbClr val="000000"/>
                </a:solidFill>
                <a:latin typeface="Calibri"/>
                <a:ea typeface="Calibri"/>
                <a:cs typeface="Calibri"/>
                <a:sym typeface="Calibri"/>
              </a:rPr>
              <a:t>també anomenades</a:t>
            </a:r>
            <a:r>
              <a:rPr b="1" i="0" lang="ca" sz="1950" u="none" cap="none" strike="noStrike">
                <a:solidFill>
                  <a:srgbClr val="000000"/>
                </a:solidFill>
                <a:latin typeface="Calibri"/>
                <a:ea typeface="Calibri"/>
                <a:cs typeface="Calibri"/>
                <a:sym typeface="Calibri"/>
              </a:rPr>
              <a:t> atributs</a:t>
            </a:r>
            <a:r>
              <a:rPr i="0" lang="ca" sz="1950" u="none" cap="none" strike="noStrike">
                <a:solidFill>
                  <a:srgbClr val="000000"/>
                </a:solidFill>
                <a:latin typeface="Calibri"/>
                <a:ea typeface="Calibri"/>
                <a:cs typeface="Calibri"/>
                <a:sym typeface="Calibri"/>
              </a:rPr>
              <a:t> ens referim a les qualitats que es considera important quantificar i que defineixen l’aspecte o l’estat de l’objecte. </a:t>
            </a:r>
            <a:endParaRPr sz="1795">
              <a:latin typeface="Calibri"/>
              <a:ea typeface="Calibri"/>
              <a:cs typeface="Calibri"/>
              <a:sym typeface="Calibri"/>
            </a:endParaRPr>
          </a:p>
          <a:p>
            <a:pPr indent="-352425" lvl="0" marL="457200" marR="0" rtl="0" algn="l">
              <a:lnSpc>
                <a:spcPct val="90000"/>
              </a:lnSpc>
              <a:spcBef>
                <a:spcPts val="0"/>
              </a:spcBef>
              <a:spcAft>
                <a:spcPts val="0"/>
              </a:spcAft>
              <a:buClr>
                <a:srgbClr val="000000"/>
              </a:buClr>
              <a:buSzPts val="1950"/>
              <a:buFont typeface="Arial"/>
              <a:buChar char="●"/>
            </a:pPr>
            <a:r>
              <a:rPr i="0" lang="ca" sz="1950" u="none" cap="none" strike="noStrike">
                <a:solidFill>
                  <a:srgbClr val="000000"/>
                </a:solidFill>
                <a:latin typeface="Calibri"/>
                <a:ea typeface="Calibri"/>
                <a:cs typeface="Calibri"/>
                <a:sym typeface="Calibri"/>
              </a:rPr>
              <a:t>Cada objecte dins un programa és </a:t>
            </a:r>
            <a:r>
              <a:rPr b="1" i="0" lang="ca" sz="1950" u="none" cap="none" strike="noStrike">
                <a:solidFill>
                  <a:srgbClr val="000000"/>
                </a:solidFill>
                <a:latin typeface="Calibri"/>
                <a:ea typeface="Calibri"/>
                <a:cs typeface="Calibri"/>
                <a:sym typeface="Calibri"/>
              </a:rPr>
              <a:t>únic</a:t>
            </a:r>
            <a:r>
              <a:rPr i="0" lang="ca" sz="1950" u="none" cap="none" strike="noStrike">
                <a:solidFill>
                  <a:srgbClr val="000000"/>
                </a:solidFill>
                <a:latin typeface="Calibri"/>
                <a:ea typeface="Calibri"/>
                <a:cs typeface="Calibri"/>
                <a:sym typeface="Calibri"/>
              </a:rPr>
              <a:t>, tot i que n’hi pot haver més d’un amb propietats idèntiques.</a:t>
            </a:r>
            <a:endParaRPr i="0" sz="1950" u="none" cap="none" strike="noStrike">
              <a:solidFill>
                <a:srgbClr val="000000"/>
              </a:solidFill>
              <a:latin typeface="Calibri"/>
              <a:ea typeface="Calibri"/>
              <a:cs typeface="Calibri"/>
              <a:sym typeface="Calibri"/>
            </a:endParaRPr>
          </a:p>
          <a:p>
            <a:pPr indent="0" lvl="0" marL="457200" marR="0" rtl="0" algn="l">
              <a:lnSpc>
                <a:spcPct val="90000"/>
              </a:lnSpc>
              <a:spcBef>
                <a:spcPts val="0"/>
              </a:spcBef>
              <a:spcAft>
                <a:spcPts val="0"/>
              </a:spcAft>
              <a:buSzPts val="1800"/>
              <a:buNone/>
            </a:pPr>
            <a:r>
              <a:t/>
            </a:r>
            <a:endParaRPr sz="1950">
              <a:solidFill>
                <a:srgbClr val="000000"/>
              </a:solidFill>
              <a:latin typeface="Calibri"/>
              <a:ea typeface="Calibri"/>
              <a:cs typeface="Calibri"/>
              <a:sym typeface="Calibri"/>
            </a:endParaRPr>
          </a:p>
          <a:p>
            <a:pPr indent="-533400" lvl="0" marL="533400" marR="0" rtl="0" algn="l">
              <a:lnSpc>
                <a:spcPct val="90000"/>
              </a:lnSpc>
              <a:spcBef>
                <a:spcPts val="400"/>
              </a:spcBef>
              <a:spcAft>
                <a:spcPts val="0"/>
              </a:spcAft>
              <a:buClr>
                <a:srgbClr val="000000"/>
              </a:buClr>
              <a:buSzPts val="1550"/>
              <a:buFont typeface="Arial"/>
              <a:buNone/>
            </a:pPr>
            <a:r>
              <a:rPr i="1" lang="ca" sz="1950" u="none" cap="none" strike="noStrike">
                <a:solidFill>
                  <a:srgbClr val="000000"/>
                </a:solidFill>
                <a:latin typeface="Calibri"/>
                <a:ea typeface="Calibri"/>
                <a:cs typeface="Calibri"/>
                <a:sym typeface="Calibri"/>
              </a:rPr>
              <a:t>P.ex.: Una bi</a:t>
            </a:r>
            <a:r>
              <a:rPr i="1" lang="ca" sz="1950">
                <a:solidFill>
                  <a:srgbClr val="000000"/>
                </a:solidFill>
                <a:latin typeface="Calibri"/>
                <a:ea typeface="Calibri"/>
                <a:cs typeface="Calibri"/>
                <a:sym typeface="Calibri"/>
              </a:rPr>
              <a:t>c</a:t>
            </a:r>
            <a:r>
              <a:rPr i="1" lang="ca" sz="1950" u="none" cap="none" strike="noStrike">
                <a:solidFill>
                  <a:srgbClr val="000000"/>
                </a:solidFill>
                <a:latin typeface="Calibri"/>
                <a:ea typeface="Calibri"/>
                <a:cs typeface="Calibri"/>
                <a:sym typeface="Calibri"/>
              </a:rPr>
              <a:t>icleta </a:t>
            </a:r>
            <a:r>
              <a:rPr i="1" lang="ca" sz="1950">
                <a:solidFill>
                  <a:srgbClr val="000000"/>
                </a:solidFill>
                <a:latin typeface="Calibri"/>
                <a:ea typeface="Calibri"/>
                <a:cs typeface="Calibri"/>
                <a:sym typeface="Calibri"/>
              </a:rPr>
              <a:t>té</a:t>
            </a:r>
            <a:r>
              <a:rPr i="1" lang="ca" sz="1950" u="none" cap="none" strike="noStrike">
                <a:solidFill>
                  <a:srgbClr val="000000"/>
                </a:solidFill>
                <a:latin typeface="Calibri"/>
                <a:ea typeface="Calibri"/>
                <a:cs typeface="Calibri"/>
                <a:sym typeface="Calibri"/>
              </a:rPr>
              <a:t> les propietats de color, … Pot haver dues bicicletes iguals però cada una es única, per tant són dos objectes diferenciats.</a:t>
            </a:r>
            <a:endParaRPr i="1" sz="1795">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Bases </a:t>
            </a:r>
            <a:r>
              <a:rPr b="1" lang="ca" sz="3200">
                <a:solidFill>
                  <a:srgbClr val="339933"/>
                </a:solidFill>
                <a:latin typeface="Arial"/>
                <a:ea typeface="Arial"/>
                <a:cs typeface="Arial"/>
                <a:sym typeface="Arial"/>
              </a:rPr>
              <a:t>de</a:t>
            </a:r>
            <a:r>
              <a:rPr b="1" i="0" lang="ca" sz="3200" u="none" cap="none" strike="noStrike">
                <a:solidFill>
                  <a:srgbClr val="339933"/>
                </a:solidFill>
                <a:latin typeface="Arial"/>
                <a:ea typeface="Arial"/>
                <a:cs typeface="Arial"/>
                <a:sym typeface="Arial"/>
              </a:rPr>
              <a:t> la POO</a:t>
            </a:r>
            <a:endParaRPr/>
          </a:p>
        </p:txBody>
      </p:sp>
      <p:sp>
        <p:nvSpPr>
          <p:cNvPr id="100" name="Google Shape;100;p6"/>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a:bodyPr>
          <a:lstStyle/>
          <a:p>
            <a:pPr indent="-533400" lvl="0" marL="533400" marR="0" rtl="0" algn="l">
              <a:lnSpc>
                <a:spcPct val="100000"/>
              </a:lnSpc>
              <a:spcBef>
                <a:spcPts val="0"/>
              </a:spcBef>
              <a:spcAft>
                <a:spcPts val="0"/>
              </a:spcAft>
              <a:buClr>
                <a:srgbClr val="000000"/>
              </a:buClr>
              <a:buSzPts val="2000"/>
              <a:buFont typeface="Arial"/>
              <a:buNone/>
            </a:pPr>
            <a:r>
              <a:rPr b="1" i="0" lang="ca" sz="2000" u="none" cap="none" strike="noStrike">
                <a:solidFill>
                  <a:srgbClr val="000000"/>
                </a:solidFill>
                <a:latin typeface="Calibri"/>
                <a:ea typeface="Calibri"/>
                <a:cs typeface="Calibri"/>
                <a:sym typeface="Calibri"/>
              </a:rPr>
              <a:t>2. Un programa és un conjunt d’objectes que interactuen entre ells.</a:t>
            </a:r>
            <a:endParaRPr>
              <a:latin typeface="Calibri"/>
              <a:ea typeface="Calibri"/>
              <a:cs typeface="Calibri"/>
              <a:sym typeface="Calibri"/>
            </a:endParaRPr>
          </a:p>
          <a:p>
            <a:pPr indent="-355600" lvl="0" marL="457200" marR="0" rtl="0" algn="l">
              <a:lnSpc>
                <a:spcPct val="100000"/>
              </a:lnSpc>
              <a:spcBef>
                <a:spcPts val="400"/>
              </a:spcBef>
              <a:spcAft>
                <a:spcPts val="0"/>
              </a:spcAft>
              <a:buClr>
                <a:srgbClr val="000000"/>
              </a:buClr>
              <a:buSzPts val="2000"/>
              <a:buFont typeface="Calibri"/>
              <a:buChar char="●"/>
            </a:pPr>
            <a:r>
              <a:rPr i="0" lang="ca" sz="2000" u="none" cap="none" strike="noStrike">
                <a:solidFill>
                  <a:srgbClr val="000000"/>
                </a:solidFill>
                <a:latin typeface="Calibri"/>
                <a:ea typeface="Calibri"/>
                <a:cs typeface="Calibri"/>
                <a:sym typeface="Calibri"/>
              </a:rPr>
              <a:t>El que defineix el comportament de cada objecte és una llista amb el conjunt de les interaccions que pot rebre, cada una sempre d’acord amb una tasca que pot fer o un canvi d’estat (una bombeta es pot apagar i encendre, un botó pot ser pitjat, una finestra tancada, etc.).</a:t>
            </a:r>
            <a:endParaRPr>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ca" sz="2000" u="none" cap="none" strike="noStrike">
                <a:solidFill>
                  <a:srgbClr val="000000"/>
                </a:solidFill>
                <a:latin typeface="Calibri"/>
                <a:ea typeface="Calibri"/>
                <a:cs typeface="Calibri"/>
                <a:sym typeface="Calibri"/>
              </a:rPr>
              <a:t>També és possible que no sigui un altre objecte, sinó l’usuari de l’aplicació, qui cridi una operació sobre un objecte.</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lang="ca" sz="3200">
                <a:solidFill>
                  <a:srgbClr val="339933"/>
                </a:solidFill>
                <a:latin typeface="Arial"/>
                <a:ea typeface="Arial"/>
                <a:cs typeface="Arial"/>
                <a:sym typeface="Arial"/>
              </a:rPr>
              <a:t>Bases</a:t>
            </a:r>
            <a:r>
              <a:rPr b="1" i="0" lang="ca" sz="3200" u="none" cap="none" strike="noStrike">
                <a:solidFill>
                  <a:srgbClr val="339933"/>
                </a:solidFill>
                <a:latin typeface="Arial"/>
                <a:ea typeface="Arial"/>
                <a:cs typeface="Arial"/>
                <a:sym typeface="Arial"/>
              </a:rPr>
              <a:t> de </a:t>
            </a:r>
            <a:r>
              <a:rPr b="1" lang="ca" sz="3200">
                <a:solidFill>
                  <a:srgbClr val="339933"/>
                </a:solidFill>
                <a:latin typeface="Arial"/>
                <a:ea typeface="Arial"/>
                <a:cs typeface="Arial"/>
                <a:sym typeface="Arial"/>
              </a:rPr>
              <a:t>la</a:t>
            </a:r>
            <a:r>
              <a:rPr b="1" i="0" lang="ca" sz="3200" u="none" cap="none" strike="noStrike">
                <a:solidFill>
                  <a:srgbClr val="339933"/>
                </a:solidFill>
                <a:latin typeface="Arial"/>
                <a:ea typeface="Arial"/>
                <a:cs typeface="Arial"/>
                <a:sym typeface="Arial"/>
              </a:rPr>
              <a:t> POO</a:t>
            </a:r>
            <a:endParaRPr/>
          </a:p>
        </p:txBody>
      </p:sp>
      <p:sp>
        <p:nvSpPr>
          <p:cNvPr id="106" name="Google Shape;106;p7"/>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a:bodyPr>
          <a:lstStyle/>
          <a:p>
            <a:pPr indent="-533400" lvl="0" marL="533400" marR="0" rtl="0" algn="l">
              <a:lnSpc>
                <a:spcPct val="100000"/>
              </a:lnSpc>
              <a:spcBef>
                <a:spcPts val="0"/>
              </a:spcBef>
              <a:spcAft>
                <a:spcPts val="0"/>
              </a:spcAft>
              <a:buClr>
                <a:srgbClr val="000000"/>
              </a:buClr>
              <a:buSzPts val="2000"/>
              <a:buFont typeface="Arial"/>
              <a:buNone/>
            </a:pPr>
            <a:r>
              <a:rPr b="1" i="0" lang="ca" sz="2000" u="none" cap="none" strike="noStrike">
                <a:solidFill>
                  <a:srgbClr val="000000"/>
                </a:solidFill>
                <a:latin typeface="Calibri"/>
                <a:ea typeface="Calibri"/>
                <a:cs typeface="Calibri"/>
                <a:sym typeface="Calibri"/>
              </a:rPr>
              <a:t>3. Un objecte pot estar format per altres objectes més simples.</a:t>
            </a:r>
            <a:endParaRPr>
              <a:latin typeface="Calibri"/>
              <a:ea typeface="Calibri"/>
              <a:cs typeface="Calibri"/>
              <a:sym typeface="Calibri"/>
            </a:endParaRPr>
          </a:p>
          <a:p>
            <a:pPr indent="-355600" lvl="0" marL="457200" marR="0" rtl="0" algn="l">
              <a:lnSpc>
                <a:spcPct val="100000"/>
              </a:lnSpc>
              <a:spcBef>
                <a:spcPts val="400"/>
              </a:spcBef>
              <a:spcAft>
                <a:spcPts val="0"/>
              </a:spcAft>
              <a:buClr>
                <a:srgbClr val="000000"/>
              </a:buClr>
              <a:buSzPts val="2000"/>
              <a:buFont typeface="Calibri"/>
              <a:buChar char="●"/>
            </a:pPr>
            <a:r>
              <a:rPr i="0" lang="ca" sz="2000" u="none" cap="none" strike="noStrike">
                <a:solidFill>
                  <a:srgbClr val="000000"/>
                </a:solidFill>
                <a:latin typeface="Calibri"/>
                <a:ea typeface="Calibri"/>
                <a:cs typeface="Calibri"/>
                <a:sym typeface="Calibri"/>
              </a:rPr>
              <a:t>Quan es vol resoldre un problema, la manera més senzilla de tractar amb la complexitat és mitjançant la descomposició en problemes més simples. Per exemple, el motor d’un cotxe es descompon en elements més senzills i molt més fàcils d’analitzar, els quals, a la vegada, es poden descompondre en un altre conjunt d’elements encara més simples. </a:t>
            </a:r>
            <a:endParaRPr>
              <a:latin typeface="Calibri"/>
              <a:ea typeface="Calibri"/>
              <a:cs typeface="Calibri"/>
              <a:sym typeface="Calibri"/>
            </a:endParaRPr>
          </a:p>
        </p:txBody>
      </p:sp>
      <p:sp>
        <p:nvSpPr>
          <p:cNvPr id="107" name="Google Shape;107;p7"/>
          <p:cNvSpPr txBox="1"/>
          <p:nvPr/>
        </p:nvSpPr>
        <p:spPr>
          <a:xfrm>
            <a:off x="1768800" y="3661950"/>
            <a:ext cx="5019000" cy="657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ca" sz="1800" u="none" cap="none" strike="noStrike">
                <a:solidFill>
                  <a:schemeClr val="dk1"/>
                </a:solidFill>
                <a:latin typeface="Open Sans"/>
                <a:ea typeface="Open Sans"/>
                <a:cs typeface="Open Sans"/>
                <a:sym typeface="Open Sans"/>
              </a:rPr>
              <a:t>Divide y vencerás. (Julio Cesar)</a:t>
            </a:r>
            <a:endParaRPr b="0" i="1" sz="1800" u="none" cap="none" strike="noStrike">
              <a:solidFill>
                <a:schemeClr val="dk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8"/>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Bases </a:t>
            </a:r>
            <a:r>
              <a:rPr b="1" lang="ca" sz="3200">
                <a:solidFill>
                  <a:srgbClr val="339933"/>
                </a:solidFill>
                <a:latin typeface="Arial"/>
                <a:ea typeface="Arial"/>
                <a:cs typeface="Arial"/>
                <a:sym typeface="Arial"/>
              </a:rPr>
              <a:t>de</a:t>
            </a:r>
            <a:r>
              <a:rPr b="1" i="0" lang="ca" sz="3200" u="none" cap="none" strike="noStrike">
                <a:solidFill>
                  <a:srgbClr val="339933"/>
                </a:solidFill>
                <a:latin typeface="Arial"/>
                <a:ea typeface="Arial"/>
                <a:cs typeface="Arial"/>
                <a:sym typeface="Arial"/>
              </a:rPr>
              <a:t> la POO</a:t>
            </a:r>
            <a:endParaRPr/>
          </a:p>
        </p:txBody>
      </p:sp>
      <p:sp>
        <p:nvSpPr>
          <p:cNvPr id="113" name="Google Shape;113;p8"/>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533400" lvl="0" marL="533400" marR="0" rtl="0" algn="l">
              <a:lnSpc>
                <a:spcPct val="90000"/>
              </a:lnSpc>
              <a:spcBef>
                <a:spcPts val="0"/>
              </a:spcBef>
              <a:spcAft>
                <a:spcPts val="0"/>
              </a:spcAft>
              <a:buClr>
                <a:srgbClr val="000000"/>
              </a:buClr>
              <a:buSzPts val="1550"/>
              <a:buFont typeface="Arial"/>
              <a:buNone/>
            </a:pPr>
            <a:r>
              <a:rPr b="1" i="0" lang="ca" sz="1950" u="none" cap="none" strike="noStrike">
                <a:solidFill>
                  <a:srgbClr val="000000"/>
                </a:solidFill>
                <a:latin typeface="Calibri"/>
                <a:ea typeface="Calibri"/>
                <a:cs typeface="Calibri"/>
                <a:sym typeface="Calibri"/>
              </a:rPr>
              <a:t>4. Cada objecte pertany a un tipus concret: una classe.</a:t>
            </a:r>
            <a:endParaRPr sz="1795">
              <a:latin typeface="Calibri"/>
              <a:ea typeface="Calibri"/>
              <a:cs typeface="Calibri"/>
              <a:sym typeface="Calibri"/>
            </a:endParaRPr>
          </a:p>
          <a:p>
            <a:pPr indent="-352425" lvl="0" marL="457200" marR="0" rtl="0" algn="l">
              <a:lnSpc>
                <a:spcPct val="90000"/>
              </a:lnSpc>
              <a:spcBef>
                <a:spcPts val="400"/>
              </a:spcBef>
              <a:spcAft>
                <a:spcPts val="0"/>
              </a:spcAft>
              <a:buClr>
                <a:srgbClr val="000000"/>
              </a:buClr>
              <a:buSzPts val="1950"/>
              <a:buFont typeface="Calibri"/>
              <a:buChar char="●"/>
            </a:pPr>
            <a:r>
              <a:rPr i="0" lang="ca" sz="1950" u="none" cap="none" strike="noStrike">
                <a:solidFill>
                  <a:srgbClr val="000000"/>
                </a:solidFill>
                <a:latin typeface="Calibri"/>
                <a:ea typeface="Calibri"/>
                <a:cs typeface="Calibri"/>
                <a:sym typeface="Calibri"/>
              </a:rPr>
              <a:t>A mesura que es defineixen els diferents objectes que componen el programa en execució, sovint es troba que hi ha objectes que es poden considerar del mateix tipus: tenen exactament les mateixes propietats, tot i que el valor de cada una pot ser diferent per a cada objecte concret, i el mateix comportament. Llavors es diu que aquests objectes pertanyen a la mateixa classe.</a:t>
            </a:r>
            <a:endParaRPr sz="1795">
              <a:latin typeface="Calibri"/>
              <a:ea typeface="Calibri"/>
              <a:cs typeface="Calibri"/>
              <a:sym typeface="Calibri"/>
            </a:endParaRPr>
          </a:p>
          <a:p>
            <a:pPr indent="-352425" lvl="0" marL="457200" marR="0" rtl="0" algn="l">
              <a:lnSpc>
                <a:spcPct val="90000"/>
              </a:lnSpc>
              <a:spcBef>
                <a:spcPts val="0"/>
              </a:spcBef>
              <a:spcAft>
                <a:spcPts val="0"/>
              </a:spcAft>
              <a:buClr>
                <a:srgbClr val="000000"/>
              </a:buClr>
              <a:buSzPts val="1950"/>
              <a:buFont typeface="Arial"/>
              <a:buChar char="●"/>
            </a:pPr>
            <a:r>
              <a:rPr i="0" lang="ca" sz="1950" u="none" cap="none" strike="noStrike">
                <a:solidFill>
                  <a:srgbClr val="000000"/>
                </a:solidFill>
                <a:latin typeface="Calibri"/>
                <a:ea typeface="Calibri"/>
                <a:cs typeface="Calibri"/>
                <a:sym typeface="Calibri"/>
              </a:rPr>
              <a:t>Una </a:t>
            </a:r>
            <a:r>
              <a:rPr b="1" i="0" lang="ca" sz="1950" u="none" cap="none" strike="noStrike">
                <a:solidFill>
                  <a:srgbClr val="000000"/>
                </a:solidFill>
                <a:latin typeface="Calibri"/>
                <a:ea typeface="Calibri"/>
                <a:cs typeface="Calibri"/>
                <a:sym typeface="Calibri"/>
              </a:rPr>
              <a:t>classe</a:t>
            </a:r>
            <a:r>
              <a:rPr i="0" lang="ca" sz="1950" u="none" cap="none" strike="noStrike">
                <a:solidFill>
                  <a:srgbClr val="000000"/>
                </a:solidFill>
                <a:latin typeface="Calibri"/>
                <a:ea typeface="Calibri"/>
                <a:cs typeface="Calibri"/>
                <a:sym typeface="Calibri"/>
              </a:rPr>
              <a:t> és l’especificació formal de les propietats (els atributs) i el comportament esperat (la llista d’operacions) d’un conjunt d’objectes del mateix tipus, i que actua com una </a:t>
            </a:r>
            <a:r>
              <a:rPr b="1" i="0" lang="ca" sz="1950" u="none" cap="none" strike="noStrike">
                <a:solidFill>
                  <a:srgbClr val="000000"/>
                </a:solidFill>
                <a:latin typeface="Calibri"/>
                <a:ea typeface="Calibri"/>
                <a:cs typeface="Calibri"/>
                <a:sym typeface="Calibri"/>
              </a:rPr>
              <a:t>plantilla</a:t>
            </a:r>
            <a:r>
              <a:rPr i="0" lang="ca" sz="1950" u="none" cap="none" strike="noStrike">
                <a:solidFill>
                  <a:srgbClr val="000000"/>
                </a:solidFill>
                <a:latin typeface="Calibri"/>
                <a:ea typeface="Calibri"/>
                <a:cs typeface="Calibri"/>
                <a:sym typeface="Calibri"/>
              </a:rPr>
              <a:t> per generar cadascun d’ells.</a:t>
            </a:r>
            <a:endParaRPr sz="1795">
              <a:latin typeface="Calibri"/>
              <a:ea typeface="Calibri"/>
              <a:cs typeface="Calibri"/>
              <a:sym typeface="Calibri"/>
            </a:endParaRPr>
          </a:p>
          <a:p>
            <a:pPr indent="-352425" lvl="0" marL="457200" marR="0" rtl="0" algn="l">
              <a:lnSpc>
                <a:spcPct val="90000"/>
              </a:lnSpc>
              <a:spcBef>
                <a:spcPts val="0"/>
              </a:spcBef>
              <a:spcAft>
                <a:spcPts val="0"/>
              </a:spcAft>
              <a:buClr>
                <a:srgbClr val="000000"/>
              </a:buClr>
              <a:buSzPts val="1950"/>
              <a:buFont typeface="Arial"/>
              <a:buChar char="●"/>
            </a:pPr>
            <a:r>
              <a:rPr i="0" lang="ca" sz="1950" u="none" cap="none" strike="noStrike">
                <a:solidFill>
                  <a:srgbClr val="000000"/>
                </a:solidFill>
                <a:latin typeface="Calibri"/>
                <a:ea typeface="Calibri"/>
                <a:cs typeface="Calibri"/>
                <a:sym typeface="Calibri"/>
              </a:rPr>
              <a:t>Es diu que un objecte és una </a:t>
            </a:r>
            <a:r>
              <a:rPr b="1" i="0" lang="ca" sz="1950" u="none" cap="none" strike="noStrike">
                <a:solidFill>
                  <a:srgbClr val="000000"/>
                </a:solidFill>
                <a:latin typeface="Calibri"/>
                <a:ea typeface="Calibri"/>
                <a:cs typeface="Calibri"/>
                <a:sym typeface="Calibri"/>
              </a:rPr>
              <a:t>instància</a:t>
            </a:r>
            <a:r>
              <a:rPr i="0" lang="ca" sz="1950" u="none" cap="none" strike="noStrike">
                <a:solidFill>
                  <a:srgbClr val="000000"/>
                </a:solidFill>
                <a:latin typeface="Calibri"/>
                <a:ea typeface="Calibri"/>
                <a:cs typeface="Calibri"/>
                <a:sym typeface="Calibri"/>
              </a:rPr>
              <a:t> d’una classe i que un objecte és </a:t>
            </a:r>
            <a:r>
              <a:rPr b="1" i="0" lang="ca" sz="1950" u="none" cap="none" strike="noStrike">
                <a:solidFill>
                  <a:srgbClr val="000000"/>
                </a:solidFill>
                <a:latin typeface="Calibri"/>
                <a:ea typeface="Calibri"/>
                <a:cs typeface="Calibri"/>
                <a:sym typeface="Calibri"/>
              </a:rPr>
              <a:t>instanciat</a:t>
            </a:r>
            <a:r>
              <a:rPr i="0" lang="ca" sz="1950" u="none" cap="none" strike="noStrike">
                <a:solidFill>
                  <a:srgbClr val="000000"/>
                </a:solidFill>
                <a:latin typeface="Calibri"/>
                <a:ea typeface="Calibri"/>
                <a:cs typeface="Calibri"/>
                <a:sym typeface="Calibri"/>
              </a:rPr>
              <a:t> quan es crea dins l’aplicació. Es pot considerar que </a:t>
            </a:r>
            <a:r>
              <a:rPr i="1" lang="ca" sz="1950" u="none" cap="none" strike="noStrike">
                <a:solidFill>
                  <a:srgbClr val="000000"/>
                </a:solidFill>
                <a:latin typeface="Calibri"/>
                <a:ea typeface="Calibri"/>
                <a:cs typeface="Calibri"/>
                <a:sym typeface="Calibri"/>
              </a:rPr>
              <a:t>instància</a:t>
            </a:r>
            <a:r>
              <a:rPr i="0" lang="ca" sz="1950" u="none" cap="none" strike="noStrike">
                <a:solidFill>
                  <a:srgbClr val="000000"/>
                </a:solidFill>
                <a:latin typeface="Calibri"/>
                <a:ea typeface="Calibri"/>
                <a:cs typeface="Calibri"/>
                <a:sym typeface="Calibri"/>
              </a:rPr>
              <a:t> i </a:t>
            </a:r>
            <a:r>
              <a:rPr i="1" lang="ca" sz="1950" u="none" cap="none" strike="noStrike">
                <a:solidFill>
                  <a:srgbClr val="000000"/>
                </a:solidFill>
                <a:latin typeface="Calibri"/>
                <a:ea typeface="Calibri"/>
                <a:cs typeface="Calibri"/>
                <a:sym typeface="Calibri"/>
              </a:rPr>
              <a:t>objecte</a:t>
            </a:r>
            <a:r>
              <a:rPr i="0" lang="ca" sz="1950" u="none" cap="none" strike="noStrike">
                <a:solidFill>
                  <a:srgbClr val="000000"/>
                </a:solidFill>
                <a:latin typeface="Calibri"/>
                <a:ea typeface="Calibri"/>
                <a:cs typeface="Calibri"/>
                <a:sym typeface="Calibri"/>
              </a:rPr>
              <a:t> són termes equivalents. </a:t>
            </a:r>
            <a:endParaRPr sz="1795">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Bases de la POO</a:t>
            </a:r>
            <a:endParaRPr/>
          </a:p>
        </p:txBody>
      </p:sp>
      <p:sp>
        <p:nvSpPr>
          <p:cNvPr id="119" name="Google Shape;119;p9"/>
          <p:cNvSpPr txBox="1"/>
          <p:nvPr>
            <p:ph idx="1" type="body"/>
          </p:nvPr>
        </p:nvSpPr>
        <p:spPr>
          <a:xfrm>
            <a:off x="219950" y="864347"/>
            <a:ext cx="8612400" cy="3780000"/>
          </a:xfrm>
          <a:prstGeom prst="rect">
            <a:avLst/>
          </a:prstGeom>
          <a:noFill/>
          <a:ln>
            <a:noFill/>
          </a:ln>
        </p:spPr>
        <p:txBody>
          <a:bodyPr anchorCtr="0" anchor="t" bIns="45700" lIns="45700" spcFirstLastPara="1" rIns="45700" wrap="square" tIns="45700">
            <a:noAutofit/>
          </a:bodyPr>
          <a:lstStyle/>
          <a:p>
            <a:pPr indent="-387350" lvl="0" marL="457200" marR="0" rtl="0" algn="l">
              <a:lnSpc>
                <a:spcPct val="80000"/>
              </a:lnSpc>
              <a:spcBef>
                <a:spcPts val="0"/>
              </a:spcBef>
              <a:spcAft>
                <a:spcPts val="0"/>
              </a:spcAft>
              <a:buClr>
                <a:srgbClr val="000000"/>
              </a:buClr>
              <a:buSzPts val="2500"/>
              <a:buFont typeface="Arial"/>
              <a:buChar char="●"/>
            </a:pPr>
            <a:r>
              <a:rPr i="0" lang="ca" sz="2500" u="none" cap="none" strike="noStrike">
                <a:solidFill>
                  <a:srgbClr val="000000"/>
                </a:solidFill>
                <a:latin typeface="Calibri"/>
                <a:ea typeface="Calibri"/>
                <a:cs typeface="Calibri"/>
                <a:sym typeface="Calibri"/>
              </a:rPr>
              <a:t>Un cop </a:t>
            </a:r>
            <a:r>
              <a:rPr b="1" i="0" lang="ca" sz="2500" u="none" cap="none" strike="noStrike">
                <a:solidFill>
                  <a:srgbClr val="000000"/>
                </a:solidFill>
                <a:latin typeface="Calibri"/>
                <a:ea typeface="Calibri"/>
                <a:cs typeface="Calibri"/>
                <a:sym typeface="Calibri"/>
              </a:rPr>
              <a:t>instanciat un objecte</a:t>
            </a:r>
            <a:r>
              <a:rPr i="0" lang="ca" sz="2500" u="none" cap="none" strike="noStrike">
                <a:solidFill>
                  <a:srgbClr val="000000"/>
                </a:solidFill>
                <a:latin typeface="Calibri"/>
                <a:ea typeface="Calibri"/>
                <a:cs typeface="Calibri"/>
                <a:sym typeface="Calibri"/>
              </a:rPr>
              <a:t>, </a:t>
            </a:r>
            <a:r>
              <a:rPr b="1" i="0" lang="ca" sz="2500" u="none" cap="none" strike="noStrike">
                <a:solidFill>
                  <a:srgbClr val="000000"/>
                </a:solidFill>
                <a:latin typeface="Calibri"/>
                <a:ea typeface="Calibri"/>
                <a:cs typeface="Calibri"/>
                <a:sym typeface="Calibri"/>
              </a:rPr>
              <a:t>aquest sempre pertany a la mateixa classe</a:t>
            </a:r>
            <a:r>
              <a:rPr i="0" lang="ca" sz="2500" u="none" cap="none" strike="noStrike">
                <a:solidFill>
                  <a:srgbClr val="000000"/>
                </a:solidFill>
                <a:latin typeface="Calibri"/>
                <a:ea typeface="Calibri"/>
                <a:cs typeface="Calibri"/>
                <a:sym typeface="Calibri"/>
              </a:rPr>
              <a:t>. No es pot canviar el seu tipus dinàmicament.</a:t>
            </a:r>
            <a:endParaRPr i="0" sz="2500" u="none" cap="none" strike="noStrike">
              <a:solidFill>
                <a:srgbClr val="000000"/>
              </a:solidFill>
              <a:latin typeface="Calibri"/>
              <a:ea typeface="Calibri"/>
              <a:cs typeface="Calibri"/>
              <a:sym typeface="Calibri"/>
            </a:endParaRPr>
          </a:p>
          <a:p>
            <a:pPr indent="0" lvl="0" marL="457200" marR="0" rtl="0" algn="l">
              <a:lnSpc>
                <a:spcPct val="80000"/>
              </a:lnSpc>
              <a:spcBef>
                <a:spcPts val="0"/>
              </a:spcBef>
              <a:spcAft>
                <a:spcPts val="0"/>
              </a:spcAft>
              <a:buNone/>
            </a:pPr>
            <a:r>
              <a:t/>
            </a:r>
            <a:endParaRPr sz="2500">
              <a:solidFill>
                <a:srgbClr val="000000"/>
              </a:solidFill>
              <a:latin typeface="Calibri"/>
              <a:ea typeface="Calibri"/>
              <a:cs typeface="Calibri"/>
              <a:sym typeface="Calibri"/>
            </a:endParaRPr>
          </a:p>
          <a:p>
            <a:pPr indent="-387350" lvl="0" marL="457200" marR="0" rtl="0" algn="l">
              <a:lnSpc>
                <a:spcPct val="80000"/>
              </a:lnSpc>
              <a:spcBef>
                <a:spcPts val="0"/>
              </a:spcBef>
              <a:spcAft>
                <a:spcPts val="0"/>
              </a:spcAft>
              <a:buClr>
                <a:srgbClr val="000000"/>
              </a:buClr>
              <a:buSzPts val="2500"/>
              <a:buFont typeface="Calibri"/>
              <a:buChar char="●"/>
            </a:pPr>
            <a:r>
              <a:rPr i="0" lang="ca" sz="2500" u="none" cap="none" strike="noStrike">
                <a:solidFill>
                  <a:srgbClr val="000000"/>
                </a:solidFill>
                <a:latin typeface="Calibri"/>
                <a:ea typeface="Calibri"/>
                <a:cs typeface="Calibri"/>
                <a:sym typeface="Calibri"/>
              </a:rPr>
              <a:t>Fins ara sempre ens havíem referit als objectes com a elements que componen un programa en execució (èmfasi en la paraula “execució”). Però, donat un programa desenvolupat mitjançant l’orientació a objectes, allò que el programador realment generarà, el codi font, serà, per una banda, les classes de cada objecte necessari dins el seu programa i, per l’altra, el codi que instanc</a:t>
            </a:r>
            <a:r>
              <a:rPr lang="ca" sz="2500">
                <a:solidFill>
                  <a:srgbClr val="000000"/>
                </a:solidFill>
                <a:latin typeface="Calibri"/>
                <a:ea typeface="Calibri"/>
                <a:cs typeface="Calibri"/>
                <a:sym typeface="Calibri"/>
              </a:rPr>
              <a:t>í</a:t>
            </a:r>
            <a:r>
              <a:rPr i="0" lang="ca" sz="2500" u="none" cap="none" strike="noStrike">
                <a:solidFill>
                  <a:srgbClr val="000000"/>
                </a:solidFill>
                <a:latin typeface="Calibri"/>
                <a:ea typeface="Calibri"/>
                <a:cs typeface="Calibri"/>
                <a:sym typeface="Calibri"/>
              </a:rPr>
              <a:t>a i organitza tots els objectes.</a:t>
            </a:r>
            <a:endParaRPr i="0" sz="2500" u="none" cap="none" strike="noStrike">
              <a:solidFill>
                <a:srgbClr val="000000"/>
              </a:solidFill>
              <a:latin typeface="Calibri"/>
              <a:ea typeface="Calibri"/>
              <a:cs typeface="Calibri"/>
              <a:sym typeface="Calibri"/>
            </a:endParaRPr>
          </a:p>
          <a:p>
            <a:pPr indent="0" lvl="0" marL="457200" marR="0" rtl="0" algn="l">
              <a:lnSpc>
                <a:spcPct val="80000"/>
              </a:lnSpc>
              <a:spcBef>
                <a:spcPts val="0"/>
              </a:spcBef>
              <a:spcAft>
                <a:spcPts val="0"/>
              </a:spcAft>
              <a:buNone/>
            </a:pPr>
            <a:r>
              <a:t/>
            </a:r>
            <a:endParaRPr sz="2500">
              <a:solidFill>
                <a:srgbClr val="000000"/>
              </a:solidFill>
              <a:latin typeface="Calibri"/>
              <a:ea typeface="Calibri"/>
              <a:cs typeface="Calibri"/>
              <a:sym typeface="Calibri"/>
            </a:endParaRPr>
          </a:p>
          <a:p>
            <a:pPr indent="-387350" lvl="0" marL="457200" marR="0" rtl="0" algn="l">
              <a:lnSpc>
                <a:spcPct val="80000"/>
              </a:lnSpc>
              <a:spcBef>
                <a:spcPts val="0"/>
              </a:spcBef>
              <a:spcAft>
                <a:spcPts val="0"/>
              </a:spcAft>
              <a:buClr>
                <a:srgbClr val="000000"/>
              </a:buClr>
              <a:buSzPts val="2500"/>
              <a:buFont typeface="Calibri"/>
              <a:buChar char="●"/>
            </a:pPr>
            <a:r>
              <a:rPr i="0" lang="ca" sz="2500" u="none" cap="none" strike="noStrike">
                <a:solidFill>
                  <a:srgbClr val="000000"/>
                </a:solidFill>
                <a:latin typeface="Calibri"/>
                <a:ea typeface="Calibri"/>
                <a:cs typeface="Calibri"/>
                <a:sym typeface="Calibri"/>
              </a:rPr>
              <a:t>Els objectes només existeixen mentre l’aplicació està en marxa.</a:t>
            </a:r>
            <a:endParaRPr sz="23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0"/>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Bases de la POO</a:t>
            </a:r>
            <a:endParaRPr/>
          </a:p>
        </p:txBody>
      </p:sp>
      <p:sp>
        <p:nvSpPr>
          <p:cNvPr id="125" name="Google Shape;125;p10"/>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533400" lvl="0" marL="533400" marR="0" rtl="0" algn="l">
              <a:lnSpc>
                <a:spcPct val="80000"/>
              </a:lnSpc>
              <a:spcBef>
                <a:spcPts val="0"/>
              </a:spcBef>
              <a:spcAft>
                <a:spcPts val="0"/>
              </a:spcAft>
              <a:buClr>
                <a:srgbClr val="000000"/>
              </a:buClr>
              <a:buSzPts val="2000"/>
              <a:buFont typeface="Arial"/>
              <a:buNone/>
            </a:pPr>
            <a:r>
              <a:rPr b="1" i="0" lang="ca" sz="2500" u="none" cap="none" strike="noStrike">
                <a:solidFill>
                  <a:srgbClr val="000000"/>
                </a:solidFill>
                <a:latin typeface="Calibri"/>
                <a:ea typeface="Calibri"/>
                <a:cs typeface="Calibri"/>
                <a:sym typeface="Calibri"/>
              </a:rPr>
              <a:t>5. Objectes del mateix tipus tenen un comportament idèntic.</a:t>
            </a:r>
            <a:endParaRPr sz="2300">
              <a:latin typeface="Calibri"/>
              <a:ea typeface="Calibri"/>
              <a:cs typeface="Calibri"/>
              <a:sym typeface="Calibri"/>
            </a:endParaRPr>
          </a:p>
          <a:p>
            <a:pPr indent="-387350" lvl="0" marL="457200" marR="0" rtl="0" algn="l">
              <a:lnSpc>
                <a:spcPct val="80000"/>
              </a:lnSpc>
              <a:spcBef>
                <a:spcPts val="400"/>
              </a:spcBef>
              <a:spcAft>
                <a:spcPts val="0"/>
              </a:spcAft>
              <a:buClr>
                <a:srgbClr val="000000"/>
              </a:buClr>
              <a:buSzPts val="2500"/>
              <a:buFont typeface="Calibri"/>
              <a:buChar char="●"/>
            </a:pPr>
            <a:r>
              <a:rPr i="0" lang="ca" sz="2500" u="none" cap="none" strike="noStrike">
                <a:solidFill>
                  <a:srgbClr val="000000"/>
                </a:solidFill>
                <a:latin typeface="Calibri"/>
                <a:ea typeface="Calibri"/>
                <a:cs typeface="Calibri"/>
                <a:sym typeface="Calibri"/>
              </a:rPr>
              <a:t>De la mateixa manera que una classe defineix els atributs d’objectes del mateix tipus, també n’especifica el comportament: la seva llista d’operacions. Per tant, el conjunt d’interaccions possibles amb objectes de la mateixa classe sempre és el mateix.</a:t>
            </a:r>
            <a:endParaRPr sz="2300">
              <a:latin typeface="Calibri"/>
              <a:ea typeface="Calibri"/>
              <a:cs typeface="Calibri"/>
              <a:sym typeface="Calibri"/>
            </a:endParaRPr>
          </a:p>
          <a:p>
            <a:pPr indent="-387350" lvl="0" marL="457200" marR="0" rtl="0" algn="l">
              <a:lnSpc>
                <a:spcPct val="80000"/>
              </a:lnSpc>
              <a:spcBef>
                <a:spcPts val="0"/>
              </a:spcBef>
              <a:spcAft>
                <a:spcPts val="0"/>
              </a:spcAft>
              <a:buClr>
                <a:srgbClr val="000000"/>
              </a:buClr>
              <a:buSzPts val="2500"/>
              <a:buFont typeface="Arial"/>
              <a:buChar char="●"/>
            </a:pPr>
            <a:r>
              <a:rPr i="0" lang="ca" sz="2500" u="none" cap="none" strike="noStrike">
                <a:solidFill>
                  <a:srgbClr val="000000"/>
                </a:solidFill>
                <a:latin typeface="Calibri"/>
                <a:ea typeface="Calibri"/>
                <a:cs typeface="Calibri"/>
                <a:sym typeface="Calibri"/>
              </a:rPr>
              <a:t>Una </a:t>
            </a:r>
            <a:r>
              <a:rPr b="1" i="0" lang="ca" sz="2500" u="none" cap="none" strike="noStrike">
                <a:solidFill>
                  <a:srgbClr val="000000"/>
                </a:solidFill>
                <a:latin typeface="Calibri"/>
                <a:ea typeface="Calibri"/>
                <a:cs typeface="Calibri"/>
                <a:sym typeface="Calibri"/>
              </a:rPr>
              <a:t>operació</a:t>
            </a:r>
            <a:r>
              <a:rPr i="0" lang="ca" sz="2500" u="none" cap="none" strike="noStrike">
                <a:solidFill>
                  <a:srgbClr val="000000"/>
                </a:solidFill>
                <a:latin typeface="Calibri"/>
                <a:ea typeface="Calibri"/>
                <a:cs typeface="Calibri"/>
                <a:sym typeface="Calibri"/>
              </a:rPr>
              <a:t> és una funció o transformació que es pot aplicar a tots els objectes d’una classe.</a:t>
            </a:r>
            <a:endParaRPr sz="2300">
              <a:latin typeface="Calibri"/>
              <a:ea typeface="Calibri"/>
              <a:cs typeface="Calibri"/>
              <a:sym typeface="Calibri"/>
            </a:endParaRPr>
          </a:p>
          <a:p>
            <a:pPr indent="-387350" lvl="0" marL="457200" marR="0" rtl="0" algn="l">
              <a:lnSpc>
                <a:spcPct val="80000"/>
              </a:lnSpc>
              <a:spcBef>
                <a:spcPts val="0"/>
              </a:spcBef>
              <a:spcAft>
                <a:spcPts val="0"/>
              </a:spcAft>
              <a:buClr>
                <a:srgbClr val="000000"/>
              </a:buClr>
              <a:buSzPts val="2500"/>
              <a:buFont typeface="Arial"/>
              <a:buChar char="●"/>
            </a:pPr>
            <a:r>
              <a:rPr i="0" lang="ca" sz="2500" u="none" cap="none" strike="noStrike">
                <a:solidFill>
                  <a:srgbClr val="000000"/>
                </a:solidFill>
                <a:latin typeface="Calibri"/>
                <a:ea typeface="Calibri"/>
                <a:cs typeface="Calibri"/>
                <a:sym typeface="Calibri"/>
              </a:rPr>
              <a:t>Cada operació es materialitza en un </a:t>
            </a:r>
            <a:r>
              <a:rPr b="1" i="0" lang="ca" sz="2500" u="none" cap="none" strike="noStrike">
                <a:solidFill>
                  <a:srgbClr val="000000"/>
                </a:solidFill>
                <a:latin typeface="Calibri"/>
                <a:ea typeface="Calibri"/>
                <a:cs typeface="Calibri"/>
                <a:sym typeface="Calibri"/>
              </a:rPr>
              <a:t>mètode</a:t>
            </a:r>
            <a:r>
              <a:rPr i="0" lang="ca" sz="2500" u="none" cap="none" strike="noStrike">
                <a:solidFill>
                  <a:srgbClr val="000000"/>
                </a:solidFill>
                <a:latin typeface="Calibri"/>
                <a:ea typeface="Calibri"/>
                <a:cs typeface="Calibri"/>
                <a:sym typeface="Calibri"/>
              </a:rPr>
              <a:t>, el conjunt de codi que fa la tasca corresponent. </a:t>
            </a:r>
            <a:endParaRPr sz="23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1"/>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Exemple</a:t>
            </a:r>
            <a:endParaRPr/>
          </a:p>
        </p:txBody>
      </p:sp>
      <p:pic>
        <p:nvPicPr>
          <p:cNvPr descr="ic10m03u1_05.png" id="131" name="Google Shape;131;p11"/>
          <p:cNvPicPr preferRelativeResize="0"/>
          <p:nvPr/>
        </p:nvPicPr>
        <p:blipFill rotWithShape="1">
          <a:blip r:embed="rId3">
            <a:alphaModFix/>
          </a:blip>
          <a:srcRect b="0" l="0" r="0" t="0"/>
          <a:stretch/>
        </p:blipFill>
        <p:spPr>
          <a:xfrm>
            <a:off x="684212" y="1006078"/>
            <a:ext cx="5387175" cy="3571616"/>
          </a:xfrm>
          <a:prstGeom prst="rect">
            <a:avLst/>
          </a:prstGeom>
          <a:noFill/>
          <a:ln>
            <a:noFill/>
          </a:ln>
        </p:spPr>
      </p:pic>
      <p:sp>
        <p:nvSpPr>
          <p:cNvPr id="132" name="Google Shape;132;p11"/>
          <p:cNvSpPr txBox="1"/>
          <p:nvPr/>
        </p:nvSpPr>
        <p:spPr>
          <a:xfrm>
            <a:off x="323850" y="471353"/>
            <a:ext cx="3528900" cy="411000"/>
          </a:xfrm>
          <a:prstGeom prst="rect">
            <a:avLst/>
          </a:prstGeom>
          <a:no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339933"/>
              </a:buClr>
              <a:buSzPts val="3200"/>
              <a:buFont typeface="Arial"/>
              <a:buNone/>
            </a:pPr>
            <a:r>
              <a:t/>
            </a:r>
            <a:endParaRPr b="1" i="0" sz="3200" u="none" cap="none" strike="noStrike">
              <a:solidFill>
                <a:srgbClr val="33993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Passos a seguir</a:t>
            </a:r>
            <a:endParaRPr/>
          </a:p>
        </p:txBody>
      </p:sp>
      <p:sp>
        <p:nvSpPr>
          <p:cNvPr id="138" name="Google Shape;138;p12"/>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609600" lvl="0" marL="609600" marR="0" rtl="0" algn="l">
              <a:lnSpc>
                <a:spcPct val="80000"/>
              </a:lnSpc>
              <a:spcBef>
                <a:spcPts val="0"/>
              </a:spcBef>
              <a:spcAft>
                <a:spcPts val="0"/>
              </a:spcAft>
              <a:buClr>
                <a:srgbClr val="000000"/>
              </a:buClr>
              <a:buSzPts val="1550"/>
              <a:buFont typeface="Arial"/>
              <a:buNone/>
            </a:pPr>
            <a:r>
              <a:rPr i="0" lang="ca" sz="2050" u="none" cap="none" strike="noStrike">
                <a:solidFill>
                  <a:srgbClr val="000000"/>
                </a:solidFill>
                <a:latin typeface="Calibri"/>
                <a:ea typeface="Calibri"/>
                <a:cs typeface="Calibri"/>
                <a:sym typeface="Calibri"/>
              </a:rPr>
              <a:t>Els passos a seguir per a la resolució</a:t>
            </a:r>
            <a:r>
              <a:rPr b="1" i="0" lang="ca" sz="2050" u="none" cap="none" strike="noStrike">
                <a:solidFill>
                  <a:srgbClr val="000000"/>
                </a:solidFill>
                <a:latin typeface="Calibri"/>
                <a:ea typeface="Calibri"/>
                <a:cs typeface="Calibri"/>
                <a:sym typeface="Calibri"/>
              </a:rPr>
              <a:t> </a:t>
            </a:r>
            <a:r>
              <a:rPr i="0" lang="ca" sz="2050" u="none" cap="none" strike="noStrike">
                <a:solidFill>
                  <a:srgbClr val="000000"/>
                </a:solidFill>
                <a:latin typeface="Calibri"/>
                <a:ea typeface="Calibri"/>
                <a:cs typeface="Calibri"/>
                <a:sym typeface="Calibri"/>
              </a:rPr>
              <a:t>d’un problema mitjançant la POO:</a:t>
            </a:r>
            <a:endParaRPr b="1" i="0" sz="2980" u="none" cap="none" strike="noStrike">
              <a:solidFill>
                <a:srgbClr val="000000"/>
              </a:solidFill>
              <a:latin typeface="Calibri"/>
              <a:ea typeface="Calibri"/>
              <a:cs typeface="Calibri"/>
              <a:sym typeface="Calibri"/>
            </a:endParaRPr>
          </a:p>
          <a:p>
            <a:pPr indent="-609600" lvl="0" marL="609600" marR="0" rtl="0" algn="l">
              <a:lnSpc>
                <a:spcPct val="80000"/>
              </a:lnSpc>
              <a:spcBef>
                <a:spcPts val="400"/>
              </a:spcBef>
              <a:spcAft>
                <a:spcPts val="0"/>
              </a:spcAft>
              <a:buClr>
                <a:srgbClr val="000000"/>
              </a:buClr>
              <a:buSzPts val="2050"/>
              <a:buFont typeface="Arial"/>
              <a:buAutoNum type="arabicPeriod"/>
            </a:pPr>
            <a:r>
              <a:rPr b="1" i="0" lang="ca" sz="2050" u="none" cap="none" strike="noStrike">
                <a:solidFill>
                  <a:srgbClr val="000000"/>
                </a:solidFill>
                <a:latin typeface="Calibri"/>
                <a:ea typeface="Calibri"/>
                <a:cs typeface="Calibri"/>
                <a:sym typeface="Calibri"/>
              </a:rPr>
              <a:t>Plantejar l’escenari descriptivament</a:t>
            </a:r>
            <a:r>
              <a:rPr i="0" lang="ca" sz="2050" u="none" cap="none" strike="noStrike">
                <a:solidFill>
                  <a:srgbClr val="000000"/>
                </a:solidFill>
                <a:latin typeface="Calibri"/>
                <a:ea typeface="Calibri"/>
                <a:cs typeface="Calibri"/>
                <a:sym typeface="Calibri"/>
              </a:rPr>
              <a:t>, amb llenguatge humà. </a:t>
            </a:r>
            <a:endParaRPr sz="1895">
              <a:latin typeface="Calibri"/>
              <a:ea typeface="Calibri"/>
              <a:cs typeface="Calibri"/>
              <a:sym typeface="Calibri"/>
            </a:endParaRPr>
          </a:p>
          <a:p>
            <a:pPr indent="-609600" lvl="0" marL="609600" marR="0" rtl="0" algn="l">
              <a:lnSpc>
                <a:spcPct val="80000"/>
              </a:lnSpc>
              <a:spcBef>
                <a:spcPts val="400"/>
              </a:spcBef>
              <a:spcAft>
                <a:spcPts val="0"/>
              </a:spcAft>
              <a:buClr>
                <a:srgbClr val="000000"/>
              </a:buClr>
              <a:buSzPts val="2050"/>
              <a:buFont typeface="Arial"/>
              <a:buAutoNum type="arabicPeriod"/>
            </a:pPr>
            <a:r>
              <a:rPr b="1" i="0" lang="ca" sz="2050" u="none" cap="none" strike="noStrike">
                <a:solidFill>
                  <a:srgbClr val="000000"/>
                </a:solidFill>
                <a:latin typeface="Calibri"/>
                <a:ea typeface="Calibri"/>
                <a:cs typeface="Calibri"/>
                <a:sym typeface="Calibri"/>
              </a:rPr>
              <a:t>Localitzar els elements</a:t>
            </a:r>
            <a:r>
              <a:rPr i="0" lang="ca" sz="2050" u="none" cap="none" strike="noStrike">
                <a:solidFill>
                  <a:srgbClr val="000000"/>
                </a:solidFill>
                <a:latin typeface="Calibri"/>
                <a:ea typeface="Calibri"/>
                <a:cs typeface="Calibri"/>
                <a:sym typeface="Calibri"/>
              </a:rPr>
              <a:t> que es consideren més </a:t>
            </a:r>
            <a:r>
              <a:rPr b="1" i="0" lang="ca" sz="2050" u="none" cap="none" strike="noStrike">
                <a:solidFill>
                  <a:srgbClr val="000000"/>
                </a:solidFill>
                <a:latin typeface="Calibri"/>
                <a:ea typeface="Calibri"/>
                <a:cs typeface="Calibri"/>
                <a:sym typeface="Calibri"/>
              </a:rPr>
              <a:t>importants</a:t>
            </a:r>
            <a:r>
              <a:rPr i="0" lang="ca" sz="2050" u="none" cap="none" strike="noStrike">
                <a:solidFill>
                  <a:srgbClr val="000000"/>
                </a:solidFill>
                <a:latin typeface="Calibri"/>
                <a:ea typeface="Calibri"/>
                <a:cs typeface="Calibri"/>
                <a:sym typeface="Calibri"/>
              </a:rPr>
              <a:t>: els que realment interactuen amb vista a resoldre el problema. Aquests seran els objectes del programa.</a:t>
            </a:r>
            <a:endParaRPr sz="1895">
              <a:latin typeface="Calibri"/>
              <a:ea typeface="Calibri"/>
              <a:cs typeface="Calibri"/>
              <a:sym typeface="Calibri"/>
            </a:endParaRPr>
          </a:p>
          <a:p>
            <a:pPr indent="-609600" lvl="0" marL="609600" marR="0" rtl="0" algn="l">
              <a:lnSpc>
                <a:spcPct val="80000"/>
              </a:lnSpc>
              <a:spcBef>
                <a:spcPts val="400"/>
              </a:spcBef>
              <a:spcAft>
                <a:spcPts val="0"/>
              </a:spcAft>
              <a:buClr>
                <a:srgbClr val="000000"/>
              </a:buClr>
              <a:buSzPts val="2050"/>
              <a:buFont typeface="Arial"/>
              <a:buAutoNum type="arabicPeriod"/>
            </a:pPr>
            <a:r>
              <a:rPr i="0" lang="ca" sz="2050" u="none" cap="none" strike="noStrike">
                <a:solidFill>
                  <a:srgbClr val="000000"/>
                </a:solidFill>
                <a:latin typeface="Calibri"/>
                <a:ea typeface="Calibri"/>
                <a:cs typeface="Calibri"/>
                <a:sym typeface="Calibri"/>
              </a:rPr>
              <a:t>Considerar quins elements són d’una certa complexitat. </a:t>
            </a:r>
            <a:r>
              <a:rPr b="1" i="0" lang="ca" sz="2050" u="none" cap="none" strike="noStrike">
                <a:solidFill>
                  <a:srgbClr val="000000"/>
                </a:solidFill>
                <a:latin typeface="Calibri"/>
                <a:ea typeface="Calibri"/>
                <a:cs typeface="Calibri"/>
                <a:sym typeface="Calibri"/>
              </a:rPr>
              <a:t>Redefinir-los com a agrupacions d’objectes més simples.</a:t>
            </a:r>
            <a:endParaRPr b="1" i="0" sz="2980" u="none" cap="none" strike="noStrike">
              <a:solidFill>
                <a:srgbClr val="000000"/>
              </a:solidFill>
              <a:latin typeface="Calibri"/>
              <a:ea typeface="Calibri"/>
              <a:cs typeface="Calibri"/>
              <a:sym typeface="Calibri"/>
            </a:endParaRPr>
          </a:p>
          <a:p>
            <a:pPr indent="-609600" lvl="0" marL="609600" marR="0" rtl="0" algn="l">
              <a:lnSpc>
                <a:spcPct val="80000"/>
              </a:lnSpc>
              <a:spcBef>
                <a:spcPts val="400"/>
              </a:spcBef>
              <a:spcAft>
                <a:spcPts val="0"/>
              </a:spcAft>
              <a:buClr>
                <a:srgbClr val="000000"/>
              </a:buClr>
              <a:buSzPts val="2050"/>
              <a:buFont typeface="Arial"/>
              <a:buAutoNum type="arabicPeriod"/>
            </a:pPr>
            <a:r>
              <a:rPr b="1" i="0" lang="ca" sz="2050" u="none" cap="none" strike="noStrike">
                <a:solidFill>
                  <a:srgbClr val="000000"/>
                </a:solidFill>
                <a:latin typeface="Calibri"/>
                <a:ea typeface="Calibri"/>
                <a:cs typeface="Calibri"/>
                <a:sym typeface="Calibri"/>
              </a:rPr>
              <a:t>Agrupar els diferents objectes segons el tipus</a:t>
            </a:r>
            <a:r>
              <a:rPr i="0" lang="ca" sz="2050" u="none" cap="none" strike="noStrike">
                <a:solidFill>
                  <a:srgbClr val="000000"/>
                </a:solidFill>
                <a:latin typeface="Calibri"/>
                <a:ea typeface="Calibri"/>
                <a:cs typeface="Calibri"/>
                <a:sym typeface="Calibri"/>
              </a:rPr>
              <a:t>: quins objectes veiem que tenen propietats o comportaments idèntics. </a:t>
            </a:r>
            <a:r>
              <a:rPr b="1" i="0" lang="ca" sz="2050" u="none" cap="none" strike="noStrike">
                <a:solidFill>
                  <a:srgbClr val="000000"/>
                </a:solidFill>
                <a:latin typeface="Calibri"/>
                <a:ea typeface="Calibri"/>
                <a:cs typeface="Calibri"/>
                <a:sym typeface="Calibri"/>
              </a:rPr>
              <a:t>Cada tipus d’objecte serà una classe</a:t>
            </a:r>
            <a:r>
              <a:rPr i="0" lang="ca" sz="2050" u="none" cap="none" strike="noStrike">
                <a:solidFill>
                  <a:srgbClr val="000000"/>
                </a:solidFill>
                <a:latin typeface="Calibri"/>
                <a:ea typeface="Calibri"/>
                <a:cs typeface="Calibri"/>
                <a:sym typeface="Calibri"/>
              </a:rPr>
              <a:t>.</a:t>
            </a:r>
            <a:endParaRPr sz="1895">
              <a:latin typeface="Calibri"/>
              <a:ea typeface="Calibri"/>
              <a:cs typeface="Calibri"/>
              <a:sym typeface="Calibri"/>
            </a:endParaRPr>
          </a:p>
          <a:p>
            <a:pPr indent="-609600" lvl="0" marL="609600" marR="0" rtl="0" algn="l">
              <a:lnSpc>
                <a:spcPct val="80000"/>
              </a:lnSpc>
              <a:spcBef>
                <a:spcPts val="400"/>
              </a:spcBef>
              <a:spcAft>
                <a:spcPts val="0"/>
              </a:spcAft>
              <a:buClr>
                <a:srgbClr val="000000"/>
              </a:buClr>
              <a:buSzPts val="2050"/>
              <a:buFont typeface="Arial"/>
              <a:buAutoNum type="arabicPeriod"/>
            </a:pPr>
            <a:r>
              <a:rPr b="1" i="0" lang="ca" sz="2050" u="none" cap="none" strike="noStrike">
                <a:solidFill>
                  <a:srgbClr val="000000"/>
                </a:solidFill>
                <a:latin typeface="Calibri"/>
                <a:ea typeface="Calibri"/>
                <a:cs typeface="Calibri"/>
                <a:sym typeface="Calibri"/>
              </a:rPr>
              <a:t>Identificar i enumerar les característiques dels objectes</a:t>
            </a:r>
            <a:r>
              <a:rPr i="0" lang="ca" sz="2050" u="none" cap="none" strike="noStrike">
                <a:solidFill>
                  <a:srgbClr val="000000"/>
                </a:solidFill>
                <a:latin typeface="Calibri"/>
                <a:ea typeface="Calibri"/>
                <a:cs typeface="Calibri"/>
                <a:sym typeface="Calibri"/>
              </a:rPr>
              <a:t> de cada classe: quines són les seves propietats (els </a:t>
            </a:r>
            <a:r>
              <a:rPr b="1" i="0" lang="ca" sz="2050" u="none" cap="none" strike="noStrike">
                <a:solidFill>
                  <a:srgbClr val="000000"/>
                </a:solidFill>
                <a:latin typeface="Calibri"/>
                <a:ea typeface="Calibri"/>
                <a:cs typeface="Calibri"/>
                <a:sym typeface="Calibri"/>
              </a:rPr>
              <a:t>atributs</a:t>
            </a:r>
            <a:r>
              <a:rPr i="0" lang="ca" sz="2050" u="none" cap="none" strike="noStrike">
                <a:solidFill>
                  <a:srgbClr val="000000"/>
                </a:solidFill>
                <a:latin typeface="Calibri"/>
                <a:ea typeface="Calibri"/>
                <a:cs typeface="Calibri"/>
                <a:sym typeface="Calibri"/>
              </a:rPr>
              <a:t>) i el seu comportament (les </a:t>
            </a:r>
            <a:r>
              <a:rPr b="1" i="0" lang="ca" sz="2050" u="none" cap="none" strike="noStrike">
                <a:solidFill>
                  <a:srgbClr val="000000"/>
                </a:solidFill>
                <a:latin typeface="Calibri"/>
                <a:ea typeface="Calibri"/>
                <a:cs typeface="Calibri"/>
                <a:sym typeface="Calibri"/>
              </a:rPr>
              <a:t>operacions</a:t>
            </a:r>
            <a:r>
              <a:rPr i="0" lang="ca" sz="2050" u="none" cap="none" strike="noStrike">
                <a:solidFill>
                  <a:srgbClr val="000000"/>
                </a:solidFill>
                <a:latin typeface="Calibri"/>
                <a:ea typeface="Calibri"/>
                <a:cs typeface="Calibri"/>
                <a:sym typeface="Calibri"/>
              </a:rPr>
              <a:t> que ofereixen).</a:t>
            </a:r>
            <a:endParaRPr sz="1895">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3"/>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Passos a seguir</a:t>
            </a:r>
            <a:endParaRPr/>
          </a:p>
        </p:txBody>
      </p:sp>
      <p:sp>
        <p:nvSpPr>
          <p:cNvPr id="144" name="Google Shape;144;p13"/>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a:bodyPr>
          <a:lstStyle/>
          <a:p>
            <a:pPr indent="-609600" lvl="0" marL="609600" marR="0" rtl="0" algn="l">
              <a:lnSpc>
                <a:spcPct val="100000"/>
              </a:lnSpc>
              <a:spcBef>
                <a:spcPts val="0"/>
              </a:spcBef>
              <a:spcAft>
                <a:spcPts val="0"/>
              </a:spcAft>
              <a:buClr>
                <a:srgbClr val="000000"/>
              </a:buClr>
              <a:buSzPts val="2000"/>
              <a:buFont typeface="Arial"/>
              <a:buAutoNum type="arabicPeriod" startAt="6"/>
            </a:pPr>
            <a:r>
              <a:rPr i="0" lang="ca" sz="2000" u="none" cap="none" strike="noStrike">
                <a:solidFill>
                  <a:srgbClr val="000000"/>
                </a:solidFill>
                <a:latin typeface="Calibri"/>
                <a:ea typeface="Calibri"/>
                <a:cs typeface="Calibri"/>
                <a:sym typeface="Calibri"/>
              </a:rPr>
              <a:t>Un cop identificats els objectes que conformen el problema a resoldre (el programa que es vol fer en aquest cas), cal </a:t>
            </a:r>
            <a:r>
              <a:rPr b="1" i="0" lang="ca" sz="2000" u="none" cap="none" strike="noStrike">
                <a:solidFill>
                  <a:srgbClr val="000000"/>
                </a:solidFill>
                <a:latin typeface="Calibri"/>
                <a:ea typeface="Calibri"/>
                <a:cs typeface="Calibri"/>
                <a:sym typeface="Calibri"/>
              </a:rPr>
              <a:t>identificar com es relacionen entre ells</a:t>
            </a:r>
            <a:r>
              <a:rPr i="0" lang="ca" sz="2000" u="none" cap="none" strike="noStrike">
                <a:solidFill>
                  <a:srgbClr val="000000"/>
                </a:solidFill>
                <a:latin typeface="Calibri"/>
                <a:ea typeface="Calibri"/>
                <a:cs typeface="Calibri"/>
                <a:sym typeface="Calibri"/>
              </a:rPr>
              <a:t>.</a:t>
            </a:r>
            <a:endParaRPr>
              <a:latin typeface="Calibri"/>
              <a:ea typeface="Calibri"/>
              <a:cs typeface="Calibri"/>
              <a:sym typeface="Calibri"/>
            </a:endParaRPr>
          </a:p>
          <a:p>
            <a:pPr indent="-609600" lvl="0" marL="609600" marR="0" rtl="0" algn="l">
              <a:lnSpc>
                <a:spcPct val="100000"/>
              </a:lnSpc>
              <a:spcBef>
                <a:spcPts val="400"/>
              </a:spcBef>
              <a:spcAft>
                <a:spcPts val="0"/>
              </a:spcAft>
              <a:buClr>
                <a:srgbClr val="333333"/>
              </a:buClr>
              <a:buSzPts val="2000"/>
              <a:buFont typeface="Arial"/>
              <a:buAutoNum type="arabicPeriod" startAt="6"/>
            </a:pPr>
            <a:r>
              <a:rPr i="0" lang="ca" sz="2000" u="none" cap="none" strike="noStrike">
                <a:solidFill>
                  <a:srgbClr val="333333"/>
                </a:solidFill>
                <a:latin typeface="Calibri"/>
                <a:ea typeface="Calibri"/>
                <a:cs typeface="Calibri"/>
                <a:sym typeface="Calibri"/>
              </a:rPr>
              <a:t>Per cada classe, </a:t>
            </a:r>
            <a:r>
              <a:rPr b="1" i="0" lang="ca" sz="2000" u="none" cap="none" strike="noStrike">
                <a:solidFill>
                  <a:srgbClr val="333333"/>
                </a:solidFill>
                <a:latin typeface="Calibri"/>
                <a:ea typeface="Calibri"/>
                <a:cs typeface="Calibri"/>
                <a:sym typeface="Calibri"/>
              </a:rPr>
              <a:t>especificar</a:t>
            </a:r>
            <a:r>
              <a:rPr i="0" lang="ca" sz="2000" u="none" cap="none" strike="noStrike">
                <a:solidFill>
                  <a:srgbClr val="333333"/>
                </a:solidFill>
                <a:latin typeface="Calibri"/>
                <a:ea typeface="Calibri"/>
                <a:cs typeface="Calibri"/>
                <a:sym typeface="Calibri"/>
              </a:rPr>
              <a:t> formalment els seus </a:t>
            </a:r>
            <a:r>
              <a:rPr b="1" i="0" lang="ca" sz="2000" u="none" cap="none" strike="noStrike">
                <a:solidFill>
                  <a:srgbClr val="333333"/>
                </a:solidFill>
                <a:latin typeface="Calibri"/>
                <a:ea typeface="Calibri"/>
                <a:cs typeface="Calibri"/>
                <a:sym typeface="Calibri"/>
              </a:rPr>
              <a:t>atributs</a:t>
            </a:r>
            <a:r>
              <a:rPr i="0" lang="ca" sz="2000" u="none" cap="none" strike="noStrike">
                <a:solidFill>
                  <a:srgbClr val="333333"/>
                </a:solidFill>
                <a:latin typeface="Calibri"/>
                <a:ea typeface="Calibri"/>
                <a:cs typeface="Calibri"/>
                <a:sym typeface="Calibri"/>
              </a:rPr>
              <a:t> i </a:t>
            </a:r>
            <a:r>
              <a:rPr b="1" i="0" lang="ca" sz="2000" u="none" cap="none" strike="noStrike">
                <a:solidFill>
                  <a:srgbClr val="333333"/>
                </a:solidFill>
                <a:latin typeface="Calibri"/>
                <a:ea typeface="Calibri"/>
                <a:cs typeface="Calibri"/>
                <a:sym typeface="Calibri"/>
              </a:rPr>
              <a:t>operacions, </a:t>
            </a:r>
            <a:r>
              <a:rPr i="0" lang="ca" sz="2000" u="none" cap="none" strike="noStrike">
                <a:solidFill>
                  <a:srgbClr val="333333"/>
                </a:solidFill>
                <a:latin typeface="Calibri"/>
                <a:ea typeface="Calibri"/>
                <a:cs typeface="Calibri"/>
                <a:sym typeface="Calibri"/>
              </a:rPr>
              <a:t>a partir dels dos punts anteriors</a:t>
            </a:r>
            <a:r>
              <a:rPr b="1" i="0" lang="ca" sz="2000" u="none" cap="none" strike="noStrike">
                <a:solidFill>
                  <a:srgbClr val="333333"/>
                </a:solidFill>
                <a:latin typeface="Calibri"/>
                <a:ea typeface="Calibri"/>
                <a:cs typeface="Calibri"/>
                <a:sym typeface="Calibri"/>
              </a:rPr>
              <a:t>.</a:t>
            </a:r>
            <a:endParaRPr>
              <a:latin typeface="Calibri"/>
              <a:ea typeface="Calibri"/>
              <a:cs typeface="Calibri"/>
              <a:sym typeface="Calibri"/>
            </a:endParaRPr>
          </a:p>
        </p:txBody>
      </p:sp>
      <p:sp>
        <p:nvSpPr>
          <p:cNvPr id="145" name="Google Shape;145;p13"/>
          <p:cNvSpPr txBox="1"/>
          <p:nvPr/>
        </p:nvSpPr>
        <p:spPr>
          <a:xfrm>
            <a:off x="539750" y="2527696"/>
            <a:ext cx="8064600" cy="9459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ca" sz="1900" u="none" cap="none" strike="noStrike">
                <a:solidFill>
                  <a:srgbClr val="000000"/>
                </a:solidFill>
                <a:latin typeface="Calibri"/>
                <a:ea typeface="Calibri"/>
                <a:cs typeface="Calibri"/>
                <a:sym typeface="Calibri"/>
              </a:rPr>
              <a:t>És </a:t>
            </a:r>
            <a:r>
              <a:rPr b="1" i="0" lang="ca" sz="1900" u="none" cap="none" strike="noStrike">
                <a:solidFill>
                  <a:srgbClr val="000000"/>
                </a:solidFill>
                <a:latin typeface="Calibri"/>
                <a:ea typeface="Calibri"/>
                <a:cs typeface="Calibri"/>
                <a:sym typeface="Calibri"/>
              </a:rPr>
              <a:t>molt difícil identificar a la primera totes les classes</a:t>
            </a:r>
            <a:r>
              <a:rPr b="0" i="0" lang="ca" sz="1900" u="none" cap="none" strike="noStrike">
                <a:solidFill>
                  <a:srgbClr val="000000"/>
                </a:solidFill>
                <a:latin typeface="Calibri"/>
                <a:ea typeface="Calibri"/>
                <a:cs typeface="Calibri"/>
                <a:sym typeface="Calibri"/>
              </a:rPr>
              <a:t>, atributs i operacions. Normalment, </a:t>
            </a:r>
            <a:r>
              <a:rPr b="1" i="0" lang="ca" sz="1900" u="none" cap="none" strike="noStrike">
                <a:solidFill>
                  <a:srgbClr val="000000"/>
                </a:solidFill>
                <a:latin typeface="Calibri"/>
                <a:ea typeface="Calibri"/>
                <a:cs typeface="Calibri"/>
                <a:sym typeface="Calibri"/>
              </a:rPr>
              <a:t>caldrà fer diverses iteracions</a:t>
            </a:r>
            <a:r>
              <a:rPr b="0" i="0" lang="ca" sz="1900" u="none" cap="none" strike="noStrike">
                <a:solidFill>
                  <a:srgbClr val="000000"/>
                </a:solidFill>
                <a:latin typeface="Calibri"/>
                <a:ea typeface="Calibri"/>
                <a:cs typeface="Calibri"/>
                <a:sym typeface="Calibri"/>
              </a:rPr>
              <a:t>. De fet, moltes vegades no serà possible adonar-se que calen certes coses fins al moment de la implementació.</a:t>
            </a:r>
            <a:endParaRPr b="0" i="0" sz="1300" u="none" cap="none" strike="noStrike">
              <a:solidFill>
                <a:srgbClr val="000000"/>
              </a:solidFill>
              <a:latin typeface="Calibri"/>
              <a:ea typeface="Calibri"/>
              <a:cs typeface="Calibri"/>
              <a:sym typeface="Calibri"/>
            </a:endParaRPr>
          </a:p>
        </p:txBody>
      </p:sp>
      <p:sp>
        <p:nvSpPr>
          <p:cNvPr id="146" name="Google Shape;146;p13"/>
          <p:cNvSpPr txBox="1"/>
          <p:nvPr/>
        </p:nvSpPr>
        <p:spPr>
          <a:xfrm>
            <a:off x="561600" y="3527619"/>
            <a:ext cx="8064600" cy="11649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ca" sz="1900" u="none" cap="none" strike="noStrike">
                <a:solidFill>
                  <a:srgbClr val="000000"/>
                </a:solidFill>
                <a:latin typeface="Calibri"/>
                <a:ea typeface="Calibri"/>
                <a:cs typeface="Calibri"/>
                <a:sym typeface="Calibri"/>
              </a:rPr>
              <a:t>La </a:t>
            </a:r>
            <a:r>
              <a:rPr b="1" i="0" lang="ca" sz="1900" u="none" cap="none" strike="noStrike">
                <a:solidFill>
                  <a:srgbClr val="000000"/>
                </a:solidFill>
                <a:latin typeface="Calibri"/>
                <a:ea typeface="Calibri"/>
                <a:cs typeface="Calibri"/>
                <a:sym typeface="Calibri"/>
              </a:rPr>
              <a:t>descomposició inicial</a:t>
            </a:r>
            <a:r>
              <a:rPr b="0" i="0" lang="ca" sz="1900" u="none" cap="none" strike="noStrike">
                <a:solidFill>
                  <a:srgbClr val="000000"/>
                </a:solidFill>
                <a:latin typeface="Calibri"/>
                <a:ea typeface="Calibri"/>
                <a:cs typeface="Calibri"/>
                <a:sym typeface="Calibri"/>
              </a:rPr>
              <a:t> d’un problema mitjançant l’orientació a objectes </a:t>
            </a:r>
            <a:r>
              <a:rPr b="1" i="0" lang="ca" sz="1900" u="none" cap="none" strike="noStrike">
                <a:solidFill>
                  <a:srgbClr val="000000"/>
                </a:solidFill>
                <a:latin typeface="Calibri"/>
                <a:ea typeface="Calibri"/>
                <a:cs typeface="Calibri"/>
                <a:sym typeface="Calibri"/>
              </a:rPr>
              <a:t>no ha d’explicitar mai la interfície d’usuari</a:t>
            </a:r>
            <a:r>
              <a:rPr b="0" i="0" lang="ca" sz="1900" u="none" cap="none" strike="noStrike">
                <a:solidFill>
                  <a:srgbClr val="000000"/>
                </a:solidFill>
                <a:latin typeface="Calibri"/>
                <a:ea typeface="Calibri"/>
                <a:cs typeface="Calibri"/>
                <a:sym typeface="Calibri"/>
              </a:rPr>
              <a:t> a emprar. Només es defineix la lògica interna del sistema i com s’estructura la informació a processar. Això és el que s’anomena el </a:t>
            </a:r>
            <a:r>
              <a:rPr b="1" i="0" lang="ca" sz="1900" u="none" cap="none" strike="noStrike">
                <a:solidFill>
                  <a:srgbClr val="000000"/>
                </a:solidFill>
                <a:latin typeface="Calibri"/>
                <a:ea typeface="Calibri"/>
                <a:cs typeface="Calibri"/>
                <a:sym typeface="Calibri"/>
              </a:rPr>
              <a:t>model</a:t>
            </a:r>
            <a:r>
              <a:rPr b="0" i="0" lang="ca" sz="1900" u="none" cap="none" strike="noStrike">
                <a:solidFill>
                  <a:srgbClr val="000000"/>
                </a:solidFill>
                <a:latin typeface="Calibri"/>
                <a:ea typeface="Calibri"/>
                <a:cs typeface="Calibri"/>
                <a:sym typeface="Calibri"/>
              </a:rPr>
              <a:t> de l’aplicació.</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4"/>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4224" u="none" cap="none" strike="noStrike">
                <a:solidFill>
                  <a:srgbClr val="339933"/>
                </a:solidFill>
                <a:latin typeface="Arial"/>
                <a:ea typeface="Arial"/>
                <a:cs typeface="Arial"/>
                <a:sym typeface="Arial"/>
              </a:rPr>
              <a:t>Manipulació d'objectes</a:t>
            </a:r>
            <a:endParaRPr/>
          </a:p>
        </p:txBody>
      </p:sp>
      <p:sp>
        <p:nvSpPr>
          <p:cNvPr id="152" name="Google Shape;152;p14"/>
          <p:cNvSpPr txBox="1"/>
          <p:nvPr/>
        </p:nvSpPr>
        <p:spPr>
          <a:xfrm>
            <a:off x="755650" y="1653775"/>
            <a:ext cx="7912200" cy="16374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ca" sz="2500" u="none" cap="none" strike="noStrike">
                <a:solidFill>
                  <a:srgbClr val="000000"/>
                </a:solidFill>
                <a:latin typeface="Calibri"/>
                <a:ea typeface="Calibri"/>
                <a:cs typeface="Calibri"/>
                <a:sym typeface="Calibri"/>
              </a:rPr>
              <a:t>Per poder </a:t>
            </a:r>
            <a:r>
              <a:rPr b="1" i="0" lang="ca" sz="2500" u="none" cap="none" strike="noStrike">
                <a:solidFill>
                  <a:srgbClr val="000000"/>
                </a:solidFill>
                <a:latin typeface="Calibri"/>
                <a:ea typeface="Calibri"/>
                <a:cs typeface="Calibri"/>
                <a:sym typeface="Calibri"/>
              </a:rPr>
              <a:t>treballar amb objectes</a:t>
            </a:r>
            <a:r>
              <a:rPr b="0" i="0" lang="ca" sz="2500" u="none" cap="none" strike="noStrike">
                <a:solidFill>
                  <a:srgbClr val="000000"/>
                </a:solidFill>
                <a:latin typeface="Calibri"/>
                <a:ea typeface="Calibri"/>
                <a:cs typeface="Calibri"/>
                <a:sym typeface="Calibri"/>
              </a:rPr>
              <a:t>, ens cal saber el següent: com crear-los, com accedir-hi (o referenciar-los), com inicialitzar-los, com manipular-los i com eliminar-los.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5"/>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Crear</a:t>
            </a:r>
            <a:endParaRPr/>
          </a:p>
        </p:txBody>
      </p:sp>
      <p:sp>
        <p:nvSpPr>
          <p:cNvPr id="158" name="Google Shape;158;p15"/>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343565" lvl="0" marL="457200" marR="0" rtl="0" algn="l">
              <a:lnSpc>
                <a:spcPct val="90000"/>
              </a:lnSpc>
              <a:spcBef>
                <a:spcPts val="0"/>
              </a:spcBef>
              <a:spcAft>
                <a:spcPts val="0"/>
              </a:spcAft>
              <a:buClr>
                <a:srgbClr val="000000"/>
              </a:buClr>
              <a:buSzPts val="1811"/>
              <a:buFont typeface="Arial"/>
              <a:buChar char="●"/>
            </a:pPr>
            <a:r>
              <a:rPr i="0" lang="ca" sz="1810" u="none" cap="none" strike="noStrike">
                <a:solidFill>
                  <a:srgbClr val="000000"/>
                </a:solidFill>
                <a:latin typeface="Calibri"/>
                <a:ea typeface="Calibri"/>
                <a:cs typeface="Calibri"/>
                <a:sym typeface="Calibri"/>
              </a:rPr>
              <a:t>La </a:t>
            </a:r>
            <a:r>
              <a:rPr b="1" i="0" lang="ca" sz="1810" u="none" cap="none" strike="noStrike">
                <a:solidFill>
                  <a:srgbClr val="000000"/>
                </a:solidFill>
                <a:latin typeface="Calibri"/>
                <a:ea typeface="Calibri"/>
                <a:cs typeface="Calibri"/>
                <a:sym typeface="Calibri"/>
              </a:rPr>
              <a:t>creació d’un objecte</a:t>
            </a:r>
            <a:r>
              <a:rPr i="0" lang="ca" sz="1810" u="none" cap="none" strike="noStrike">
                <a:solidFill>
                  <a:srgbClr val="000000"/>
                </a:solidFill>
                <a:latin typeface="Calibri"/>
                <a:ea typeface="Calibri"/>
                <a:cs typeface="Calibri"/>
                <a:sym typeface="Calibri"/>
              </a:rPr>
              <a:t> la realitza sempre una operació especial de la classe, anomenada </a:t>
            </a:r>
            <a:r>
              <a:rPr b="1" i="1" lang="ca" sz="1810" u="none" cap="none" strike="noStrike">
                <a:solidFill>
                  <a:srgbClr val="000000"/>
                </a:solidFill>
                <a:latin typeface="Calibri"/>
                <a:ea typeface="Calibri"/>
                <a:cs typeface="Calibri"/>
                <a:sym typeface="Calibri"/>
              </a:rPr>
              <a:t>constructor</a:t>
            </a:r>
            <a:r>
              <a:rPr i="0" lang="ca" sz="1810" u="none" cap="none" strike="noStrike">
                <a:solidFill>
                  <a:srgbClr val="000000"/>
                </a:solidFill>
                <a:latin typeface="Calibri"/>
                <a:ea typeface="Calibri"/>
                <a:cs typeface="Calibri"/>
                <a:sym typeface="Calibri"/>
              </a:rPr>
              <a:t>, que es distingeix perquè té el mateix nom que la classe (incloent majúscules/minúscules). Els constructors poden incorporar paràmetres i això permet que hi pugui haver diferents constructors, que es distingeixen pel nombre i/o els tipus dels seus paràmetres.</a:t>
            </a:r>
            <a:endParaRPr i="0" sz="1810" u="none" cap="none" strike="noStrike">
              <a:solidFill>
                <a:srgbClr val="000000"/>
              </a:solidFill>
              <a:latin typeface="Calibri"/>
              <a:ea typeface="Calibri"/>
              <a:cs typeface="Calibri"/>
              <a:sym typeface="Calibri"/>
            </a:endParaRPr>
          </a:p>
          <a:p>
            <a:pPr indent="0" lvl="0" marL="457200" marR="0" rtl="0" algn="l">
              <a:lnSpc>
                <a:spcPct val="90000"/>
              </a:lnSpc>
              <a:spcBef>
                <a:spcPts val="0"/>
              </a:spcBef>
              <a:spcAft>
                <a:spcPts val="0"/>
              </a:spcAft>
              <a:buSzPts val="1800"/>
              <a:buNone/>
            </a:pPr>
            <a:r>
              <a:t/>
            </a:r>
            <a:endParaRPr sz="1810">
              <a:solidFill>
                <a:srgbClr val="000000"/>
              </a:solidFill>
              <a:latin typeface="Calibri"/>
              <a:ea typeface="Calibri"/>
              <a:cs typeface="Calibri"/>
              <a:sym typeface="Calibri"/>
            </a:endParaRPr>
          </a:p>
          <a:p>
            <a:pPr indent="-343566" lvl="0" marL="457200" marR="0" rtl="0" algn="l">
              <a:lnSpc>
                <a:spcPct val="90000"/>
              </a:lnSpc>
              <a:spcBef>
                <a:spcPts val="0"/>
              </a:spcBef>
              <a:spcAft>
                <a:spcPts val="0"/>
              </a:spcAft>
              <a:buClr>
                <a:srgbClr val="000000"/>
              </a:buClr>
              <a:buSzPts val="1811"/>
              <a:buFont typeface="Arial"/>
              <a:buChar char="●"/>
            </a:pPr>
            <a:r>
              <a:rPr i="0" lang="ca" sz="1810" u="none" cap="none" strike="noStrike">
                <a:solidFill>
                  <a:srgbClr val="000000"/>
                </a:solidFill>
                <a:latin typeface="Calibri"/>
                <a:ea typeface="Calibri"/>
                <a:cs typeface="Calibri"/>
                <a:sym typeface="Calibri"/>
              </a:rPr>
              <a:t>Per crear un objecte d’una classe cal, doncs, consultar prèviament la documentació de la classe per conèixer quins són els constructors proporcionats. Tota classe té, com a mínim, un constructor (pot no estar inclòs en el codi de la classe, en aquest cas es </a:t>
            </a:r>
            <a:r>
              <a:rPr lang="ca" sz="1810">
                <a:solidFill>
                  <a:srgbClr val="000000"/>
                </a:solidFill>
                <a:latin typeface="Calibri"/>
                <a:ea typeface="Calibri"/>
                <a:cs typeface="Calibri"/>
                <a:sym typeface="Calibri"/>
              </a:rPr>
              <a:t>heretat</a:t>
            </a:r>
            <a:r>
              <a:rPr i="0" lang="ca" sz="1810" u="none" cap="none" strike="noStrike">
                <a:solidFill>
                  <a:srgbClr val="000000"/>
                </a:solidFill>
                <a:latin typeface="Calibri"/>
                <a:ea typeface="Calibri"/>
                <a:cs typeface="Calibri"/>
                <a:sym typeface="Calibri"/>
              </a:rPr>
              <a:t>). Tot objecte es crea obligatòriament amb l’operador </a:t>
            </a:r>
            <a:r>
              <a:rPr b="1" i="0" lang="ca" sz="1810" u="none" cap="none" strike="noStrike">
                <a:solidFill>
                  <a:srgbClr val="000000"/>
                </a:solidFill>
                <a:latin typeface="Calibri"/>
                <a:ea typeface="Calibri"/>
                <a:cs typeface="Calibri"/>
                <a:sym typeface="Calibri"/>
              </a:rPr>
              <a:t>new</a:t>
            </a:r>
            <a:r>
              <a:rPr i="0" lang="ca" sz="1810" u="none" cap="none" strike="noStrike">
                <a:solidFill>
                  <a:srgbClr val="000000"/>
                </a:solidFill>
                <a:latin typeface="Calibri"/>
                <a:ea typeface="Calibri"/>
                <a:cs typeface="Calibri"/>
                <a:sym typeface="Calibri"/>
              </a:rPr>
              <a:t> acompanyat de la crida al constructor que correspongui.</a:t>
            </a:r>
            <a:endParaRPr sz="1795">
              <a:latin typeface="Calibri"/>
              <a:ea typeface="Calibri"/>
              <a:cs typeface="Calibri"/>
              <a:sym typeface="Calibri"/>
            </a:endParaRPr>
          </a:p>
          <a:p>
            <a:pPr indent="0" lvl="0" marL="0" marR="0" rtl="0" algn="l">
              <a:lnSpc>
                <a:spcPct val="90000"/>
              </a:lnSpc>
              <a:spcBef>
                <a:spcPts val="600"/>
              </a:spcBef>
              <a:spcAft>
                <a:spcPts val="0"/>
              </a:spcAft>
              <a:buSzPts val="852"/>
              <a:buNone/>
            </a:pPr>
            <a:r>
              <a:t/>
            </a:r>
            <a:endParaRPr i="0" sz="1810" u="none" cap="none" strike="noStrike">
              <a:solidFill>
                <a:srgbClr val="000000"/>
              </a:solidFill>
              <a:latin typeface="Calibri"/>
              <a:ea typeface="Calibri"/>
              <a:cs typeface="Calibri"/>
              <a:sym typeface="Calibri"/>
            </a:endParaRPr>
          </a:p>
          <a:p>
            <a:pPr indent="-485394" lvl="0" marL="485394" marR="0" rtl="0" algn="ctr">
              <a:lnSpc>
                <a:spcPct val="90000"/>
              </a:lnSpc>
              <a:spcBef>
                <a:spcPts val="400"/>
              </a:spcBef>
              <a:spcAft>
                <a:spcPts val="0"/>
              </a:spcAft>
              <a:buClr>
                <a:srgbClr val="000000"/>
              </a:buClr>
              <a:buSzPts val="1411"/>
              <a:buFont typeface="Arial"/>
              <a:buNone/>
            </a:pPr>
            <a:r>
              <a:rPr b="1" i="0" lang="ca" sz="1810" u="none" cap="none" strike="noStrike">
                <a:solidFill>
                  <a:srgbClr val="000000"/>
                </a:solidFill>
                <a:latin typeface="Calibri"/>
                <a:ea typeface="Calibri"/>
                <a:cs typeface="Calibri"/>
                <a:sym typeface="Calibri"/>
              </a:rPr>
              <a:t>new Date (109,0,1);</a:t>
            </a:r>
            <a:r>
              <a:rPr i="0" lang="ca" sz="1810" u="none" cap="none" strike="noStrike">
                <a:solidFill>
                  <a:srgbClr val="000000"/>
                </a:solidFill>
                <a:latin typeface="Calibri"/>
                <a:ea typeface="Calibri"/>
                <a:cs typeface="Calibri"/>
                <a:sym typeface="Calibri"/>
              </a:rPr>
              <a:t>// Objecte amb 1-1-2009 a les 00:00:00</a:t>
            </a:r>
            <a:endParaRPr sz="1795">
              <a:latin typeface="Calibri"/>
              <a:ea typeface="Calibri"/>
              <a:cs typeface="Calibri"/>
              <a:sym typeface="Calibri"/>
            </a:endParaRPr>
          </a:p>
          <a:p>
            <a:pPr indent="-485394" lvl="0" marL="485394" marR="0" rtl="0" algn="ctr">
              <a:lnSpc>
                <a:spcPct val="90000"/>
              </a:lnSpc>
              <a:spcBef>
                <a:spcPts val="400"/>
              </a:spcBef>
              <a:spcAft>
                <a:spcPts val="0"/>
              </a:spcAft>
              <a:buClr>
                <a:srgbClr val="000000"/>
              </a:buClr>
              <a:buSzPts val="1411"/>
              <a:buFont typeface="Arial"/>
              <a:buNone/>
            </a:pPr>
            <a:r>
              <a:rPr b="1" i="0" lang="ca" sz="1810" u="none" cap="none" strike="noStrike">
                <a:solidFill>
                  <a:srgbClr val="000000"/>
                </a:solidFill>
                <a:latin typeface="Calibri"/>
                <a:ea typeface="Calibri"/>
                <a:cs typeface="Calibri"/>
                <a:sym typeface="Calibri"/>
              </a:rPr>
              <a:t>new Date (0);</a:t>
            </a:r>
            <a:r>
              <a:rPr i="0" lang="ca" sz="1810" u="none" cap="none" strike="noStrike">
                <a:solidFill>
                  <a:srgbClr val="000000"/>
                </a:solidFill>
                <a:latin typeface="Calibri"/>
                <a:ea typeface="Calibri"/>
                <a:cs typeface="Calibri"/>
                <a:sym typeface="Calibri"/>
              </a:rPr>
              <a:t>// Objecte amb 1-1-1970 a les 00:00:00</a:t>
            </a:r>
            <a:endParaRPr sz="1795">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Accedir</a:t>
            </a:r>
            <a:endParaRPr/>
          </a:p>
        </p:txBody>
      </p:sp>
      <p:sp>
        <p:nvSpPr>
          <p:cNvPr id="164" name="Google Shape;164;p16"/>
          <p:cNvSpPr txBox="1"/>
          <p:nvPr>
            <p:ph idx="1" type="body"/>
          </p:nvPr>
        </p:nvSpPr>
        <p:spPr>
          <a:xfrm>
            <a:off x="311700" y="864349"/>
            <a:ext cx="8520600" cy="3035400"/>
          </a:xfrm>
          <a:prstGeom prst="rect">
            <a:avLst/>
          </a:prstGeom>
          <a:noFill/>
          <a:ln>
            <a:noFill/>
          </a:ln>
        </p:spPr>
        <p:txBody>
          <a:bodyPr anchorCtr="0" anchor="t" bIns="45700" lIns="45700" spcFirstLastPara="1" rIns="45700" wrap="square" tIns="45700">
            <a:normAutofit/>
          </a:bodyPr>
          <a:lstStyle/>
          <a:p>
            <a:pPr indent="-374650" lvl="0" marL="457200" marR="0" rtl="0" algn="l">
              <a:lnSpc>
                <a:spcPct val="100000"/>
              </a:lnSpc>
              <a:spcBef>
                <a:spcPts val="0"/>
              </a:spcBef>
              <a:spcAft>
                <a:spcPts val="0"/>
              </a:spcAft>
              <a:buClr>
                <a:srgbClr val="000000"/>
              </a:buClr>
              <a:buSzPts val="2300"/>
              <a:buFont typeface="Calibri"/>
              <a:buChar char="●"/>
            </a:pPr>
            <a:r>
              <a:rPr i="0" lang="ca" sz="2300" u="none" cap="none" strike="noStrike">
                <a:solidFill>
                  <a:srgbClr val="000000"/>
                </a:solidFill>
                <a:latin typeface="Calibri"/>
                <a:ea typeface="Calibri"/>
                <a:cs typeface="Calibri"/>
                <a:sym typeface="Calibri"/>
              </a:rPr>
              <a:t>S’aconsegueix declarant una variable per fer referència a objectes de la classe concreta i assignant a aquesta variable el resultat de l’execució de l’operador new, el qual retorna una referència a l’objecte creat.</a:t>
            </a:r>
            <a:endParaRPr i="0" sz="23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SzPts val="1800"/>
              <a:buNone/>
            </a:pPr>
            <a:r>
              <a:t/>
            </a:r>
            <a:endParaRPr sz="2300">
              <a:solidFill>
                <a:srgbClr val="000000"/>
              </a:solidFill>
              <a:latin typeface="Calibri"/>
              <a:ea typeface="Calibri"/>
              <a:cs typeface="Calibri"/>
              <a:sym typeface="Calibri"/>
            </a:endParaRPr>
          </a:p>
          <a:p>
            <a:pPr indent="-374650" lvl="0" marL="457200" marR="0" rtl="0" algn="l">
              <a:lnSpc>
                <a:spcPct val="100000"/>
              </a:lnSpc>
              <a:spcBef>
                <a:spcPts val="0"/>
              </a:spcBef>
              <a:spcAft>
                <a:spcPts val="0"/>
              </a:spcAft>
              <a:buClr>
                <a:srgbClr val="000000"/>
              </a:buClr>
              <a:buSzPts val="2300"/>
              <a:buFont typeface="Arial"/>
              <a:buChar char="●"/>
            </a:pPr>
            <a:r>
              <a:rPr i="0" lang="ca" sz="2300" u="none" cap="none" strike="noStrike">
                <a:solidFill>
                  <a:srgbClr val="000000"/>
                </a:solidFill>
                <a:latin typeface="Calibri"/>
                <a:ea typeface="Calibri"/>
                <a:cs typeface="Calibri"/>
                <a:sym typeface="Calibri"/>
              </a:rPr>
              <a:t>Enlloc de dir “declarar una variable per fer referència a objectes de la classe X” es diu “declarar un objecte de la classe X”. La declaració </a:t>
            </a:r>
            <a:r>
              <a:rPr b="1" i="0" lang="ca" sz="2300" u="none" cap="none" strike="noStrike">
                <a:solidFill>
                  <a:srgbClr val="000000"/>
                </a:solidFill>
                <a:latin typeface="Calibri"/>
                <a:ea typeface="Calibri"/>
                <a:cs typeface="Calibri"/>
                <a:sym typeface="Calibri"/>
              </a:rPr>
              <a:t>no</a:t>
            </a:r>
            <a:r>
              <a:rPr i="0" lang="ca" sz="2300" u="none" cap="none" strike="noStrike">
                <a:solidFill>
                  <a:srgbClr val="000000"/>
                </a:solidFill>
                <a:latin typeface="Calibri"/>
                <a:ea typeface="Calibri"/>
                <a:cs typeface="Calibri"/>
                <a:sym typeface="Calibri"/>
              </a:rPr>
              <a:t> porta implícita la “creació de l’objecte”.</a:t>
            </a:r>
            <a:endParaRPr sz="21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Accedir</a:t>
            </a:r>
            <a:endParaRPr/>
          </a:p>
        </p:txBody>
      </p:sp>
      <p:sp>
        <p:nvSpPr>
          <p:cNvPr id="170" name="Google Shape;170;p17"/>
          <p:cNvSpPr txBox="1"/>
          <p:nvPr>
            <p:ph idx="1" type="body"/>
          </p:nvPr>
        </p:nvSpPr>
        <p:spPr>
          <a:xfrm>
            <a:off x="311700" y="864350"/>
            <a:ext cx="6544800" cy="3933900"/>
          </a:xfrm>
          <a:prstGeom prst="rect">
            <a:avLst/>
          </a:prstGeom>
          <a:noFill/>
          <a:ln>
            <a:noFill/>
          </a:ln>
        </p:spPr>
        <p:txBody>
          <a:bodyPr anchorCtr="0" anchor="t" bIns="45700" lIns="45700" spcFirstLastPara="1" rIns="45700" wrap="square" tIns="45700">
            <a:noAutofit/>
          </a:bodyPr>
          <a:lstStyle/>
          <a:p>
            <a:pPr indent="-426719" lvl="0" marL="426719" marR="0" rtl="0" algn="l">
              <a:lnSpc>
                <a:spcPct val="80000"/>
              </a:lnSpc>
              <a:spcBef>
                <a:spcPts val="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Declaració de variable de referència no inicialitzada</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b="1" i="0" lang="ca" sz="1679" u="none" cap="none" strike="noStrike">
                <a:solidFill>
                  <a:srgbClr val="000000"/>
                </a:solidFill>
                <a:latin typeface="Calibri"/>
                <a:ea typeface="Calibri"/>
                <a:cs typeface="Calibri"/>
                <a:sym typeface="Calibri"/>
              </a:rPr>
              <a:t>X obj1;</a:t>
            </a:r>
            <a:r>
              <a:rPr i="0" lang="ca" sz="1679" u="none" cap="none" strike="noStrike">
                <a:solidFill>
                  <a:srgbClr val="000000"/>
                </a:solidFill>
                <a:latin typeface="Calibri"/>
                <a:ea typeface="Calibri"/>
                <a:cs typeface="Calibri"/>
                <a:sym typeface="Calibri"/>
              </a:rPr>
              <a:t>      </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Creació d'objecte al que es podrà accedir via la variable de </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referència obj1</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b="1" i="0" lang="ca" sz="1679" u="none" cap="none" strike="noStrike">
                <a:solidFill>
                  <a:srgbClr val="000000"/>
                </a:solidFill>
                <a:latin typeface="Calibri"/>
                <a:ea typeface="Calibri"/>
                <a:cs typeface="Calibri"/>
                <a:sym typeface="Calibri"/>
              </a:rPr>
              <a:t>obj1 = new X(...);</a:t>
            </a:r>
            <a:r>
              <a:rPr i="0" lang="ca" sz="1679" u="none" cap="none" strike="noStrike">
                <a:solidFill>
                  <a:srgbClr val="000000"/>
                </a:solidFill>
                <a:latin typeface="Calibri"/>
                <a:ea typeface="Calibri"/>
                <a:cs typeface="Calibri"/>
                <a:sym typeface="Calibri"/>
              </a:rPr>
              <a:t>  </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Declaració de variable de referència i creació d'objecte al  </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que es podrà accedir via la variable de referència obj2</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b="1" i="0" lang="ca" sz="1679" u="none" cap="none" strike="noStrike">
                <a:solidFill>
                  <a:srgbClr val="000000"/>
                </a:solidFill>
                <a:highlight>
                  <a:srgbClr val="00FF00"/>
                </a:highlight>
                <a:latin typeface="Calibri"/>
                <a:ea typeface="Calibri"/>
                <a:cs typeface="Calibri"/>
                <a:sym typeface="Calibri"/>
              </a:rPr>
              <a:t>X obj2 = new X(...); </a:t>
            </a:r>
            <a:endParaRPr sz="1790">
              <a:highlight>
                <a:srgbClr val="00FF00"/>
              </a:highlight>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Declaració de variable de referència no inicialitzada</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b="1" i="0" lang="ca" sz="1679" u="none" cap="none" strike="noStrike">
                <a:solidFill>
                  <a:srgbClr val="000000"/>
                </a:solidFill>
                <a:latin typeface="Calibri"/>
                <a:ea typeface="Calibri"/>
                <a:cs typeface="Calibri"/>
                <a:sym typeface="Calibri"/>
              </a:rPr>
              <a:t>X obj3;</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La variable obj3 fa referència al mateix objecte que fa       </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referència la variable obj1</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b="1" i="0" lang="ca" sz="1679" u="none" cap="none" strike="noStrike">
                <a:solidFill>
                  <a:srgbClr val="000000"/>
                </a:solidFill>
                <a:latin typeface="Calibri"/>
                <a:ea typeface="Calibri"/>
                <a:cs typeface="Calibri"/>
                <a:sym typeface="Calibri"/>
              </a:rPr>
              <a:t>obj3 = obj1;</a:t>
            </a:r>
            <a:r>
              <a:rPr i="0" lang="ca" sz="1679" u="none" cap="none" strike="noStrike">
                <a:solidFill>
                  <a:srgbClr val="000000"/>
                </a:solidFill>
                <a:latin typeface="Calibri"/>
                <a:ea typeface="Calibri"/>
                <a:cs typeface="Calibri"/>
                <a:sym typeface="Calibri"/>
              </a:rPr>
              <a:t>    </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Declaració de variable de referència que fa referència al </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i="0" lang="ca" sz="1679" u="none" cap="none" strike="noStrike">
                <a:solidFill>
                  <a:srgbClr val="000000"/>
                </a:solidFill>
                <a:latin typeface="Calibri"/>
                <a:ea typeface="Calibri"/>
                <a:cs typeface="Calibri"/>
                <a:sym typeface="Calibri"/>
              </a:rPr>
              <a:t>// mateix objecte que fa referència la variable obj2</a:t>
            </a:r>
            <a:endParaRPr sz="1790">
              <a:latin typeface="Calibri"/>
              <a:ea typeface="Calibri"/>
              <a:cs typeface="Calibri"/>
              <a:sym typeface="Calibri"/>
            </a:endParaRPr>
          </a:p>
          <a:p>
            <a:pPr indent="-426719" lvl="0" marL="426719" marR="0" rtl="0" algn="l">
              <a:lnSpc>
                <a:spcPct val="80000"/>
              </a:lnSpc>
              <a:spcBef>
                <a:spcPts val="300"/>
              </a:spcBef>
              <a:spcAft>
                <a:spcPts val="0"/>
              </a:spcAft>
              <a:buClr>
                <a:srgbClr val="000000"/>
              </a:buClr>
              <a:buSzPts val="880"/>
              <a:buFont typeface="Arial"/>
              <a:buNone/>
            </a:pPr>
            <a:r>
              <a:rPr b="1" i="0" lang="ca" sz="1679" u="none" cap="none" strike="noStrike">
                <a:solidFill>
                  <a:srgbClr val="000000"/>
                </a:solidFill>
                <a:latin typeface="Calibri"/>
                <a:ea typeface="Calibri"/>
                <a:cs typeface="Calibri"/>
                <a:sym typeface="Calibri"/>
              </a:rPr>
              <a:t>X obj4 = obj2;</a:t>
            </a:r>
            <a:endParaRPr sz="179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8"/>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Inicialitzar</a:t>
            </a:r>
            <a:endParaRPr/>
          </a:p>
        </p:txBody>
      </p:sp>
      <p:sp>
        <p:nvSpPr>
          <p:cNvPr id="176" name="Google Shape;176;p18"/>
          <p:cNvSpPr txBox="1"/>
          <p:nvPr>
            <p:ph idx="1" type="body"/>
          </p:nvPr>
        </p:nvSpPr>
        <p:spPr>
          <a:xfrm>
            <a:off x="311700" y="864350"/>
            <a:ext cx="8651400" cy="3687600"/>
          </a:xfrm>
          <a:prstGeom prst="rect">
            <a:avLst/>
          </a:prstGeom>
          <a:noFill/>
          <a:ln>
            <a:noFill/>
          </a:ln>
        </p:spPr>
        <p:txBody>
          <a:bodyPr anchorCtr="0" anchor="t" bIns="45700" lIns="45700" spcFirstLastPara="1" rIns="45700" wrap="square" tIns="45700">
            <a:noAutofit/>
          </a:bodyPr>
          <a:lstStyle/>
          <a:p>
            <a:pPr indent="-352361" lvl="0" marL="457200" marR="0" rtl="0" algn="l">
              <a:lnSpc>
                <a:spcPct val="90000"/>
              </a:lnSpc>
              <a:spcBef>
                <a:spcPts val="0"/>
              </a:spcBef>
              <a:spcAft>
                <a:spcPts val="0"/>
              </a:spcAft>
              <a:buClr>
                <a:srgbClr val="000000"/>
              </a:buClr>
              <a:buSzPts val="1949"/>
              <a:buFont typeface="Calibri"/>
              <a:buChar char="●"/>
            </a:pPr>
            <a:r>
              <a:rPr i="0" lang="ca" sz="1949" u="none" cap="none" strike="noStrike">
                <a:solidFill>
                  <a:srgbClr val="000000"/>
                </a:solidFill>
                <a:latin typeface="Calibri"/>
                <a:ea typeface="Calibri"/>
                <a:cs typeface="Calibri"/>
                <a:sym typeface="Calibri"/>
              </a:rPr>
              <a:t>La inicialització dels objectes és una tasca que s’efectua durant el procés de construcció dels objectes. És a dir, si el dissenyador de la classe ha considerat oportú que els objectes, en la seva creació, inicialitzin les seves dades (algunes o totes) amb uns valors determinats, haurà hagut de plasmar aquestes inicialitzacions en el(s) constructor(s).</a:t>
            </a:r>
            <a:endParaRPr i="0" sz="1949" u="none" cap="none" strike="noStrike">
              <a:solidFill>
                <a:srgbClr val="000000"/>
              </a:solidFill>
              <a:latin typeface="Calibri"/>
              <a:ea typeface="Calibri"/>
              <a:cs typeface="Calibri"/>
              <a:sym typeface="Calibri"/>
            </a:endParaRPr>
          </a:p>
          <a:p>
            <a:pPr indent="0" lvl="0" marL="457200" marR="0" rtl="0" algn="l">
              <a:lnSpc>
                <a:spcPct val="90000"/>
              </a:lnSpc>
              <a:spcBef>
                <a:spcPts val="0"/>
              </a:spcBef>
              <a:spcAft>
                <a:spcPts val="0"/>
              </a:spcAft>
              <a:buSzPts val="1800"/>
              <a:buNone/>
            </a:pPr>
            <a:r>
              <a:t/>
            </a:r>
            <a:endParaRPr sz="1949">
              <a:solidFill>
                <a:srgbClr val="000000"/>
              </a:solidFill>
              <a:latin typeface="Calibri"/>
              <a:ea typeface="Calibri"/>
              <a:cs typeface="Calibri"/>
              <a:sym typeface="Calibri"/>
            </a:endParaRPr>
          </a:p>
          <a:p>
            <a:pPr indent="-352361" lvl="0" marL="457200" marR="0" rtl="0" algn="l">
              <a:lnSpc>
                <a:spcPct val="90000"/>
              </a:lnSpc>
              <a:spcBef>
                <a:spcPts val="0"/>
              </a:spcBef>
              <a:spcAft>
                <a:spcPts val="0"/>
              </a:spcAft>
              <a:buClr>
                <a:srgbClr val="000000"/>
              </a:buClr>
              <a:buSzPts val="1949"/>
              <a:buFont typeface="Calibri"/>
              <a:buChar char="●"/>
            </a:pPr>
            <a:r>
              <a:rPr i="0" lang="ca" sz="1949" u="none" cap="none" strike="noStrike">
                <a:solidFill>
                  <a:srgbClr val="000000"/>
                </a:solidFill>
                <a:latin typeface="Calibri"/>
                <a:ea typeface="Calibri"/>
                <a:cs typeface="Calibri"/>
                <a:sym typeface="Calibri"/>
              </a:rPr>
              <a:t>Vegem diverses construccions d’objectes de la classe Date que permeten diferents maneres d’inicialitzar els objectes creats:</a:t>
            </a:r>
            <a:endParaRPr i="0" sz="1949" u="none" cap="none" strike="noStrike">
              <a:solidFill>
                <a:srgbClr val="000000"/>
              </a:solidFill>
              <a:latin typeface="Calibri"/>
              <a:ea typeface="Calibri"/>
              <a:cs typeface="Calibri"/>
              <a:sym typeface="Calibri"/>
            </a:endParaRPr>
          </a:p>
          <a:p>
            <a:pPr indent="0" lvl="0" marL="457200" marR="0" rtl="0" algn="l">
              <a:lnSpc>
                <a:spcPct val="90000"/>
              </a:lnSpc>
              <a:spcBef>
                <a:spcPts val="0"/>
              </a:spcBef>
              <a:spcAft>
                <a:spcPts val="0"/>
              </a:spcAft>
              <a:buSzPts val="1800"/>
              <a:buNone/>
            </a:pPr>
            <a:r>
              <a:t/>
            </a:r>
            <a:endParaRPr sz="1949">
              <a:solidFill>
                <a:srgbClr val="000000"/>
              </a:solidFill>
              <a:latin typeface="Calibri"/>
              <a:ea typeface="Calibri"/>
              <a:cs typeface="Calibri"/>
              <a:sym typeface="Calibri"/>
            </a:endParaRPr>
          </a:p>
          <a:p>
            <a:pPr indent="-517398" lvl="0" marL="517398" marR="0" rtl="0" algn="l">
              <a:lnSpc>
                <a:spcPct val="90000"/>
              </a:lnSpc>
              <a:spcBef>
                <a:spcPts val="400"/>
              </a:spcBef>
              <a:spcAft>
                <a:spcPts val="0"/>
              </a:spcAft>
              <a:buClr>
                <a:srgbClr val="000000"/>
              </a:buClr>
              <a:buSzPts val="1649"/>
              <a:buFont typeface="Arial"/>
              <a:buNone/>
            </a:pPr>
            <a:r>
              <a:rPr b="1" i="0" lang="ca" sz="1849" u="none" cap="none" strike="noStrike">
                <a:solidFill>
                  <a:srgbClr val="000000"/>
                </a:solidFill>
                <a:latin typeface="Calibri"/>
                <a:ea typeface="Calibri"/>
                <a:cs typeface="Calibri"/>
                <a:sym typeface="Calibri"/>
              </a:rPr>
              <a:t>Exemples:</a:t>
            </a:r>
            <a:endParaRPr sz="1729">
              <a:latin typeface="Calibri"/>
              <a:ea typeface="Calibri"/>
              <a:cs typeface="Calibri"/>
              <a:sym typeface="Calibri"/>
            </a:endParaRPr>
          </a:p>
          <a:p>
            <a:pPr indent="-517398" lvl="0" marL="517398" marR="0" rtl="0" algn="l">
              <a:lnSpc>
                <a:spcPct val="90000"/>
              </a:lnSpc>
              <a:spcBef>
                <a:spcPts val="400"/>
              </a:spcBef>
              <a:spcAft>
                <a:spcPts val="0"/>
              </a:spcAft>
              <a:buClr>
                <a:srgbClr val="000000"/>
              </a:buClr>
              <a:buSzPts val="1649"/>
              <a:buFont typeface="Arial"/>
              <a:buNone/>
            </a:pPr>
            <a:r>
              <a:rPr b="1" i="0" lang="ca" sz="1849" u="none" cap="none" strike="noStrike">
                <a:solidFill>
                  <a:srgbClr val="000000"/>
                </a:solidFill>
                <a:latin typeface="Calibri"/>
                <a:ea typeface="Calibri"/>
                <a:cs typeface="Calibri"/>
                <a:sym typeface="Calibri"/>
              </a:rPr>
              <a:t>Date d1 = new Date (</a:t>
            </a:r>
            <a:r>
              <a:rPr b="1" lang="ca" sz="1849">
                <a:solidFill>
                  <a:srgbClr val="000000"/>
                </a:solidFill>
                <a:latin typeface="Calibri"/>
                <a:ea typeface="Calibri"/>
                <a:cs typeface="Calibri"/>
                <a:sym typeface="Calibri"/>
              </a:rPr>
              <a:t>1</a:t>
            </a:r>
            <a:r>
              <a:rPr b="1" i="0" lang="ca" sz="1849" u="none" cap="none" strike="noStrike">
                <a:solidFill>
                  <a:srgbClr val="000000"/>
                </a:solidFill>
                <a:latin typeface="Calibri"/>
                <a:ea typeface="Calibri"/>
                <a:cs typeface="Calibri"/>
                <a:sym typeface="Calibri"/>
              </a:rPr>
              <a:t>09,0,1);</a:t>
            </a:r>
            <a:r>
              <a:rPr i="0" lang="ca" sz="1849" u="none" cap="none" strike="noStrike">
                <a:solidFill>
                  <a:srgbClr val="000000"/>
                </a:solidFill>
                <a:latin typeface="Calibri"/>
                <a:ea typeface="Calibri"/>
                <a:cs typeface="Calibri"/>
                <a:sym typeface="Calibri"/>
              </a:rPr>
              <a:t> //Objecte inicialitzat amb data 1-1-2009 a les 00:00:00</a:t>
            </a:r>
            <a:endParaRPr sz="1729">
              <a:latin typeface="Calibri"/>
              <a:ea typeface="Calibri"/>
              <a:cs typeface="Calibri"/>
              <a:sym typeface="Calibri"/>
            </a:endParaRPr>
          </a:p>
          <a:p>
            <a:pPr indent="-517398" lvl="0" marL="517398" marR="0" rtl="0" algn="l">
              <a:lnSpc>
                <a:spcPct val="90000"/>
              </a:lnSpc>
              <a:spcBef>
                <a:spcPts val="400"/>
              </a:spcBef>
              <a:spcAft>
                <a:spcPts val="0"/>
              </a:spcAft>
              <a:buClr>
                <a:srgbClr val="000000"/>
              </a:buClr>
              <a:buSzPts val="1649"/>
              <a:buFont typeface="Arial"/>
              <a:buNone/>
            </a:pPr>
            <a:r>
              <a:rPr b="1" i="0" lang="ca" sz="1849" u="none" cap="none" strike="noStrike">
                <a:solidFill>
                  <a:srgbClr val="000000"/>
                </a:solidFill>
                <a:latin typeface="Calibri"/>
                <a:ea typeface="Calibri"/>
                <a:cs typeface="Calibri"/>
                <a:sym typeface="Calibri"/>
              </a:rPr>
              <a:t>Date d2 = new Date (0);</a:t>
            </a:r>
            <a:r>
              <a:rPr i="0" lang="ca" sz="1849" u="none" cap="none" strike="noStrike">
                <a:solidFill>
                  <a:srgbClr val="000000"/>
                </a:solidFill>
                <a:latin typeface="Calibri"/>
                <a:ea typeface="Calibri"/>
                <a:cs typeface="Calibri"/>
                <a:sym typeface="Calibri"/>
              </a:rPr>
              <a:t>//Objecte inicialitzat amb data 1-1-1970 a les 00:00:00</a:t>
            </a:r>
            <a:endParaRPr sz="1729">
              <a:latin typeface="Calibri"/>
              <a:ea typeface="Calibri"/>
              <a:cs typeface="Calibri"/>
              <a:sym typeface="Calibri"/>
            </a:endParaRPr>
          </a:p>
          <a:p>
            <a:pPr indent="-517398" lvl="0" marL="517398" marR="0" rtl="0" algn="l">
              <a:lnSpc>
                <a:spcPct val="90000"/>
              </a:lnSpc>
              <a:spcBef>
                <a:spcPts val="400"/>
              </a:spcBef>
              <a:spcAft>
                <a:spcPts val="0"/>
              </a:spcAft>
              <a:buClr>
                <a:srgbClr val="000000"/>
              </a:buClr>
              <a:buSzPts val="1649"/>
              <a:buFont typeface="Arial"/>
              <a:buNone/>
            </a:pPr>
            <a:r>
              <a:rPr b="1" i="0" lang="ca" sz="1849" u="none" cap="none" strike="noStrike">
                <a:solidFill>
                  <a:srgbClr val="000000"/>
                </a:solidFill>
                <a:latin typeface="Calibri"/>
                <a:ea typeface="Calibri"/>
                <a:cs typeface="Calibri"/>
                <a:sym typeface="Calibri"/>
              </a:rPr>
              <a:t>Date d3 = new Date ();</a:t>
            </a:r>
            <a:r>
              <a:rPr i="0" lang="ca" sz="1849" u="none" cap="none" strike="noStrike">
                <a:solidFill>
                  <a:srgbClr val="000000"/>
                </a:solidFill>
                <a:latin typeface="Calibri"/>
                <a:ea typeface="Calibri"/>
                <a:cs typeface="Calibri"/>
                <a:sym typeface="Calibri"/>
              </a:rPr>
              <a:t>//Objecte inicialitzat amb la data i l'hora del sistema</a:t>
            </a:r>
            <a:endParaRPr sz="1729">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Manipular</a:t>
            </a:r>
            <a:endParaRPr/>
          </a:p>
        </p:txBody>
      </p:sp>
      <p:sp>
        <p:nvSpPr>
          <p:cNvPr id="182" name="Google Shape;182;p19"/>
          <p:cNvSpPr txBox="1"/>
          <p:nvPr>
            <p:ph idx="1" type="body"/>
          </p:nvPr>
        </p:nvSpPr>
        <p:spPr>
          <a:xfrm>
            <a:off x="311700" y="864347"/>
            <a:ext cx="8520600" cy="3963000"/>
          </a:xfrm>
          <a:prstGeom prst="rect">
            <a:avLst/>
          </a:prstGeom>
          <a:noFill/>
          <a:ln>
            <a:noFill/>
          </a:ln>
        </p:spPr>
        <p:txBody>
          <a:bodyPr anchorCtr="0" anchor="t" bIns="45700" lIns="45700" spcFirstLastPara="1" rIns="45700" wrap="square" tIns="45700">
            <a:noAutofit/>
          </a:bodyPr>
          <a:lstStyle/>
          <a:p>
            <a:pPr indent="-353949" lvl="0" marL="457200" marR="0" rtl="0" algn="l">
              <a:lnSpc>
                <a:spcPct val="80000"/>
              </a:lnSpc>
              <a:spcBef>
                <a:spcPts val="0"/>
              </a:spcBef>
              <a:spcAft>
                <a:spcPts val="0"/>
              </a:spcAft>
              <a:buClr>
                <a:srgbClr val="000000"/>
              </a:buClr>
              <a:buSzPts val="1974"/>
              <a:buFont typeface="Calibri"/>
              <a:buChar char="●"/>
            </a:pPr>
            <a:r>
              <a:rPr i="0" lang="ca" sz="1974" u="none" cap="none" strike="noStrike">
                <a:solidFill>
                  <a:srgbClr val="000000"/>
                </a:solidFill>
                <a:latin typeface="Calibri"/>
                <a:ea typeface="Calibri"/>
                <a:cs typeface="Calibri"/>
                <a:sym typeface="Calibri"/>
              </a:rPr>
              <a:t>La manipulació dels objectes d’una classe s’ha de fer per mitjà de les operacions que proporciona la pròpia classe, amb una sintaxi molt simple:</a:t>
            </a:r>
            <a:endParaRPr sz="1960">
              <a:latin typeface="Calibri"/>
              <a:ea typeface="Calibri"/>
              <a:cs typeface="Calibri"/>
              <a:sym typeface="Calibri"/>
            </a:endParaRPr>
          </a:p>
          <a:p>
            <a:pPr indent="0" lvl="0" marL="0" marR="0" rtl="0" algn="l">
              <a:lnSpc>
                <a:spcPct val="80000"/>
              </a:lnSpc>
              <a:spcBef>
                <a:spcPts val="600"/>
              </a:spcBef>
              <a:spcAft>
                <a:spcPts val="0"/>
              </a:spcAft>
              <a:buSzPts val="770"/>
              <a:buNone/>
            </a:pPr>
            <a:r>
              <a:t/>
            </a:r>
            <a:endParaRPr i="0" sz="1974" u="none" cap="none" strike="noStrike">
              <a:solidFill>
                <a:srgbClr val="000000"/>
              </a:solidFill>
              <a:latin typeface="Calibri"/>
              <a:ea typeface="Calibri"/>
              <a:cs typeface="Calibri"/>
              <a:sym typeface="Calibri"/>
            </a:endParaRPr>
          </a:p>
          <a:p>
            <a:pPr indent="-485394" lvl="0" marL="485394" marR="0" rtl="0" algn="ctr">
              <a:lnSpc>
                <a:spcPct val="80000"/>
              </a:lnSpc>
              <a:spcBef>
                <a:spcPts val="400"/>
              </a:spcBef>
              <a:spcAft>
                <a:spcPts val="0"/>
              </a:spcAft>
              <a:buClr>
                <a:srgbClr val="000000"/>
              </a:buClr>
              <a:buSzPts val="1274"/>
              <a:buFont typeface="Arial"/>
              <a:buNone/>
            </a:pPr>
            <a:r>
              <a:rPr b="1" i="0" lang="ca" sz="1974" cap="none" strike="noStrike">
                <a:solidFill>
                  <a:srgbClr val="000000"/>
                </a:solidFill>
                <a:latin typeface="Calibri"/>
                <a:ea typeface="Calibri"/>
                <a:cs typeface="Calibri"/>
                <a:sym typeface="Calibri"/>
              </a:rPr>
              <a:t>&lt;variableQueFaReferènciaObjecte&gt;.&lt;nomMètode&gt;(&lt;paràmetres&gt;);</a:t>
            </a:r>
            <a:endParaRPr b="1" sz="1960">
              <a:latin typeface="Calibri"/>
              <a:ea typeface="Calibri"/>
              <a:cs typeface="Calibri"/>
              <a:sym typeface="Calibri"/>
            </a:endParaRPr>
          </a:p>
          <a:p>
            <a:pPr indent="-485394" lvl="0" marL="485394" marR="0" rtl="0" algn="l">
              <a:lnSpc>
                <a:spcPct val="80000"/>
              </a:lnSpc>
              <a:spcBef>
                <a:spcPts val="600"/>
              </a:spcBef>
              <a:spcAft>
                <a:spcPts val="0"/>
              </a:spcAft>
              <a:buClr>
                <a:srgbClr val="000000"/>
              </a:buClr>
              <a:buSzPts val="1274"/>
              <a:buFont typeface="Arial"/>
              <a:buNone/>
            </a:pPr>
            <a:r>
              <a:t/>
            </a:r>
            <a:endParaRPr i="0" sz="1974" u="sng" cap="none" strike="noStrike">
              <a:solidFill>
                <a:srgbClr val="000000"/>
              </a:solidFill>
              <a:latin typeface="Calibri"/>
              <a:ea typeface="Calibri"/>
              <a:cs typeface="Calibri"/>
              <a:sym typeface="Calibri"/>
            </a:endParaRPr>
          </a:p>
          <a:p>
            <a:pPr indent="-353949" lvl="0" marL="457200" marR="0" rtl="0" algn="l">
              <a:lnSpc>
                <a:spcPct val="80000"/>
              </a:lnSpc>
              <a:spcBef>
                <a:spcPts val="400"/>
              </a:spcBef>
              <a:spcAft>
                <a:spcPts val="0"/>
              </a:spcAft>
              <a:buClr>
                <a:srgbClr val="000000"/>
              </a:buClr>
              <a:buSzPts val="1974"/>
              <a:buFont typeface="Calibri"/>
              <a:buChar char="●"/>
            </a:pPr>
            <a:r>
              <a:rPr i="0" lang="ca" sz="1974" u="none" cap="none" strike="noStrike">
                <a:solidFill>
                  <a:srgbClr val="000000"/>
                </a:solidFill>
                <a:latin typeface="Calibri"/>
                <a:ea typeface="Calibri"/>
                <a:cs typeface="Calibri"/>
                <a:sym typeface="Calibri"/>
              </a:rPr>
              <a:t>Així, per canviar el dia, el mes o l’any d’objectes Date, el llenguatge Java ens proporciona setDate(), setMonth() i setYear() i podrem cridar-los sobre qualsevol objecte Date:</a:t>
            </a:r>
            <a:endParaRPr sz="1960">
              <a:latin typeface="Calibri"/>
              <a:ea typeface="Calibri"/>
              <a:cs typeface="Calibri"/>
              <a:sym typeface="Calibri"/>
            </a:endParaRPr>
          </a:p>
          <a:p>
            <a:pPr indent="-485394" lvl="0" marL="485394" marR="0" rtl="0" algn="l">
              <a:lnSpc>
                <a:spcPct val="80000"/>
              </a:lnSpc>
              <a:spcBef>
                <a:spcPts val="600"/>
              </a:spcBef>
              <a:spcAft>
                <a:spcPts val="0"/>
              </a:spcAft>
              <a:buClr>
                <a:srgbClr val="000000"/>
              </a:buClr>
              <a:buSzPts val="1274"/>
              <a:buFont typeface="Arial"/>
              <a:buNone/>
            </a:pPr>
            <a:r>
              <a:t/>
            </a:r>
            <a:endParaRPr i="0" sz="1974" u="none" cap="none" strike="noStrike">
              <a:solidFill>
                <a:srgbClr val="000000"/>
              </a:solidFill>
              <a:latin typeface="Calibri"/>
              <a:ea typeface="Calibri"/>
              <a:cs typeface="Calibri"/>
              <a:sym typeface="Calibri"/>
            </a:endParaRPr>
          </a:p>
          <a:p>
            <a:pPr indent="-485394" lvl="0" marL="485394" marR="0" rtl="0" algn="ctr">
              <a:lnSpc>
                <a:spcPct val="80000"/>
              </a:lnSpc>
              <a:spcBef>
                <a:spcPts val="400"/>
              </a:spcBef>
              <a:spcAft>
                <a:spcPts val="0"/>
              </a:spcAft>
              <a:buClr>
                <a:srgbClr val="000000"/>
              </a:buClr>
              <a:buSzPts val="1274"/>
              <a:buFont typeface="Arial"/>
              <a:buNone/>
            </a:pPr>
            <a:r>
              <a:rPr i="0" lang="ca" sz="1974" u="none" cap="none" strike="noStrike">
                <a:solidFill>
                  <a:srgbClr val="000000"/>
                </a:solidFill>
                <a:latin typeface="Calibri"/>
                <a:ea typeface="Calibri"/>
                <a:cs typeface="Calibri"/>
                <a:sym typeface="Calibri"/>
              </a:rPr>
              <a:t>Date d = new Date (109,0,1); // Nou objecte amb valor 1-1-2009</a:t>
            </a:r>
            <a:endParaRPr sz="1960">
              <a:latin typeface="Calibri"/>
              <a:ea typeface="Calibri"/>
              <a:cs typeface="Calibri"/>
              <a:sym typeface="Calibri"/>
            </a:endParaRPr>
          </a:p>
          <a:p>
            <a:pPr indent="-485394" lvl="0" marL="485394" marR="0" rtl="0" algn="ctr">
              <a:lnSpc>
                <a:spcPct val="80000"/>
              </a:lnSpc>
              <a:spcBef>
                <a:spcPts val="400"/>
              </a:spcBef>
              <a:spcAft>
                <a:spcPts val="0"/>
              </a:spcAft>
              <a:buClr>
                <a:srgbClr val="000000"/>
              </a:buClr>
              <a:buSzPts val="1274"/>
              <a:buFont typeface="Arial"/>
              <a:buNone/>
            </a:pPr>
            <a:r>
              <a:rPr i="0" lang="ca" sz="1974" u="none" cap="none" strike="noStrike">
                <a:solidFill>
                  <a:srgbClr val="000000"/>
                </a:solidFill>
                <a:latin typeface="Calibri"/>
                <a:ea typeface="Calibri"/>
                <a:cs typeface="Calibri"/>
                <a:sym typeface="Calibri"/>
              </a:rPr>
              <a:t>d.setYear (100);      // Canviem valor a 1-1-2000</a:t>
            </a:r>
            <a:endParaRPr sz="1960">
              <a:latin typeface="Calibri"/>
              <a:ea typeface="Calibri"/>
              <a:cs typeface="Calibri"/>
              <a:sym typeface="Calibri"/>
            </a:endParaRPr>
          </a:p>
          <a:p>
            <a:pPr indent="-485394" lvl="0" marL="485394" marR="0" rtl="0" algn="ctr">
              <a:lnSpc>
                <a:spcPct val="80000"/>
              </a:lnSpc>
              <a:spcBef>
                <a:spcPts val="400"/>
              </a:spcBef>
              <a:spcAft>
                <a:spcPts val="0"/>
              </a:spcAft>
              <a:buClr>
                <a:srgbClr val="000000"/>
              </a:buClr>
              <a:buSzPts val="1274"/>
              <a:buFont typeface="Arial"/>
              <a:buNone/>
            </a:pPr>
            <a:r>
              <a:rPr i="0" lang="ca" sz="1974" u="none" cap="none" strike="noStrike">
                <a:solidFill>
                  <a:srgbClr val="000000"/>
                </a:solidFill>
                <a:latin typeface="Calibri"/>
                <a:ea typeface="Calibri"/>
                <a:cs typeface="Calibri"/>
                <a:sym typeface="Calibri"/>
              </a:rPr>
              <a:t>d.setMonth (5);      // Canviem valor a 1-6-2000</a:t>
            </a:r>
            <a:endParaRPr sz="1960">
              <a:latin typeface="Calibri"/>
              <a:ea typeface="Calibri"/>
              <a:cs typeface="Calibri"/>
              <a:sym typeface="Calibri"/>
            </a:endParaRPr>
          </a:p>
          <a:p>
            <a:pPr indent="-485394" lvl="0" marL="485394" marR="0" rtl="0" algn="ctr">
              <a:lnSpc>
                <a:spcPct val="80000"/>
              </a:lnSpc>
              <a:spcBef>
                <a:spcPts val="400"/>
              </a:spcBef>
              <a:spcAft>
                <a:spcPts val="0"/>
              </a:spcAft>
              <a:buClr>
                <a:srgbClr val="000000"/>
              </a:buClr>
              <a:buSzPts val="1274"/>
              <a:buFont typeface="Arial"/>
              <a:buNone/>
            </a:pPr>
            <a:r>
              <a:rPr i="0" lang="ca" sz="1974" u="none" cap="none" strike="noStrike">
                <a:solidFill>
                  <a:srgbClr val="000000"/>
                </a:solidFill>
                <a:latin typeface="Calibri"/>
                <a:ea typeface="Calibri"/>
                <a:cs typeface="Calibri"/>
                <a:sym typeface="Calibri"/>
              </a:rPr>
              <a:t>d.setDate (40);      // Canviem valor a 10-7-2000</a:t>
            </a:r>
            <a:endParaRPr sz="196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Manipular</a:t>
            </a:r>
            <a:endParaRPr/>
          </a:p>
        </p:txBody>
      </p:sp>
      <p:sp>
        <p:nvSpPr>
          <p:cNvPr id="188" name="Google Shape;188;p20"/>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a:bodyPr>
          <a:lstStyle/>
          <a:p>
            <a:pPr indent="-355600" lvl="0" marL="457200" marR="0" rtl="0" algn="l">
              <a:lnSpc>
                <a:spcPct val="100000"/>
              </a:lnSpc>
              <a:spcBef>
                <a:spcPts val="0"/>
              </a:spcBef>
              <a:spcAft>
                <a:spcPts val="0"/>
              </a:spcAft>
              <a:buClr>
                <a:srgbClr val="000000"/>
              </a:buClr>
              <a:buSzPts val="2000"/>
              <a:buFont typeface="Calibri"/>
              <a:buChar char="●"/>
            </a:pPr>
            <a:r>
              <a:rPr i="0" lang="ca" sz="2000" u="none" cap="none" strike="noStrike">
                <a:solidFill>
                  <a:srgbClr val="000000"/>
                </a:solidFill>
                <a:latin typeface="Calibri"/>
                <a:ea typeface="Calibri"/>
                <a:cs typeface="Calibri"/>
                <a:sym typeface="Calibri"/>
              </a:rPr>
              <a:t>La manera lògica de manipular els objectes d’una classe és utilitzar les operacions que la classe proporciona i, en la majoria de casos, aquesta serà l’única possibilitat, ja que els dissenyadors de les classes acostumen a obligar a la seva utilització i </a:t>
            </a:r>
            <a:r>
              <a:rPr b="1" i="0" lang="ca" sz="2000" u="none" cap="none" strike="noStrike">
                <a:solidFill>
                  <a:srgbClr val="000000"/>
                </a:solidFill>
                <a:latin typeface="Calibri"/>
                <a:ea typeface="Calibri"/>
                <a:cs typeface="Calibri"/>
                <a:sym typeface="Calibri"/>
              </a:rPr>
              <a:t>no permeten l’accés directe a les dades contingudes en els objectes.</a:t>
            </a:r>
            <a:endParaRPr b="1">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1"/>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Destruir</a:t>
            </a:r>
            <a:endParaRPr/>
          </a:p>
        </p:txBody>
      </p:sp>
      <p:sp>
        <p:nvSpPr>
          <p:cNvPr id="194" name="Google Shape;194;p21"/>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lnSpcReduction="10000"/>
          </a:bodyPr>
          <a:lstStyle/>
          <a:p>
            <a:pPr indent="-355600" lvl="0" marL="457200" marR="0" rtl="0" algn="l">
              <a:lnSpc>
                <a:spcPct val="100000"/>
              </a:lnSpc>
              <a:spcBef>
                <a:spcPts val="0"/>
              </a:spcBef>
              <a:spcAft>
                <a:spcPts val="0"/>
              </a:spcAft>
              <a:buClr>
                <a:srgbClr val="000000"/>
              </a:buClr>
              <a:buSzPts val="2000"/>
              <a:buFont typeface="Arial"/>
              <a:buChar char="●"/>
            </a:pPr>
            <a:r>
              <a:rPr i="0" lang="ca" sz="2000" u="none" cap="none" strike="noStrike">
                <a:solidFill>
                  <a:srgbClr val="000000"/>
                </a:solidFill>
                <a:latin typeface="Calibri"/>
                <a:ea typeface="Calibri"/>
                <a:cs typeface="Calibri"/>
                <a:sym typeface="Calibri"/>
              </a:rPr>
              <a:t>Els objectes, en el moment de la seva creació, ocupen un espai de memòria i, per tant, cal ser conscients que cal destruir els objectes quan ja no es necessitin. En Java </a:t>
            </a:r>
            <a:r>
              <a:rPr b="1" i="0" lang="ca" sz="2000" u="none" cap="none" strike="noStrike">
                <a:solidFill>
                  <a:srgbClr val="000000"/>
                </a:solidFill>
                <a:latin typeface="Calibri"/>
                <a:ea typeface="Calibri"/>
                <a:cs typeface="Calibri"/>
                <a:sym typeface="Calibri"/>
              </a:rPr>
              <a:t>NO </a:t>
            </a:r>
            <a:r>
              <a:rPr b="1" lang="ca" sz="2000">
                <a:solidFill>
                  <a:srgbClr val="000000"/>
                </a:solidFill>
                <a:latin typeface="Calibri"/>
                <a:ea typeface="Calibri"/>
                <a:cs typeface="Calibri"/>
                <a:sym typeface="Calibri"/>
              </a:rPr>
              <a:t>é</a:t>
            </a:r>
            <a:r>
              <a:rPr b="1" i="0" lang="ca" sz="2000" u="none" cap="none" strike="noStrike">
                <a:solidFill>
                  <a:srgbClr val="000000"/>
                </a:solidFill>
                <a:latin typeface="Calibri"/>
                <a:ea typeface="Calibri"/>
                <a:cs typeface="Calibri"/>
                <a:sym typeface="Calibri"/>
              </a:rPr>
              <a:t>s necessari</a:t>
            </a:r>
            <a:r>
              <a:rPr i="0" lang="ca" sz="2000" u="none" cap="none" strike="noStrike">
                <a:solidFill>
                  <a:srgbClr val="000000"/>
                </a:solidFill>
                <a:latin typeface="Calibri"/>
                <a:ea typeface="Calibri"/>
                <a:cs typeface="Calibri"/>
                <a:sym typeface="Calibri"/>
              </a:rPr>
              <a:t>.</a:t>
            </a:r>
            <a:endParaRPr>
              <a:latin typeface="Calibri"/>
              <a:ea typeface="Calibri"/>
              <a:cs typeface="Calibri"/>
              <a:sym typeface="Calibri"/>
            </a:endParaRPr>
          </a:p>
          <a:p>
            <a:pPr indent="0" lvl="0" marL="0" marR="0" rtl="0" algn="l">
              <a:lnSpc>
                <a:spcPct val="100000"/>
              </a:lnSpc>
              <a:spcBef>
                <a:spcPts val="700"/>
              </a:spcBef>
              <a:spcAft>
                <a:spcPts val="0"/>
              </a:spcAft>
              <a:buSzPts val="1800"/>
              <a:buNone/>
            </a:pPr>
            <a:r>
              <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400"/>
              </a:spcBef>
              <a:spcAft>
                <a:spcPts val="0"/>
              </a:spcAft>
              <a:buClr>
                <a:srgbClr val="000000"/>
              </a:buClr>
              <a:buSzPts val="2000"/>
              <a:buFont typeface="Arial"/>
              <a:buChar char="●"/>
            </a:pPr>
            <a:r>
              <a:rPr i="0" lang="ca" sz="2000" u="none" cap="none" strike="noStrike">
                <a:solidFill>
                  <a:srgbClr val="000000"/>
                </a:solidFill>
                <a:latin typeface="Calibri"/>
                <a:ea typeface="Calibri"/>
                <a:cs typeface="Calibri"/>
                <a:sym typeface="Calibri"/>
              </a:rPr>
              <a:t>El </a:t>
            </a:r>
            <a:r>
              <a:rPr b="1" i="0" lang="ca" sz="2000" u="none" cap="none" strike="noStrike">
                <a:solidFill>
                  <a:srgbClr val="000000"/>
                </a:solidFill>
                <a:latin typeface="Calibri"/>
                <a:ea typeface="Calibri"/>
                <a:cs typeface="Calibri"/>
                <a:sym typeface="Calibri"/>
              </a:rPr>
              <a:t>garbage collector</a:t>
            </a:r>
            <a:r>
              <a:rPr i="0" lang="ca" sz="2000" u="none" cap="none" strike="noStrike">
                <a:solidFill>
                  <a:srgbClr val="000000"/>
                </a:solidFill>
                <a:latin typeface="Calibri"/>
                <a:ea typeface="Calibri"/>
                <a:cs typeface="Calibri"/>
                <a:sym typeface="Calibri"/>
              </a:rPr>
              <a:t> (recuperador de memòria) és un procés automàtic de la màquina virtual Java que periòdicament s’encarrega de recollir els objectes que ja no es necessiten i els destrueix tot alliberant la memòria que ocupaven.</a:t>
            </a:r>
            <a:endParaRPr>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696" u="none" cap="none" strike="noStrike">
                <a:solidFill>
                  <a:srgbClr val="339933"/>
                </a:solidFill>
                <a:latin typeface="Arial"/>
                <a:ea typeface="Arial"/>
                <a:cs typeface="Arial"/>
                <a:sym typeface="Arial"/>
              </a:rPr>
              <a:t>3. Característiques de la POO</a:t>
            </a:r>
            <a:endParaRPr/>
          </a:p>
        </p:txBody>
      </p:sp>
      <p:sp>
        <p:nvSpPr>
          <p:cNvPr id="200" name="Google Shape;200;p22"/>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533400" lvl="0" marL="533400" marR="0" rtl="0" algn="ctr">
              <a:lnSpc>
                <a:spcPct val="90000"/>
              </a:lnSpc>
              <a:spcBef>
                <a:spcPts val="0"/>
              </a:spcBef>
              <a:spcAft>
                <a:spcPts val="0"/>
              </a:spcAft>
              <a:buClr>
                <a:srgbClr val="000000"/>
              </a:buClr>
              <a:buSzPts val="1850"/>
              <a:buFont typeface="Arial"/>
              <a:buNone/>
            </a:pPr>
            <a:r>
              <a:rPr b="1" i="0" lang="ca" sz="2550" u="none" cap="none" strike="noStrike">
                <a:solidFill>
                  <a:srgbClr val="000000"/>
                </a:solidFill>
                <a:latin typeface="Calibri"/>
                <a:ea typeface="Calibri"/>
                <a:cs typeface="Calibri"/>
                <a:sym typeface="Calibri"/>
              </a:rPr>
              <a:t>Característiques dels objectes:</a:t>
            </a:r>
            <a:endParaRPr sz="2365">
              <a:latin typeface="Calibri"/>
              <a:ea typeface="Calibri"/>
              <a:cs typeface="Calibri"/>
              <a:sym typeface="Calibri"/>
            </a:endParaRPr>
          </a:p>
          <a:p>
            <a:pPr indent="-533400" lvl="0" marL="533400" marR="0" rtl="0" algn="l">
              <a:lnSpc>
                <a:spcPct val="90000"/>
              </a:lnSpc>
              <a:spcBef>
                <a:spcPts val="700"/>
              </a:spcBef>
              <a:spcAft>
                <a:spcPts val="0"/>
              </a:spcAft>
              <a:buClr>
                <a:srgbClr val="000000"/>
              </a:buClr>
              <a:buSzPts val="1850"/>
              <a:buFont typeface="Arial"/>
              <a:buNone/>
            </a:pPr>
            <a:r>
              <a:t/>
            </a:r>
            <a:endParaRPr b="1" i="0" sz="2550" u="none" cap="none" strike="noStrike">
              <a:solidFill>
                <a:srgbClr val="000000"/>
              </a:solidFill>
              <a:latin typeface="Calibri"/>
              <a:ea typeface="Calibri"/>
              <a:cs typeface="Calibri"/>
              <a:sym typeface="Calibri"/>
            </a:endParaRPr>
          </a:p>
          <a:p>
            <a:pPr indent="-533400" lvl="0" marL="533400" marR="0" rtl="0" algn="l">
              <a:lnSpc>
                <a:spcPct val="90000"/>
              </a:lnSpc>
              <a:spcBef>
                <a:spcPts val="400"/>
              </a:spcBef>
              <a:spcAft>
                <a:spcPts val="0"/>
              </a:spcAft>
              <a:buClr>
                <a:srgbClr val="000000"/>
              </a:buClr>
              <a:buSzPts val="1850"/>
              <a:buFont typeface="Arial"/>
              <a:buNone/>
            </a:pPr>
            <a:r>
              <a:rPr b="1" i="0" lang="ca" sz="2550" u="none" cap="none" strike="noStrike">
                <a:solidFill>
                  <a:srgbClr val="000000"/>
                </a:solidFill>
                <a:latin typeface="Calibri"/>
                <a:ea typeface="Calibri"/>
                <a:cs typeface="Calibri"/>
                <a:sym typeface="Calibri"/>
              </a:rPr>
              <a:t>Identitat: </a:t>
            </a:r>
            <a:r>
              <a:rPr i="0" lang="ca" sz="2550" u="none" cap="none" strike="noStrike">
                <a:solidFill>
                  <a:srgbClr val="000000"/>
                </a:solidFill>
                <a:latin typeface="Calibri"/>
                <a:ea typeface="Calibri"/>
                <a:cs typeface="Calibri"/>
                <a:sym typeface="Calibri"/>
              </a:rPr>
              <a:t>cada objecte </a:t>
            </a:r>
            <a:r>
              <a:rPr lang="ca" sz="2550">
                <a:solidFill>
                  <a:srgbClr val="000000"/>
                </a:solidFill>
                <a:latin typeface="Calibri"/>
                <a:ea typeface="Calibri"/>
                <a:cs typeface="Calibri"/>
                <a:sym typeface="Calibri"/>
              </a:rPr>
              <a:t>é</a:t>
            </a:r>
            <a:r>
              <a:rPr i="0" lang="ca" sz="2550" u="none" cap="none" strike="noStrike">
                <a:solidFill>
                  <a:srgbClr val="000000"/>
                </a:solidFill>
                <a:latin typeface="Calibri"/>
                <a:ea typeface="Calibri"/>
                <a:cs typeface="Calibri"/>
                <a:sym typeface="Calibri"/>
              </a:rPr>
              <a:t>s únic</a:t>
            </a:r>
            <a:endParaRPr sz="2365">
              <a:latin typeface="Calibri"/>
              <a:ea typeface="Calibri"/>
              <a:cs typeface="Calibri"/>
              <a:sym typeface="Calibri"/>
            </a:endParaRPr>
          </a:p>
          <a:p>
            <a:pPr indent="-533400" lvl="0" marL="533400" marR="0" rtl="0" algn="l">
              <a:lnSpc>
                <a:spcPct val="90000"/>
              </a:lnSpc>
              <a:spcBef>
                <a:spcPts val="400"/>
              </a:spcBef>
              <a:spcAft>
                <a:spcPts val="0"/>
              </a:spcAft>
              <a:buClr>
                <a:srgbClr val="000000"/>
              </a:buClr>
              <a:buSzPts val="1850"/>
              <a:buFont typeface="Arial"/>
              <a:buNone/>
            </a:pPr>
            <a:r>
              <a:rPr b="1" i="0" lang="ca" sz="2550" u="none" cap="none" strike="noStrike">
                <a:solidFill>
                  <a:srgbClr val="000000"/>
                </a:solidFill>
                <a:latin typeface="Calibri"/>
                <a:ea typeface="Calibri"/>
                <a:cs typeface="Calibri"/>
                <a:sym typeface="Calibri"/>
              </a:rPr>
              <a:t>Estat: </a:t>
            </a:r>
            <a:r>
              <a:rPr i="0" lang="ca" sz="2550" u="none" cap="none" strike="noStrike">
                <a:solidFill>
                  <a:srgbClr val="000000"/>
                </a:solidFill>
                <a:latin typeface="Calibri"/>
                <a:ea typeface="Calibri"/>
                <a:cs typeface="Calibri"/>
                <a:sym typeface="Calibri"/>
              </a:rPr>
              <a:t>Atributs</a:t>
            </a:r>
            <a:endParaRPr sz="2365">
              <a:latin typeface="Calibri"/>
              <a:ea typeface="Calibri"/>
              <a:cs typeface="Calibri"/>
              <a:sym typeface="Calibri"/>
            </a:endParaRPr>
          </a:p>
          <a:p>
            <a:pPr indent="-533400" lvl="0" marL="533400" marR="0" rtl="0" algn="l">
              <a:lnSpc>
                <a:spcPct val="90000"/>
              </a:lnSpc>
              <a:spcBef>
                <a:spcPts val="400"/>
              </a:spcBef>
              <a:spcAft>
                <a:spcPts val="0"/>
              </a:spcAft>
              <a:buClr>
                <a:srgbClr val="000000"/>
              </a:buClr>
              <a:buSzPts val="1850"/>
              <a:buFont typeface="Arial"/>
              <a:buNone/>
            </a:pPr>
            <a:r>
              <a:rPr b="1" i="0" lang="ca" sz="2550" u="none" cap="none" strike="noStrike">
                <a:solidFill>
                  <a:srgbClr val="000000"/>
                </a:solidFill>
                <a:latin typeface="Calibri"/>
                <a:ea typeface="Calibri"/>
                <a:cs typeface="Calibri"/>
                <a:sym typeface="Calibri"/>
              </a:rPr>
              <a:t>Comportament: </a:t>
            </a:r>
            <a:r>
              <a:rPr i="0" lang="ca" sz="2550" u="none" cap="none" strike="noStrike">
                <a:solidFill>
                  <a:srgbClr val="000000"/>
                </a:solidFill>
                <a:latin typeface="Calibri"/>
                <a:ea typeface="Calibri"/>
                <a:cs typeface="Calibri"/>
                <a:sym typeface="Calibri"/>
              </a:rPr>
              <a:t>Mètodes</a:t>
            </a:r>
            <a:endParaRPr sz="2365">
              <a:latin typeface="Calibri"/>
              <a:ea typeface="Calibri"/>
              <a:cs typeface="Calibri"/>
              <a:sym typeface="Calibri"/>
            </a:endParaRPr>
          </a:p>
          <a:p>
            <a:pPr indent="-533400" lvl="0" marL="533400" marR="0" rtl="0" algn="l">
              <a:lnSpc>
                <a:spcPct val="90000"/>
              </a:lnSpc>
              <a:spcBef>
                <a:spcPts val="700"/>
              </a:spcBef>
              <a:spcAft>
                <a:spcPts val="0"/>
              </a:spcAft>
              <a:buClr>
                <a:srgbClr val="000000"/>
              </a:buClr>
              <a:buSzPts val="1850"/>
              <a:buFont typeface="Arial"/>
              <a:buNone/>
            </a:pPr>
            <a:r>
              <a:t/>
            </a:r>
            <a:endParaRPr i="0" sz="2550" u="none" cap="none" strike="noStrike">
              <a:solidFill>
                <a:srgbClr val="000000"/>
              </a:solidFill>
              <a:latin typeface="Calibri"/>
              <a:ea typeface="Calibri"/>
              <a:cs typeface="Calibri"/>
              <a:sym typeface="Calibri"/>
            </a:endParaRPr>
          </a:p>
          <a:p>
            <a:pPr indent="-533400" lvl="0" marL="533400" marR="0" rtl="0" algn="l">
              <a:lnSpc>
                <a:spcPct val="90000"/>
              </a:lnSpc>
              <a:spcBef>
                <a:spcPts val="400"/>
              </a:spcBef>
              <a:spcAft>
                <a:spcPts val="0"/>
              </a:spcAft>
              <a:buClr>
                <a:srgbClr val="000000"/>
              </a:buClr>
              <a:buSzPts val="1850"/>
              <a:buFont typeface="Arial"/>
              <a:buNone/>
            </a:pPr>
            <a:r>
              <a:rPr b="1" i="0" lang="ca" sz="2550" u="none" cap="none" strike="noStrike">
                <a:solidFill>
                  <a:srgbClr val="000000"/>
                </a:solidFill>
                <a:latin typeface="Calibri"/>
                <a:ea typeface="Calibri"/>
                <a:cs typeface="Calibri"/>
                <a:sym typeface="Calibri"/>
              </a:rPr>
              <a:t>Com es comuniquen els objectes?</a:t>
            </a:r>
            <a:endParaRPr sz="2365">
              <a:latin typeface="Calibri"/>
              <a:ea typeface="Calibri"/>
              <a:cs typeface="Calibri"/>
              <a:sym typeface="Calibri"/>
            </a:endParaRPr>
          </a:p>
          <a:p>
            <a:pPr indent="-533400" lvl="0" marL="533400" marR="0" rtl="0" algn="l">
              <a:lnSpc>
                <a:spcPct val="90000"/>
              </a:lnSpc>
              <a:spcBef>
                <a:spcPts val="400"/>
              </a:spcBef>
              <a:spcAft>
                <a:spcPts val="0"/>
              </a:spcAft>
              <a:buClr>
                <a:srgbClr val="000000"/>
              </a:buClr>
              <a:buSzPts val="1850"/>
              <a:buFont typeface="Arial"/>
              <a:buNone/>
            </a:pPr>
            <a:r>
              <a:rPr i="0" lang="ca" sz="2550" u="none" cap="none" strike="noStrike">
                <a:solidFill>
                  <a:srgbClr val="000000"/>
                </a:solidFill>
                <a:latin typeface="Calibri"/>
                <a:ea typeface="Calibri"/>
                <a:cs typeface="Calibri"/>
                <a:sym typeface="Calibri"/>
              </a:rPr>
              <a:t>A través de missatges. Quan un objecte </a:t>
            </a:r>
            <a:r>
              <a:rPr lang="ca" sz="2550">
                <a:solidFill>
                  <a:srgbClr val="000000"/>
                </a:solidFill>
                <a:latin typeface="Calibri"/>
                <a:ea typeface="Calibri"/>
                <a:cs typeface="Calibri"/>
                <a:sym typeface="Calibri"/>
              </a:rPr>
              <a:t>rep</a:t>
            </a:r>
            <a:r>
              <a:rPr i="0" lang="ca" sz="2550" u="none" cap="none" strike="noStrike">
                <a:solidFill>
                  <a:srgbClr val="000000"/>
                </a:solidFill>
                <a:latin typeface="Calibri"/>
                <a:ea typeface="Calibri"/>
                <a:cs typeface="Calibri"/>
                <a:sym typeface="Calibri"/>
              </a:rPr>
              <a:t> un missatge executa el mètode associat.</a:t>
            </a:r>
            <a:endParaRPr sz="2365">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Beneficis de la POO</a:t>
            </a:r>
            <a:endParaRPr/>
          </a:p>
        </p:txBody>
      </p:sp>
      <p:sp>
        <p:nvSpPr>
          <p:cNvPr id="206" name="Google Shape;206;p23"/>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388937" lvl="0" marL="457200" marR="0" rtl="0" algn="l">
              <a:lnSpc>
                <a:spcPct val="90000"/>
              </a:lnSpc>
              <a:spcBef>
                <a:spcPts val="0"/>
              </a:spcBef>
              <a:spcAft>
                <a:spcPts val="0"/>
              </a:spcAft>
              <a:buClr>
                <a:srgbClr val="000000"/>
              </a:buClr>
              <a:buSzPts val="2525"/>
              <a:buFont typeface="Calibri"/>
              <a:buChar char="●"/>
            </a:pPr>
            <a:r>
              <a:rPr b="1" i="0" lang="ca" sz="2525" u="none" cap="none" strike="noStrike">
                <a:solidFill>
                  <a:srgbClr val="000000"/>
                </a:solidFill>
                <a:latin typeface="Calibri"/>
                <a:ea typeface="Calibri"/>
                <a:cs typeface="Calibri"/>
                <a:sym typeface="Calibri"/>
              </a:rPr>
              <a:t>Modular</a:t>
            </a:r>
            <a:r>
              <a:rPr i="0" lang="ca" sz="2525" u="none" cap="none" strike="noStrike">
                <a:solidFill>
                  <a:srgbClr val="000000"/>
                </a:solidFill>
                <a:latin typeface="Calibri"/>
                <a:ea typeface="Calibri"/>
                <a:cs typeface="Calibri"/>
                <a:sym typeface="Calibri"/>
              </a:rPr>
              <a:t>: El codi d’una classe es pot mantenir i sense modificar el codi d’altres classes.</a:t>
            </a:r>
            <a:endParaRPr sz="2370">
              <a:latin typeface="Calibri"/>
              <a:ea typeface="Calibri"/>
              <a:cs typeface="Calibri"/>
              <a:sym typeface="Calibri"/>
            </a:endParaRPr>
          </a:p>
          <a:p>
            <a:pPr indent="0" lvl="0" marL="0" marR="0" rtl="0" algn="l">
              <a:lnSpc>
                <a:spcPct val="90000"/>
              </a:lnSpc>
              <a:spcBef>
                <a:spcPts val="700"/>
              </a:spcBef>
              <a:spcAft>
                <a:spcPts val="0"/>
              </a:spcAft>
              <a:buSzPts val="852"/>
              <a:buNone/>
            </a:pPr>
            <a:r>
              <a:t/>
            </a:r>
            <a:endParaRPr i="0" sz="2292" u="none" cap="none" strike="noStrike">
              <a:solidFill>
                <a:srgbClr val="000000"/>
              </a:solidFill>
              <a:latin typeface="Calibri"/>
              <a:ea typeface="Calibri"/>
              <a:cs typeface="Calibri"/>
              <a:sym typeface="Calibri"/>
            </a:endParaRPr>
          </a:p>
          <a:p>
            <a:pPr indent="-388937" lvl="0" marL="457200" marR="0" rtl="0" algn="l">
              <a:lnSpc>
                <a:spcPct val="90000"/>
              </a:lnSpc>
              <a:spcBef>
                <a:spcPts val="400"/>
              </a:spcBef>
              <a:spcAft>
                <a:spcPts val="0"/>
              </a:spcAft>
              <a:buClr>
                <a:srgbClr val="000000"/>
              </a:buClr>
              <a:buSzPts val="2525"/>
              <a:buFont typeface="Calibri"/>
              <a:buChar char="●"/>
            </a:pPr>
            <a:r>
              <a:rPr b="1" i="0" lang="ca" sz="2525" u="none" cap="none" strike="noStrike">
                <a:solidFill>
                  <a:srgbClr val="000000"/>
                </a:solidFill>
                <a:latin typeface="Calibri"/>
                <a:ea typeface="Calibri"/>
                <a:cs typeface="Calibri"/>
                <a:sym typeface="Calibri"/>
              </a:rPr>
              <a:t>Reutilització: </a:t>
            </a:r>
            <a:r>
              <a:rPr lang="ca" sz="2525">
                <a:solidFill>
                  <a:srgbClr val="000000"/>
                </a:solidFill>
                <a:latin typeface="Calibri"/>
                <a:ea typeface="Calibri"/>
                <a:cs typeface="Calibri"/>
                <a:sym typeface="Calibri"/>
              </a:rPr>
              <a:t>És</a:t>
            </a:r>
            <a:r>
              <a:rPr i="0" lang="ca" sz="2525" u="none" cap="none" strike="noStrike">
                <a:solidFill>
                  <a:srgbClr val="000000"/>
                </a:solidFill>
                <a:latin typeface="Calibri"/>
                <a:ea typeface="Calibri"/>
                <a:cs typeface="Calibri"/>
                <a:sym typeface="Calibri"/>
              </a:rPr>
              <a:t> senzill utilitzar classes fetes per altres persones.</a:t>
            </a:r>
            <a:endParaRPr i="0" sz="2525" u="none" cap="none" strike="noStrike">
              <a:solidFill>
                <a:srgbClr val="000000"/>
              </a:solidFill>
              <a:latin typeface="Calibri"/>
              <a:ea typeface="Calibri"/>
              <a:cs typeface="Calibri"/>
              <a:sym typeface="Calibri"/>
            </a:endParaRPr>
          </a:p>
          <a:p>
            <a:pPr indent="0" lvl="0" marL="457200" marR="0" rtl="0" algn="l">
              <a:lnSpc>
                <a:spcPct val="90000"/>
              </a:lnSpc>
              <a:spcBef>
                <a:spcPts val="400"/>
              </a:spcBef>
              <a:spcAft>
                <a:spcPts val="0"/>
              </a:spcAft>
              <a:buSzPts val="1800"/>
              <a:buNone/>
            </a:pPr>
            <a:r>
              <a:t/>
            </a:r>
            <a:endParaRPr sz="2525">
              <a:solidFill>
                <a:srgbClr val="000000"/>
              </a:solidFill>
              <a:latin typeface="Calibri"/>
              <a:ea typeface="Calibri"/>
              <a:cs typeface="Calibri"/>
              <a:sym typeface="Calibri"/>
            </a:endParaRPr>
          </a:p>
          <a:p>
            <a:pPr indent="-388937" lvl="0" marL="457200" marR="0" rtl="0" algn="l">
              <a:lnSpc>
                <a:spcPct val="90000"/>
              </a:lnSpc>
              <a:spcBef>
                <a:spcPts val="0"/>
              </a:spcBef>
              <a:spcAft>
                <a:spcPts val="0"/>
              </a:spcAft>
              <a:buClr>
                <a:srgbClr val="000000"/>
              </a:buClr>
              <a:buSzPts val="2525"/>
              <a:buFont typeface="Calibri"/>
              <a:buChar char="●"/>
            </a:pPr>
            <a:r>
              <a:rPr b="1" lang="ca" sz="2525">
                <a:solidFill>
                  <a:srgbClr val="000000"/>
                </a:solidFill>
                <a:latin typeface="Calibri"/>
                <a:ea typeface="Calibri"/>
                <a:cs typeface="Calibri"/>
                <a:sym typeface="Calibri"/>
              </a:rPr>
              <a:t>Facilitat en la reprogramació i fer test</a:t>
            </a:r>
            <a:endParaRPr b="1" sz="2525">
              <a:solidFill>
                <a:srgbClr val="000000"/>
              </a:solidFill>
              <a:latin typeface="Calibri"/>
              <a:ea typeface="Calibri"/>
              <a:cs typeface="Calibri"/>
              <a:sym typeface="Calibri"/>
            </a:endParaRPr>
          </a:p>
          <a:p>
            <a:pPr indent="0" lvl="0" marL="457200" marR="0" rtl="0" algn="l">
              <a:lnSpc>
                <a:spcPct val="90000"/>
              </a:lnSpc>
              <a:spcBef>
                <a:spcPts val="0"/>
              </a:spcBef>
              <a:spcAft>
                <a:spcPts val="0"/>
              </a:spcAft>
              <a:buSzPts val="1800"/>
              <a:buNone/>
            </a:pPr>
            <a:r>
              <a:t/>
            </a:r>
            <a:endParaRPr b="1" sz="2525">
              <a:solidFill>
                <a:srgbClr val="000000"/>
              </a:solidFill>
              <a:latin typeface="Calibri"/>
              <a:ea typeface="Calibri"/>
              <a:cs typeface="Calibri"/>
              <a:sym typeface="Calibri"/>
            </a:endParaRPr>
          </a:p>
          <a:p>
            <a:pPr indent="-388937" lvl="0" marL="457200" marR="0" rtl="0" algn="l">
              <a:lnSpc>
                <a:spcPct val="90000"/>
              </a:lnSpc>
              <a:spcBef>
                <a:spcPts val="0"/>
              </a:spcBef>
              <a:spcAft>
                <a:spcPts val="0"/>
              </a:spcAft>
              <a:buClr>
                <a:srgbClr val="000000"/>
              </a:buClr>
              <a:buSzPts val="2525"/>
              <a:buFont typeface="Calibri"/>
              <a:buChar char="●"/>
            </a:pPr>
            <a:r>
              <a:rPr b="1" lang="ca" sz="2525">
                <a:solidFill>
                  <a:srgbClr val="000000"/>
                </a:solidFill>
                <a:latin typeface="Calibri"/>
                <a:ea typeface="Calibri"/>
                <a:cs typeface="Calibri"/>
                <a:sym typeface="Calibri"/>
              </a:rPr>
              <a:t>Ocultació d’informació</a:t>
            </a:r>
            <a:r>
              <a:rPr lang="ca" sz="2525">
                <a:solidFill>
                  <a:srgbClr val="000000"/>
                </a:solidFill>
                <a:latin typeface="Calibri"/>
                <a:ea typeface="Calibri"/>
                <a:cs typeface="Calibri"/>
                <a:sym typeface="Calibri"/>
              </a:rPr>
              <a:t> en els detalls d’implementació.</a:t>
            </a:r>
            <a:endParaRPr sz="2525">
              <a:solidFill>
                <a:srgbClr val="000000"/>
              </a:solidFill>
              <a:latin typeface="Calibri"/>
              <a:ea typeface="Calibri"/>
              <a:cs typeface="Calibri"/>
              <a:sym typeface="Calibri"/>
            </a:endParaRPr>
          </a:p>
          <a:p>
            <a:pPr indent="0" lvl="0" marL="457200" marR="0" rtl="0" algn="l">
              <a:lnSpc>
                <a:spcPct val="90000"/>
              </a:lnSpc>
              <a:spcBef>
                <a:spcPts val="0"/>
              </a:spcBef>
              <a:spcAft>
                <a:spcPts val="0"/>
              </a:spcAft>
              <a:buSzPts val="1800"/>
              <a:buNone/>
            </a:pPr>
            <a:r>
              <a:t/>
            </a:r>
            <a:endParaRPr sz="2525">
              <a:solidFill>
                <a:srgbClr val="000000"/>
              </a:solidFill>
              <a:latin typeface="Calibri"/>
              <a:ea typeface="Calibri"/>
              <a:cs typeface="Calibri"/>
              <a:sym typeface="Calibri"/>
            </a:endParaRPr>
          </a:p>
          <a:p>
            <a:pPr indent="0" lvl="0" marL="457200" marR="0" rtl="0" algn="l">
              <a:lnSpc>
                <a:spcPct val="90000"/>
              </a:lnSpc>
              <a:spcBef>
                <a:spcPts val="0"/>
              </a:spcBef>
              <a:spcAft>
                <a:spcPts val="0"/>
              </a:spcAft>
              <a:buSzPts val="1800"/>
              <a:buNone/>
            </a:pPr>
            <a:r>
              <a:rPr lang="ca" sz="2525">
                <a:solidFill>
                  <a:srgbClr val="000000"/>
                </a:solidFill>
                <a:latin typeface="Calibri"/>
                <a:ea typeface="Calibri"/>
                <a:cs typeface="Calibri"/>
                <a:sym typeface="Calibri"/>
              </a:rPr>
              <a:t>Exemple: amb l’ús de llibreries on només fem la cridada. </a:t>
            </a:r>
            <a:endParaRPr sz="2525">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Característiques fonamentals POO</a:t>
            </a:r>
            <a:endParaRPr/>
          </a:p>
        </p:txBody>
      </p:sp>
      <p:sp>
        <p:nvSpPr>
          <p:cNvPr id="212" name="Google Shape;212;p24"/>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400050" lvl="0" marL="457200" marR="0" rtl="0" algn="l">
              <a:lnSpc>
                <a:spcPct val="80000"/>
              </a:lnSpc>
              <a:spcBef>
                <a:spcPts val="0"/>
              </a:spcBef>
              <a:spcAft>
                <a:spcPts val="0"/>
              </a:spcAft>
              <a:buClr>
                <a:srgbClr val="000000"/>
              </a:buClr>
              <a:buSzPts val="2700"/>
              <a:buFont typeface="Calibri"/>
              <a:buChar char="●"/>
            </a:pPr>
            <a:r>
              <a:rPr b="1" i="0" lang="ca" sz="2700" u="none" cap="none" strike="noStrike">
                <a:solidFill>
                  <a:srgbClr val="000000"/>
                </a:solidFill>
                <a:latin typeface="Calibri"/>
                <a:ea typeface="Calibri"/>
                <a:cs typeface="Calibri"/>
                <a:sym typeface="Calibri"/>
              </a:rPr>
              <a:t>Abstracció</a:t>
            </a:r>
            <a:r>
              <a:rPr i="0" lang="ca" sz="2700" u="none" cap="none" strike="noStrike">
                <a:solidFill>
                  <a:srgbClr val="000000"/>
                </a:solidFill>
                <a:latin typeface="Calibri"/>
                <a:ea typeface="Calibri"/>
                <a:cs typeface="Calibri"/>
                <a:sym typeface="Calibri"/>
              </a:rPr>
              <a:t>: Abstraure (separar/</a:t>
            </a:r>
            <a:r>
              <a:rPr lang="ca" sz="2700">
                <a:solidFill>
                  <a:srgbClr val="000000"/>
                </a:solidFill>
                <a:latin typeface="Calibri"/>
                <a:ea typeface="Calibri"/>
                <a:cs typeface="Calibri"/>
                <a:sym typeface="Calibri"/>
              </a:rPr>
              <a:t>aïllar</a:t>
            </a:r>
            <a:r>
              <a:rPr i="0" lang="ca" sz="2700" u="none" cap="none" strike="noStrike">
                <a:solidFill>
                  <a:srgbClr val="000000"/>
                </a:solidFill>
                <a:latin typeface="Calibri"/>
                <a:ea typeface="Calibri"/>
                <a:cs typeface="Calibri"/>
                <a:sym typeface="Calibri"/>
              </a:rPr>
              <a:t>) les característiques d’un objecte i crear les classes amb el atributs i mètodes.</a:t>
            </a:r>
            <a:endParaRPr sz="2500">
              <a:latin typeface="Calibri"/>
              <a:ea typeface="Calibri"/>
              <a:cs typeface="Calibri"/>
              <a:sym typeface="Calibri"/>
            </a:endParaRPr>
          </a:p>
          <a:p>
            <a:pPr indent="0" lvl="0" marL="0" marR="0" rtl="0" algn="l">
              <a:lnSpc>
                <a:spcPct val="80000"/>
              </a:lnSpc>
              <a:spcBef>
                <a:spcPts val="700"/>
              </a:spcBef>
              <a:spcAft>
                <a:spcPts val="0"/>
              </a:spcAft>
              <a:buSzPts val="1800"/>
              <a:buNone/>
            </a:pPr>
            <a:r>
              <a:t/>
            </a:r>
            <a:endParaRPr i="0" sz="2700" u="none" cap="none" strike="noStrike">
              <a:solidFill>
                <a:srgbClr val="000000"/>
              </a:solidFill>
              <a:latin typeface="Calibri"/>
              <a:ea typeface="Calibri"/>
              <a:cs typeface="Calibri"/>
              <a:sym typeface="Calibri"/>
            </a:endParaRPr>
          </a:p>
          <a:p>
            <a:pPr indent="-400050" lvl="0" marL="457200" marR="0" rtl="0" algn="l">
              <a:lnSpc>
                <a:spcPct val="80000"/>
              </a:lnSpc>
              <a:spcBef>
                <a:spcPts val="400"/>
              </a:spcBef>
              <a:spcAft>
                <a:spcPts val="0"/>
              </a:spcAft>
              <a:buClr>
                <a:srgbClr val="000000"/>
              </a:buClr>
              <a:buSzPts val="2700"/>
              <a:buFont typeface="Calibri"/>
              <a:buChar char="●"/>
            </a:pPr>
            <a:r>
              <a:rPr b="1" i="0" lang="ca" sz="2700" u="none" cap="none" strike="noStrike">
                <a:solidFill>
                  <a:srgbClr val="000000"/>
                </a:solidFill>
                <a:latin typeface="Calibri"/>
                <a:ea typeface="Calibri"/>
                <a:cs typeface="Calibri"/>
                <a:sym typeface="Calibri"/>
              </a:rPr>
              <a:t>Encapsulament: </a:t>
            </a:r>
            <a:r>
              <a:rPr i="0" lang="ca" sz="2700" u="none" cap="none" strike="noStrike">
                <a:solidFill>
                  <a:srgbClr val="000000"/>
                </a:solidFill>
                <a:latin typeface="Calibri"/>
                <a:ea typeface="Calibri"/>
                <a:cs typeface="Calibri"/>
                <a:sym typeface="Calibri"/>
              </a:rPr>
              <a:t>Les classes són vistes com a caixes negres, per utilitzar-les no </a:t>
            </a:r>
            <a:r>
              <a:rPr lang="ca" sz="2700">
                <a:solidFill>
                  <a:srgbClr val="000000"/>
                </a:solidFill>
                <a:latin typeface="Calibri"/>
                <a:ea typeface="Calibri"/>
                <a:cs typeface="Calibri"/>
                <a:sym typeface="Calibri"/>
              </a:rPr>
              <a:t>és</a:t>
            </a:r>
            <a:r>
              <a:rPr i="0" lang="ca" sz="2700" u="none" cap="none" strike="noStrike">
                <a:solidFill>
                  <a:srgbClr val="000000"/>
                </a:solidFill>
                <a:latin typeface="Calibri"/>
                <a:ea typeface="Calibri"/>
                <a:cs typeface="Calibri"/>
                <a:sym typeface="Calibri"/>
              </a:rPr>
              <a:t> necessari conèixer com està implementada, només s’ha de conèixer la seva interfície(API).</a:t>
            </a:r>
            <a:endParaRPr sz="2500">
              <a:latin typeface="Calibri"/>
              <a:ea typeface="Calibri"/>
              <a:cs typeface="Calibri"/>
              <a:sym typeface="Calibri"/>
            </a:endParaRPr>
          </a:p>
          <a:p>
            <a:pPr indent="-533400" lvl="0" marL="533400" marR="0" rtl="0" algn="l">
              <a:lnSpc>
                <a:spcPct val="80000"/>
              </a:lnSpc>
              <a:spcBef>
                <a:spcPts val="700"/>
              </a:spcBef>
              <a:spcAft>
                <a:spcPts val="0"/>
              </a:spcAft>
              <a:buClr>
                <a:srgbClr val="000000"/>
              </a:buClr>
              <a:buSzPts val="2000"/>
              <a:buFont typeface="Arial"/>
              <a:buNone/>
            </a:pPr>
            <a:r>
              <a:t/>
            </a:r>
            <a:endParaRPr i="0" sz="2700" u="none" cap="none" strike="noStrike">
              <a:solidFill>
                <a:srgbClr val="000000"/>
              </a:solidFill>
              <a:latin typeface="Calibri"/>
              <a:ea typeface="Calibri"/>
              <a:cs typeface="Calibri"/>
              <a:sym typeface="Calibri"/>
            </a:endParaRPr>
          </a:p>
          <a:p>
            <a:pPr indent="-533400" lvl="0" marL="533400" marR="0" rtl="0" algn="l">
              <a:lnSpc>
                <a:spcPct val="80000"/>
              </a:lnSpc>
              <a:spcBef>
                <a:spcPts val="400"/>
              </a:spcBef>
              <a:spcAft>
                <a:spcPts val="0"/>
              </a:spcAft>
              <a:buClr>
                <a:srgbClr val="009999"/>
              </a:buClr>
              <a:buSzPts val="2000"/>
              <a:buFont typeface="Arial"/>
              <a:buNone/>
            </a:pPr>
            <a:r>
              <a:rPr i="0" lang="ca" sz="2700" u="sng" cap="none" strike="noStrike">
                <a:solidFill>
                  <a:schemeClr val="hlink"/>
                </a:solidFill>
                <a:latin typeface="Calibri"/>
                <a:ea typeface="Calibri"/>
                <a:cs typeface="Calibri"/>
                <a:sym typeface="Calibri"/>
                <a:hlinkClick r:id="rId3"/>
              </a:rPr>
              <a:t>https://docs.oracle.com/javase/7/docs/api/allclasses-noframe.html</a:t>
            </a:r>
            <a:endParaRPr sz="25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Característiques fonamentals POO</a:t>
            </a:r>
            <a:endParaRPr/>
          </a:p>
        </p:txBody>
      </p:sp>
      <p:sp>
        <p:nvSpPr>
          <p:cNvPr id="218" name="Google Shape;218;p25"/>
          <p:cNvSpPr txBox="1"/>
          <p:nvPr>
            <p:ph idx="1" type="body"/>
          </p:nvPr>
        </p:nvSpPr>
        <p:spPr>
          <a:xfrm>
            <a:off x="311700" y="864348"/>
            <a:ext cx="8520600" cy="3455700"/>
          </a:xfrm>
          <a:prstGeom prst="rect">
            <a:avLst/>
          </a:prstGeom>
          <a:noFill/>
          <a:ln>
            <a:noFill/>
          </a:ln>
        </p:spPr>
        <p:txBody>
          <a:bodyPr anchorCtr="0" anchor="t" bIns="45700" lIns="45700" spcFirstLastPara="1" rIns="45700" wrap="square" tIns="45700">
            <a:noAutofit/>
          </a:bodyPr>
          <a:lstStyle/>
          <a:p>
            <a:pPr indent="-361950" lvl="0" marL="457200" marR="0" rtl="0" algn="l">
              <a:lnSpc>
                <a:spcPct val="80000"/>
              </a:lnSpc>
              <a:spcBef>
                <a:spcPts val="0"/>
              </a:spcBef>
              <a:spcAft>
                <a:spcPts val="0"/>
              </a:spcAft>
              <a:buClr>
                <a:srgbClr val="000000"/>
              </a:buClr>
              <a:buSzPts val="2100"/>
              <a:buFont typeface="Arial"/>
              <a:buChar char="●"/>
            </a:pPr>
            <a:r>
              <a:rPr b="1" i="0" lang="ca" sz="2100" u="none" cap="none" strike="noStrike">
                <a:solidFill>
                  <a:srgbClr val="000000"/>
                </a:solidFill>
                <a:latin typeface="Arial"/>
                <a:ea typeface="Arial"/>
                <a:cs typeface="Arial"/>
                <a:sym typeface="Arial"/>
              </a:rPr>
              <a:t>Herència</a:t>
            </a:r>
            <a:r>
              <a:rPr b="0" i="0" lang="ca" sz="2100" u="none" cap="none" strike="noStrike">
                <a:solidFill>
                  <a:srgbClr val="000000"/>
                </a:solidFill>
                <a:latin typeface="Arial"/>
                <a:ea typeface="Arial"/>
                <a:cs typeface="Arial"/>
                <a:sym typeface="Arial"/>
              </a:rPr>
              <a:t>: Una classe pot heretar els mètodes i atributs d’una altra classe. La funcionalitat propi de la classe es combinarà amb la heretada de la classe. Així tenim superclasse(pare) i subclasse(fill). En Java una classe només pot tenir una superclasse.</a:t>
            </a:r>
            <a:endParaRPr sz="1929"/>
          </a:p>
          <a:p>
            <a:pPr indent="0" lvl="0" marL="0" marR="0" rtl="0" algn="l">
              <a:lnSpc>
                <a:spcPct val="80000"/>
              </a:lnSpc>
              <a:spcBef>
                <a:spcPts val="0"/>
              </a:spcBef>
              <a:spcAft>
                <a:spcPts val="0"/>
              </a:spcAft>
              <a:buSzPts val="935"/>
              <a:buNone/>
            </a:pPr>
            <a:r>
              <a:t/>
            </a:r>
            <a:endParaRPr sz="1929"/>
          </a:p>
          <a:p>
            <a:pPr indent="0" lvl="0" marL="457200" marR="0" rtl="0" algn="l">
              <a:lnSpc>
                <a:spcPct val="80000"/>
              </a:lnSpc>
              <a:spcBef>
                <a:spcPts val="0"/>
              </a:spcBef>
              <a:spcAft>
                <a:spcPts val="0"/>
              </a:spcAft>
              <a:buSzPts val="935"/>
              <a:buNone/>
            </a:pPr>
            <a:r>
              <a:rPr b="0" i="0" lang="ca" sz="2100" u="none" cap="none" strike="noStrike">
                <a:solidFill>
                  <a:srgbClr val="000000"/>
                </a:solidFill>
                <a:latin typeface="Arial"/>
                <a:ea typeface="Arial"/>
                <a:cs typeface="Arial"/>
                <a:sym typeface="Arial"/>
              </a:rPr>
              <a:t>Tots els objectes de Java deriven en darrer terme d'una classe pare que és Object.</a:t>
            </a:r>
            <a:endParaRPr sz="1929"/>
          </a:p>
          <a:p>
            <a:pPr indent="0" lvl="0" marL="0" marR="0" rtl="0" algn="l">
              <a:lnSpc>
                <a:spcPct val="80000"/>
              </a:lnSpc>
              <a:spcBef>
                <a:spcPts val="700"/>
              </a:spcBef>
              <a:spcAft>
                <a:spcPts val="0"/>
              </a:spcAft>
              <a:buSzPts val="935"/>
              <a:buNone/>
            </a:pPr>
            <a:r>
              <a:t/>
            </a:r>
            <a:endParaRPr b="0" i="0" sz="2100" u="none" cap="none" strike="noStrike">
              <a:solidFill>
                <a:srgbClr val="000000"/>
              </a:solidFill>
              <a:latin typeface="Arial"/>
              <a:ea typeface="Arial"/>
              <a:cs typeface="Arial"/>
              <a:sym typeface="Arial"/>
            </a:endParaRPr>
          </a:p>
          <a:p>
            <a:pPr indent="-361950" lvl="0" marL="457200" marR="0" rtl="0" algn="l">
              <a:lnSpc>
                <a:spcPct val="80000"/>
              </a:lnSpc>
              <a:spcBef>
                <a:spcPts val="400"/>
              </a:spcBef>
              <a:spcAft>
                <a:spcPts val="0"/>
              </a:spcAft>
              <a:buClr>
                <a:srgbClr val="000000"/>
              </a:buClr>
              <a:buSzPts val="2100"/>
              <a:buFont typeface="Arial"/>
              <a:buChar char="●"/>
            </a:pPr>
            <a:r>
              <a:rPr b="1" i="0" lang="ca" sz="2100" u="none" cap="none" strike="noStrike">
                <a:solidFill>
                  <a:srgbClr val="000000"/>
                </a:solidFill>
                <a:latin typeface="Arial"/>
                <a:ea typeface="Arial"/>
                <a:cs typeface="Arial"/>
                <a:sym typeface="Arial"/>
              </a:rPr>
              <a:t>Polimorfisme</a:t>
            </a:r>
            <a:r>
              <a:rPr b="0" i="0" lang="ca" sz="2100" u="none" cap="none" strike="noStrike">
                <a:solidFill>
                  <a:srgbClr val="000000"/>
                </a:solidFill>
                <a:latin typeface="Arial"/>
                <a:ea typeface="Arial"/>
                <a:cs typeface="Arial"/>
                <a:sym typeface="Arial"/>
              </a:rPr>
              <a:t>: A una aplicació podem tenir molts mètodes amb el mateix nom, a classes distintes. Aleshores, quin serà el que es cridarà en cada cas? Doncs depèn de l'objecte al qual s'enviï el missatge.</a:t>
            </a:r>
            <a:endParaRPr sz="1929"/>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rgbClr val="339933"/>
              </a:buClr>
              <a:buSzPts val="3200"/>
              <a:buFont typeface="Arial"/>
              <a:buNone/>
            </a:pPr>
            <a:r>
              <a:rPr b="1" lang="ca" sz="3200">
                <a:solidFill>
                  <a:srgbClr val="339933"/>
                </a:solidFill>
              </a:rPr>
              <a:t>Esquema</a:t>
            </a:r>
            <a:r>
              <a:rPr lang="ca"/>
              <a:t> </a:t>
            </a:r>
            <a:r>
              <a:rPr b="1" lang="ca" sz="3233">
                <a:solidFill>
                  <a:srgbClr val="339933"/>
                </a:solidFill>
              </a:rPr>
              <a:t>general d’aplicació de l’orientació a objectes</a:t>
            </a:r>
            <a:endParaRPr b="1" sz="3233">
              <a:solidFill>
                <a:srgbClr val="339933"/>
              </a:solidFill>
            </a:endParaRPr>
          </a:p>
        </p:txBody>
      </p:sp>
      <p:sp>
        <p:nvSpPr>
          <p:cNvPr id="224" name="Google Shape;224;p26"/>
          <p:cNvSpPr txBox="1"/>
          <p:nvPr>
            <p:ph idx="1" type="body"/>
          </p:nvPr>
        </p:nvSpPr>
        <p:spPr>
          <a:xfrm>
            <a:off x="311700" y="12074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t/>
            </a:r>
            <a:endParaRPr sz="1100">
              <a:latin typeface="Arial"/>
              <a:ea typeface="Arial"/>
              <a:cs typeface="Arial"/>
              <a:sym typeface="Arial"/>
            </a:endParaRPr>
          </a:p>
          <a:p>
            <a:pPr indent="0" lvl="0" marL="0" rtl="0" algn="l">
              <a:lnSpc>
                <a:spcPct val="115000"/>
              </a:lnSpc>
              <a:spcBef>
                <a:spcPts val="1200"/>
              </a:spcBef>
              <a:spcAft>
                <a:spcPts val="0"/>
              </a:spcAft>
              <a:buSzPts val="1800"/>
              <a:buNone/>
            </a:pPr>
            <a:r>
              <a:t/>
            </a:r>
            <a:endParaRPr b="1" sz="1100">
              <a:latin typeface="Arial"/>
              <a:ea typeface="Arial"/>
              <a:cs typeface="Arial"/>
              <a:sym typeface="Arial"/>
            </a:endParaRPr>
          </a:p>
        </p:txBody>
      </p:sp>
      <p:sp>
        <p:nvSpPr>
          <p:cNvPr id="225" name="Google Shape;225;p26"/>
          <p:cNvSpPr/>
          <p:nvPr/>
        </p:nvSpPr>
        <p:spPr>
          <a:xfrm>
            <a:off x="578425" y="1272525"/>
            <a:ext cx="1521600" cy="9078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Plantetjar l’escenari en llenguatge natural</a:t>
            </a:r>
            <a:endParaRPr b="0" i="0" sz="1400" u="none" cap="none" strike="noStrike">
              <a:solidFill>
                <a:schemeClr val="lt1"/>
              </a:solidFill>
              <a:latin typeface="Arial"/>
              <a:ea typeface="Arial"/>
              <a:cs typeface="Arial"/>
              <a:sym typeface="Arial"/>
            </a:endParaRPr>
          </a:p>
        </p:txBody>
      </p:sp>
      <p:sp>
        <p:nvSpPr>
          <p:cNvPr id="226" name="Google Shape;226;p26"/>
          <p:cNvSpPr/>
          <p:nvPr/>
        </p:nvSpPr>
        <p:spPr>
          <a:xfrm>
            <a:off x="2697475" y="1272400"/>
            <a:ext cx="1521600" cy="9078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Identificar els elements relevants (els objectes)</a:t>
            </a:r>
            <a:endParaRPr b="0" i="0" sz="1400" u="none" cap="none" strike="noStrike">
              <a:solidFill>
                <a:schemeClr val="lt1"/>
              </a:solidFill>
              <a:latin typeface="Arial"/>
              <a:ea typeface="Arial"/>
              <a:cs typeface="Arial"/>
              <a:sym typeface="Arial"/>
            </a:endParaRPr>
          </a:p>
        </p:txBody>
      </p:sp>
      <p:sp>
        <p:nvSpPr>
          <p:cNvPr id="227" name="Google Shape;227;p26"/>
          <p:cNvSpPr/>
          <p:nvPr/>
        </p:nvSpPr>
        <p:spPr>
          <a:xfrm>
            <a:off x="4816500" y="1272400"/>
            <a:ext cx="1521600" cy="9078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Redefinir els objectes en elements més simples</a:t>
            </a:r>
            <a:endParaRPr b="0" i="0" sz="1400" u="none" cap="none" strike="noStrike">
              <a:solidFill>
                <a:schemeClr val="lt1"/>
              </a:solidFill>
              <a:latin typeface="Arial"/>
              <a:ea typeface="Arial"/>
              <a:cs typeface="Arial"/>
              <a:sym typeface="Arial"/>
            </a:endParaRPr>
          </a:p>
        </p:txBody>
      </p:sp>
      <p:sp>
        <p:nvSpPr>
          <p:cNvPr id="228" name="Google Shape;228;p26"/>
          <p:cNvSpPr/>
          <p:nvPr/>
        </p:nvSpPr>
        <p:spPr>
          <a:xfrm>
            <a:off x="6988900" y="1272400"/>
            <a:ext cx="1521600" cy="9078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Agrupar objectes del mateix tipus per crear una classe</a:t>
            </a:r>
            <a:endParaRPr b="0" i="0" sz="1400" u="none" cap="none" strike="noStrike">
              <a:solidFill>
                <a:schemeClr val="lt1"/>
              </a:solidFill>
              <a:latin typeface="Arial"/>
              <a:ea typeface="Arial"/>
              <a:cs typeface="Arial"/>
              <a:sym typeface="Arial"/>
            </a:endParaRPr>
          </a:p>
        </p:txBody>
      </p:sp>
      <p:sp>
        <p:nvSpPr>
          <p:cNvPr id="229" name="Google Shape;229;p26"/>
          <p:cNvSpPr/>
          <p:nvPr/>
        </p:nvSpPr>
        <p:spPr>
          <a:xfrm>
            <a:off x="6988900" y="3363750"/>
            <a:ext cx="1521600" cy="9078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ca" sz="1100" u="none" cap="none" strike="noStrike">
                <a:solidFill>
                  <a:schemeClr val="lt1"/>
                </a:solidFill>
                <a:latin typeface="Arial"/>
                <a:ea typeface="Arial"/>
                <a:cs typeface="Arial"/>
                <a:sym typeface="Arial"/>
              </a:rPr>
              <a:t>Identificar i enumerar els atributs d’un objecte i les operacions</a:t>
            </a:r>
            <a:endParaRPr b="0" i="0" sz="1100" u="none" cap="none" strike="noStrike">
              <a:solidFill>
                <a:schemeClr val="lt1"/>
              </a:solidFill>
              <a:latin typeface="Arial"/>
              <a:ea typeface="Arial"/>
              <a:cs typeface="Arial"/>
              <a:sym typeface="Arial"/>
            </a:endParaRPr>
          </a:p>
        </p:txBody>
      </p:sp>
      <p:sp>
        <p:nvSpPr>
          <p:cNvPr id="230" name="Google Shape;230;p26"/>
          <p:cNvSpPr/>
          <p:nvPr/>
        </p:nvSpPr>
        <p:spPr>
          <a:xfrm>
            <a:off x="3756925" y="3363750"/>
            <a:ext cx="1521600" cy="9078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ca" sz="1200" u="none" cap="none" strike="noStrike">
                <a:solidFill>
                  <a:schemeClr val="lt1"/>
                </a:solidFill>
                <a:latin typeface="Arial"/>
                <a:ea typeface="Arial"/>
                <a:cs typeface="Arial"/>
                <a:sym typeface="Arial"/>
              </a:rPr>
              <a:t>Identificar les relacions entre els objectes amb un mapa d’objectes</a:t>
            </a:r>
            <a:endParaRPr b="0" i="0" sz="1200" u="none" cap="none" strike="noStrike">
              <a:solidFill>
                <a:schemeClr val="lt1"/>
              </a:solidFill>
              <a:latin typeface="Arial"/>
              <a:ea typeface="Arial"/>
              <a:cs typeface="Arial"/>
              <a:sym typeface="Arial"/>
            </a:endParaRPr>
          </a:p>
        </p:txBody>
      </p:sp>
      <p:sp>
        <p:nvSpPr>
          <p:cNvPr id="231" name="Google Shape;231;p26"/>
          <p:cNvSpPr/>
          <p:nvPr/>
        </p:nvSpPr>
        <p:spPr>
          <a:xfrm>
            <a:off x="703025" y="3363750"/>
            <a:ext cx="1521600" cy="9078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Especificar formalment els atributs i les operacions</a:t>
            </a:r>
            <a:endParaRPr b="0" i="0" sz="1400" u="none" cap="none" strike="noStrike">
              <a:solidFill>
                <a:schemeClr val="lt1"/>
              </a:solidFill>
              <a:latin typeface="Arial"/>
              <a:ea typeface="Arial"/>
              <a:cs typeface="Arial"/>
              <a:sym typeface="Arial"/>
            </a:endParaRPr>
          </a:p>
        </p:txBody>
      </p:sp>
      <p:cxnSp>
        <p:nvCxnSpPr>
          <p:cNvPr id="232" name="Google Shape;232;p26"/>
          <p:cNvCxnSpPr>
            <a:stCxn id="226" idx="3"/>
            <a:endCxn id="227" idx="1"/>
          </p:cNvCxnSpPr>
          <p:nvPr/>
        </p:nvCxnSpPr>
        <p:spPr>
          <a:xfrm>
            <a:off x="4219075" y="1726300"/>
            <a:ext cx="597300" cy="0"/>
          </a:xfrm>
          <a:prstGeom prst="straightConnector1">
            <a:avLst/>
          </a:prstGeom>
          <a:noFill/>
          <a:ln cap="flat" cmpd="sng" w="9525">
            <a:solidFill>
              <a:schemeClr val="dk2"/>
            </a:solidFill>
            <a:prstDash val="solid"/>
            <a:round/>
            <a:headEnd len="sm" w="sm" type="none"/>
            <a:tailEnd len="med" w="med" type="triangle"/>
          </a:ln>
        </p:spPr>
      </p:cxnSp>
      <p:cxnSp>
        <p:nvCxnSpPr>
          <p:cNvPr id="233" name="Google Shape;233;p26"/>
          <p:cNvCxnSpPr>
            <a:stCxn id="227" idx="3"/>
            <a:endCxn id="228" idx="1"/>
          </p:cNvCxnSpPr>
          <p:nvPr/>
        </p:nvCxnSpPr>
        <p:spPr>
          <a:xfrm>
            <a:off x="6338100" y="1726300"/>
            <a:ext cx="650700" cy="0"/>
          </a:xfrm>
          <a:prstGeom prst="straightConnector1">
            <a:avLst/>
          </a:prstGeom>
          <a:noFill/>
          <a:ln cap="flat" cmpd="sng" w="9525">
            <a:solidFill>
              <a:schemeClr val="dk2"/>
            </a:solidFill>
            <a:prstDash val="solid"/>
            <a:round/>
            <a:headEnd len="sm" w="sm" type="none"/>
            <a:tailEnd len="med" w="med" type="triangle"/>
          </a:ln>
        </p:spPr>
      </p:cxnSp>
      <p:cxnSp>
        <p:nvCxnSpPr>
          <p:cNvPr id="234" name="Google Shape;234;p26"/>
          <p:cNvCxnSpPr>
            <a:stCxn id="228" idx="2"/>
            <a:endCxn id="229" idx="0"/>
          </p:cNvCxnSpPr>
          <p:nvPr/>
        </p:nvCxnSpPr>
        <p:spPr>
          <a:xfrm>
            <a:off x="7749700" y="2180200"/>
            <a:ext cx="0" cy="1183500"/>
          </a:xfrm>
          <a:prstGeom prst="straightConnector1">
            <a:avLst/>
          </a:prstGeom>
          <a:noFill/>
          <a:ln cap="flat" cmpd="sng" w="9525">
            <a:solidFill>
              <a:schemeClr val="dk2"/>
            </a:solidFill>
            <a:prstDash val="solid"/>
            <a:round/>
            <a:headEnd len="sm" w="sm" type="none"/>
            <a:tailEnd len="med" w="med" type="triangle"/>
          </a:ln>
        </p:spPr>
      </p:cxnSp>
      <p:cxnSp>
        <p:nvCxnSpPr>
          <p:cNvPr id="235" name="Google Shape;235;p26"/>
          <p:cNvCxnSpPr>
            <a:stCxn id="229" idx="1"/>
            <a:endCxn id="230" idx="3"/>
          </p:cNvCxnSpPr>
          <p:nvPr/>
        </p:nvCxnSpPr>
        <p:spPr>
          <a:xfrm rot="10800000">
            <a:off x="5278600" y="3817650"/>
            <a:ext cx="1710300" cy="0"/>
          </a:xfrm>
          <a:prstGeom prst="straightConnector1">
            <a:avLst/>
          </a:prstGeom>
          <a:noFill/>
          <a:ln cap="flat" cmpd="sng" w="9525">
            <a:solidFill>
              <a:schemeClr val="dk2"/>
            </a:solidFill>
            <a:prstDash val="solid"/>
            <a:round/>
            <a:headEnd len="sm" w="sm" type="none"/>
            <a:tailEnd len="med" w="med" type="triangle"/>
          </a:ln>
        </p:spPr>
      </p:cxnSp>
      <p:cxnSp>
        <p:nvCxnSpPr>
          <p:cNvPr id="236" name="Google Shape;236;p26"/>
          <p:cNvCxnSpPr>
            <a:stCxn id="230" idx="1"/>
            <a:endCxn id="231" idx="3"/>
          </p:cNvCxnSpPr>
          <p:nvPr/>
        </p:nvCxnSpPr>
        <p:spPr>
          <a:xfrm rot="10800000">
            <a:off x="2224525" y="3817650"/>
            <a:ext cx="1532400" cy="0"/>
          </a:xfrm>
          <a:prstGeom prst="straightConnector1">
            <a:avLst/>
          </a:prstGeom>
          <a:noFill/>
          <a:ln cap="flat" cmpd="sng" w="9525">
            <a:solidFill>
              <a:schemeClr val="dk2"/>
            </a:solidFill>
            <a:prstDash val="solid"/>
            <a:round/>
            <a:headEnd len="sm" w="sm" type="none"/>
            <a:tailEnd len="med" w="med" type="triangle"/>
          </a:ln>
        </p:spPr>
      </p:cxnSp>
      <p:cxnSp>
        <p:nvCxnSpPr>
          <p:cNvPr id="237" name="Google Shape;237;p26"/>
          <p:cNvCxnSpPr>
            <a:stCxn id="225" idx="3"/>
            <a:endCxn id="226" idx="1"/>
          </p:cNvCxnSpPr>
          <p:nvPr/>
        </p:nvCxnSpPr>
        <p:spPr>
          <a:xfrm>
            <a:off x="2100025" y="1726425"/>
            <a:ext cx="597600" cy="0"/>
          </a:xfrm>
          <a:prstGeom prst="straightConnector1">
            <a:avLst/>
          </a:prstGeom>
          <a:noFill/>
          <a:ln cap="flat" cmpd="sng" w="9525">
            <a:solidFill>
              <a:schemeClr val="dk2"/>
            </a:solidFill>
            <a:prstDash val="solid"/>
            <a:round/>
            <a:headEnd len="sm" w="sm" type="none"/>
            <a:tailEnd len="med" w="med" type="triangle"/>
          </a:ln>
        </p:spPr>
      </p:cxnSp>
      <p:sp>
        <p:nvSpPr>
          <p:cNvPr id="238" name="Google Shape;238;p26"/>
          <p:cNvSpPr txBox="1"/>
          <p:nvPr/>
        </p:nvSpPr>
        <p:spPr>
          <a:xfrm>
            <a:off x="827600" y="2400275"/>
            <a:ext cx="63627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1400"/>
              </a:spcAft>
              <a:buClr>
                <a:srgbClr val="000000"/>
              </a:buClr>
              <a:buSzPts val="1100"/>
              <a:buFont typeface="Arial"/>
              <a:buNone/>
            </a:pPr>
            <a:r>
              <a:rPr b="0" i="0" lang="ca" sz="1100" u="none" cap="none" strike="noStrike">
                <a:solidFill>
                  <a:schemeClr val="dk1"/>
                </a:solidFill>
                <a:highlight>
                  <a:srgbClr val="D1D1D1"/>
                </a:highlight>
                <a:latin typeface="Arial"/>
                <a:ea typeface="Arial"/>
                <a:cs typeface="Arial"/>
                <a:sym typeface="Arial"/>
              </a:rPr>
              <a:t>La descomposició inicial d’un problema mitjançant l’orientació a objectes no ha d’explicitar mai la interfície d’usuari a emprar. Només es defineix la lògica interna del sistema i com s’estructura la informació a processar. Això és el que s’anomena el </a:t>
            </a:r>
            <a:r>
              <a:rPr b="1" i="0" lang="ca" sz="1100" u="none" cap="none" strike="noStrike">
                <a:solidFill>
                  <a:schemeClr val="dk1"/>
                </a:solidFill>
                <a:highlight>
                  <a:srgbClr val="D1D1D1"/>
                </a:highlight>
                <a:latin typeface="Arial"/>
                <a:ea typeface="Arial"/>
                <a:cs typeface="Arial"/>
                <a:sym typeface="Arial"/>
              </a:rPr>
              <a:t>model </a:t>
            </a:r>
            <a:r>
              <a:rPr b="0" i="0" lang="ca" sz="1100" u="none" cap="none" strike="noStrike">
                <a:solidFill>
                  <a:schemeClr val="dk1"/>
                </a:solidFill>
                <a:highlight>
                  <a:srgbClr val="D1D1D1"/>
                </a:highlight>
                <a:latin typeface="Arial"/>
                <a:ea typeface="Arial"/>
                <a:cs typeface="Arial"/>
                <a:sym typeface="Arial"/>
              </a:rPr>
              <a:t>de l’aplicació.</a:t>
            </a:r>
            <a:endParaRPr b="0" i="0" sz="1100" u="none" cap="none" strike="noStrike">
              <a:solidFill>
                <a:schemeClr val="dk1"/>
              </a:solidFill>
              <a:highlight>
                <a:srgbClr val="D1D1D1"/>
              </a:highlight>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b="1" lang="ca" sz="2533">
                <a:solidFill>
                  <a:srgbClr val="339933"/>
                </a:solidFill>
              </a:rPr>
              <a:t>Exemples</a:t>
            </a:r>
            <a:r>
              <a:rPr lang="ca"/>
              <a:t> </a:t>
            </a:r>
            <a:r>
              <a:rPr b="1" lang="ca" sz="2533">
                <a:solidFill>
                  <a:srgbClr val="339933"/>
                </a:solidFill>
              </a:rPr>
              <a:t>tractament objectes</a:t>
            </a:r>
            <a:endParaRPr b="1" sz="2533">
              <a:solidFill>
                <a:srgbClr val="339933"/>
              </a:solidFill>
            </a:endParaRPr>
          </a:p>
        </p:txBody>
      </p:sp>
      <p:sp>
        <p:nvSpPr>
          <p:cNvPr id="244" name="Google Shape;244;p27"/>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ca"/>
              <a:t>Una agenda</a:t>
            </a:r>
            <a:endParaRPr b="1"/>
          </a:p>
        </p:txBody>
      </p:sp>
      <p:pic>
        <p:nvPicPr>
          <p:cNvPr id="245" name="Google Shape;245;p27"/>
          <p:cNvPicPr preferRelativeResize="0"/>
          <p:nvPr/>
        </p:nvPicPr>
        <p:blipFill rotWithShape="1">
          <a:blip r:embed="rId3">
            <a:alphaModFix/>
          </a:blip>
          <a:srcRect b="0" l="0" r="0" t="0"/>
          <a:stretch/>
        </p:blipFill>
        <p:spPr>
          <a:xfrm>
            <a:off x="276025" y="2185225"/>
            <a:ext cx="4734775" cy="2121425"/>
          </a:xfrm>
          <a:prstGeom prst="rect">
            <a:avLst/>
          </a:prstGeom>
          <a:noFill/>
          <a:ln>
            <a:noFill/>
          </a:ln>
        </p:spPr>
      </p:pic>
      <p:pic>
        <p:nvPicPr>
          <p:cNvPr id="246" name="Google Shape;246;p27"/>
          <p:cNvPicPr preferRelativeResize="0"/>
          <p:nvPr/>
        </p:nvPicPr>
        <p:blipFill rotWithShape="1">
          <a:blip r:embed="rId4">
            <a:alphaModFix/>
          </a:blip>
          <a:srcRect b="0" l="0" r="0" t="0"/>
          <a:stretch/>
        </p:blipFill>
        <p:spPr>
          <a:xfrm>
            <a:off x="5099000" y="2185225"/>
            <a:ext cx="2846676" cy="959700"/>
          </a:xfrm>
          <a:prstGeom prst="rect">
            <a:avLst/>
          </a:prstGeom>
          <a:noFill/>
          <a:ln>
            <a:noFill/>
          </a:ln>
        </p:spPr>
      </p:pic>
      <p:pic>
        <p:nvPicPr>
          <p:cNvPr id="247" name="Google Shape;247;p27"/>
          <p:cNvPicPr preferRelativeResize="0"/>
          <p:nvPr/>
        </p:nvPicPr>
        <p:blipFill rotWithShape="1">
          <a:blip r:embed="rId5">
            <a:alphaModFix/>
          </a:blip>
          <a:srcRect b="0" l="0" r="0" t="0"/>
          <a:stretch/>
        </p:blipFill>
        <p:spPr>
          <a:xfrm>
            <a:off x="5099000" y="3892276"/>
            <a:ext cx="3211076" cy="776875"/>
          </a:xfrm>
          <a:prstGeom prst="rect">
            <a:avLst/>
          </a:prstGeom>
          <a:noFill/>
          <a:ln>
            <a:noFill/>
          </a:ln>
        </p:spPr>
      </p:pic>
      <p:sp>
        <p:nvSpPr>
          <p:cNvPr id="248" name="Google Shape;248;p27"/>
          <p:cNvSpPr/>
          <p:nvPr/>
        </p:nvSpPr>
        <p:spPr>
          <a:xfrm>
            <a:off x="2131763" y="1713625"/>
            <a:ext cx="1023300" cy="471600"/>
          </a:xfrm>
          <a:prstGeom prst="wedgeRectCallout">
            <a:avLst>
              <a:gd fmla="val -20833" name="adj1"/>
              <a:gd fmla="val 625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Objectes</a:t>
            </a:r>
            <a:endParaRPr b="0" i="0" sz="1400" u="none" cap="none" strike="noStrike">
              <a:solidFill>
                <a:schemeClr val="lt1"/>
              </a:solidFill>
              <a:latin typeface="Arial"/>
              <a:ea typeface="Arial"/>
              <a:cs typeface="Arial"/>
              <a:sym typeface="Arial"/>
            </a:endParaRPr>
          </a:p>
        </p:txBody>
      </p:sp>
      <p:sp>
        <p:nvSpPr>
          <p:cNvPr id="249" name="Google Shape;249;p27"/>
          <p:cNvSpPr/>
          <p:nvPr/>
        </p:nvSpPr>
        <p:spPr>
          <a:xfrm>
            <a:off x="6256975" y="1713625"/>
            <a:ext cx="1023300" cy="471600"/>
          </a:xfrm>
          <a:prstGeom prst="wedgeRectCallout">
            <a:avLst>
              <a:gd fmla="val -20833" name="adj1"/>
              <a:gd fmla="val 625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Atributs</a:t>
            </a:r>
            <a:endParaRPr b="0" i="0" sz="1400" u="none" cap="none" strike="noStrike">
              <a:solidFill>
                <a:schemeClr val="lt1"/>
              </a:solidFill>
              <a:latin typeface="Arial"/>
              <a:ea typeface="Arial"/>
              <a:cs typeface="Arial"/>
              <a:sym typeface="Arial"/>
            </a:endParaRPr>
          </a:p>
        </p:txBody>
      </p:sp>
      <p:sp>
        <p:nvSpPr>
          <p:cNvPr id="250" name="Google Shape;250;p27"/>
          <p:cNvSpPr/>
          <p:nvPr/>
        </p:nvSpPr>
        <p:spPr>
          <a:xfrm>
            <a:off x="6256975" y="3282800"/>
            <a:ext cx="1155600" cy="471600"/>
          </a:xfrm>
          <a:prstGeom prst="wedgeRectCallout">
            <a:avLst>
              <a:gd fmla="val -20833" name="adj1"/>
              <a:gd fmla="val 625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Operacions</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b="1" lang="ca" sz="2533">
                <a:solidFill>
                  <a:srgbClr val="339933"/>
                </a:solidFill>
              </a:rPr>
              <a:t>Exercici	1</a:t>
            </a:r>
            <a:endParaRPr b="1" sz="2533">
              <a:solidFill>
                <a:srgbClr val="339933"/>
              </a:solidFill>
            </a:endParaRPr>
          </a:p>
        </p:txBody>
      </p:sp>
      <p:sp>
        <p:nvSpPr>
          <p:cNvPr id="256" name="Google Shape;256;p28"/>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ca" sz="2700"/>
              <a:t>Identifica els objectes, atributs i operacions d’un reproductor multimèdia</a:t>
            </a:r>
            <a:endParaRPr sz="27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SzPts val="4200"/>
              <a:buNone/>
            </a:pPr>
            <a:r>
              <a:rPr b="1" lang="ca" sz="2533">
                <a:solidFill>
                  <a:srgbClr val="339933"/>
                </a:solidFill>
              </a:rPr>
              <a:t>Sol·lució exercici 1</a:t>
            </a:r>
            <a:endParaRPr b="1" sz="2533">
              <a:solidFill>
                <a:srgbClr val="339933"/>
              </a:solidFill>
            </a:endParaRPr>
          </a:p>
        </p:txBody>
      </p:sp>
      <p:sp>
        <p:nvSpPr>
          <p:cNvPr id="262" name="Google Shape;262;p29"/>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ca"/>
              <a:t>Reproductor multimèdia</a:t>
            </a:r>
            <a:endParaRPr b="1"/>
          </a:p>
        </p:txBody>
      </p:sp>
      <p:sp>
        <p:nvSpPr>
          <p:cNvPr id="263" name="Google Shape;263;p29"/>
          <p:cNvSpPr/>
          <p:nvPr/>
        </p:nvSpPr>
        <p:spPr>
          <a:xfrm>
            <a:off x="2131763" y="1713625"/>
            <a:ext cx="1023300" cy="471600"/>
          </a:xfrm>
          <a:prstGeom prst="wedgeRectCallout">
            <a:avLst>
              <a:gd fmla="val -20833" name="adj1"/>
              <a:gd fmla="val 625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Objectes</a:t>
            </a:r>
            <a:endParaRPr b="0" i="0" sz="1400" u="none" cap="none" strike="noStrike">
              <a:solidFill>
                <a:schemeClr val="lt1"/>
              </a:solidFill>
              <a:latin typeface="Arial"/>
              <a:ea typeface="Arial"/>
              <a:cs typeface="Arial"/>
              <a:sym typeface="Arial"/>
            </a:endParaRPr>
          </a:p>
        </p:txBody>
      </p:sp>
      <p:sp>
        <p:nvSpPr>
          <p:cNvPr id="264" name="Google Shape;264;p29"/>
          <p:cNvSpPr/>
          <p:nvPr/>
        </p:nvSpPr>
        <p:spPr>
          <a:xfrm>
            <a:off x="7226875" y="2926850"/>
            <a:ext cx="1155600" cy="471600"/>
          </a:xfrm>
          <a:prstGeom prst="wedgeRectCallout">
            <a:avLst>
              <a:gd fmla="val -20833" name="adj1"/>
              <a:gd fmla="val 625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Operacions</a:t>
            </a:r>
            <a:endParaRPr b="0" i="0" sz="1400" u="none" cap="none" strike="noStrike">
              <a:solidFill>
                <a:schemeClr val="lt1"/>
              </a:solidFill>
              <a:latin typeface="Arial"/>
              <a:ea typeface="Arial"/>
              <a:cs typeface="Arial"/>
              <a:sym typeface="Arial"/>
            </a:endParaRPr>
          </a:p>
        </p:txBody>
      </p:sp>
      <p:sp>
        <p:nvSpPr>
          <p:cNvPr id="265" name="Google Shape;265;p29"/>
          <p:cNvSpPr/>
          <p:nvPr/>
        </p:nvSpPr>
        <p:spPr>
          <a:xfrm>
            <a:off x="6203575" y="1304300"/>
            <a:ext cx="1023300" cy="471600"/>
          </a:xfrm>
          <a:prstGeom prst="wedgeRectCallout">
            <a:avLst>
              <a:gd fmla="val -20833" name="adj1"/>
              <a:gd fmla="val 625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ca" sz="1400" u="none" cap="none" strike="noStrike">
                <a:solidFill>
                  <a:schemeClr val="lt1"/>
                </a:solidFill>
                <a:latin typeface="Arial"/>
                <a:ea typeface="Arial"/>
                <a:cs typeface="Arial"/>
                <a:sym typeface="Arial"/>
              </a:rPr>
              <a:t>Atributs</a:t>
            </a:r>
            <a:endParaRPr b="0" i="0" sz="1400" u="none" cap="none" strike="noStrike">
              <a:solidFill>
                <a:schemeClr val="lt1"/>
              </a:solidFill>
              <a:latin typeface="Arial"/>
              <a:ea typeface="Arial"/>
              <a:cs typeface="Arial"/>
              <a:sym typeface="Arial"/>
            </a:endParaRPr>
          </a:p>
        </p:txBody>
      </p:sp>
      <p:pic>
        <p:nvPicPr>
          <p:cNvPr id="266" name="Google Shape;266;p29"/>
          <p:cNvPicPr preferRelativeResize="0"/>
          <p:nvPr/>
        </p:nvPicPr>
        <p:blipFill rotWithShape="1">
          <a:blip r:embed="rId3">
            <a:alphaModFix/>
          </a:blip>
          <a:srcRect b="0" l="0" r="0" t="0"/>
          <a:stretch/>
        </p:blipFill>
        <p:spPr>
          <a:xfrm>
            <a:off x="311700" y="2270225"/>
            <a:ext cx="4375763" cy="2308999"/>
          </a:xfrm>
          <a:prstGeom prst="rect">
            <a:avLst/>
          </a:prstGeom>
          <a:noFill/>
          <a:ln>
            <a:noFill/>
          </a:ln>
        </p:spPr>
      </p:pic>
      <p:pic>
        <p:nvPicPr>
          <p:cNvPr id="267" name="Google Shape;267;p29"/>
          <p:cNvPicPr preferRelativeResize="0"/>
          <p:nvPr/>
        </p:nvPicPr>
        <p:blipFill rotWithShape="1">
          <a:blip r:embed="rId4">
            <a:alphaModFix/>
          </a:blip>
          <a:srcRect b="0" l="0" r="0" t="0"/>
          <a:stretch/>
        </p:blipFill>
        <p:spPr>
          <a:xfrm>
            <a:off x="4948263" y="1836300"/>
            <a:ext cx="3533925" cy="1090550"/>
          </a:xfrm>
          <a:prstGeom prst="rect">
            <a:avLst/>
          </a:prstGeom>
          <a:noFill/>
          <a:ln>
            <a:noFill/>
          </a:ln>
        </p:spPr>
      </p:pic>
      <p:pic>
        <p:nvPicPr>
          <p:cNvPr id="268" name="Google Shape;268;p29"/>
          <p:cNvPicPr preferRelativeResize="0"/>
          <p:nvPr/>
        </p:nvPicPr>
        <p:blipFill rotWithShape="1">
          <a:blip r:embed="rId5">
            <a:alphaModFix/>
          </a:blip>
          <a:srcRect b="0" l="0" r="0" t="0"/>
          <a:stretch/>
        </p:blipFill>
        <p:spPr>
          <a:xfrm>
            <a:off x="4948275" y="3557199"/>
            <a:ext cx="3533901" cy="11462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SzPts val="4200"/>
              <a:buNone/>
            </a:pPr>
            <a:r>
              <a:rPr b="1" lang="ca" sz="2533">
                <a:solidFill>
                  <a:srgbClr val="339933"/>
                </a:solidFill>
              </a:rPr>
              <a:t>Mapes d’objectes</a:t>
            </a:r>
            <a:endParaRPr b="1" sz="2533">
              <a:solidFill>
                <a:srgbClr val="339933"/>
              </a:solidFill>
            </a:endParaRPr>
          </a:p>
        </p:txBody>
      </p:sp>
      <p:sp>
        <p:nvSpPr>
          <p:cNvPr id="274" name="Google Shape;274;p3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lnSpcReduction="10000"/>
          </a:bodyPr>
          <a:lstStyle/>
          <a:p>
            <a:pPr indent="-298450" lvl="0" marL="457200" rtl="0" algn="l">
              <a:lnSpc>
                <a:spcPct val="115000"/>
              </a:lnSpc>
              <a:spcBef>
                <a:spcPts val="1800"/>
              </a:spcBef>
              <a:spcAft>
                <a:spcPts val="0"/>
              </a:spcAft>
              <a:buSzPts val="1100"/>
              <a:buFont typeface="Arial"/>
              <a:buChar char="●"/>
            </a:pPr>
            <a:r>
              <a:rPr lang="ca" sz="1100">
                <a:latin typeface="Arial"/>
                <a:ea typeface="Arial"/>
                <a:cs typeface="Arial"/>
                <a:sym typeface="Arial"/>
              </a:rPr>
              <a:t>En un </a:t>
            </a:r>
            <a:r>
              <a:rPr b="1" lang="ca" sz="1100">
                <a:latin typeface="Arial"/>
                <a:ea typeface="Arial"/>
                <a:cs typeface="Arial"/>
                <a:sym typeface="Arial"/>
              </a:rPr>
              <a:t>mapa d’objectes </a:t>
            </a:r>
            <a:r>
              <a:rPr lang="ca" sz="1100">
                <a:latin typeface="Arial"/>
                <a:ea typeface="Arial"/>
                <a:cs typeface="Arial"/>
                <a:sym typeface="Arial"/>
              </a:rPr>
              <a:t>es mostren tots els objectes instanciats i els enllaços que hi ha entre ells en un moment determinat de l’execució, de manera coherent amb el que s’espera de l’aplica</a:t>
            </a:r>
            <a:endParaRPr sz="1100">
              <a:latin typeface="Arial"/>
              <a:ea typeface="Arial"/>
              <a:cs typeface="Arial"/>
              <a:sym typeface="Arial"/>
            </a:endParaRPr>
          </a:p>
          <a:p>
            <a:pPr indent="-298450" lvl="0" marL="457200" rtl="0" algn="l">
              <a:lnSpc>
                <a:spcPct val="115000"/>
              </a:lnSpc>
              <a:spcBef>
                <a:spcPts val="1800"/>
              </a:spcBef>
              <a:spcAft>
                <a:spcPts val="0"/>
              </a:spcAft>
              <a:buSzPts val="1100"/>
              <a:buFont typeface="Arial"/>
              <a:buChar char="●"/>
            </a:pPr>
            <a:r>
              <a:rPr lang="ca" sz="1100">
                <a:latin typeface="Arial"/>
                <a:ea typeface="Arial"/>
                <a:cs typeface="Arial"/>
                <a:sym typeface="Arial"/>
              </a:rPr>
              <a:t>Només són una eina de suport, i no s’utilitzen com a mecanisme formal per representar el disseny d’una aplicació.</a:t>
            </a:r>
            <a:endParaRPr sz="1100">
              <a:latin typeface="Arial"/>
              <a:ea typeface="Arial"/>
              <a:cs typeface="Arial"/>
              <a:sym typeface="Arial"/>
            </a:endParaRPr>
          </a:p>
          <a:p>
            <a:pPr indent="-298450" lvl="0" marL="457200" rtl="0" algn="l">
              <a:lnSpc>
                <a:spcPct val="115000"/>
              </a:lnSpc>
              <a:spcBef>
                <a:spcPts val="1800"/>
              </a:spcBef>
              <a:spcAft>
                <a:spcPts val="0"/>
              </a:spcAft>
              <a:buSzPts val="1100"/>
              <a:buFont typeface="Arial"/>
              <a:buChar char="●"/>
            </a:pPr>
            <a:r>
              <a:rPr lang="ca" sz="1100">
                <a:latin typeface="Arial"/>
                <a:ea typeface="Arial"/>
                <a:cs typeface="Arial"/>
                <a:sym typeface="Arial"/>
              </a:rPr>
              <a:t>Perquè dos objectes puguin interactuar entre ells durant l’execució d’un programa, han d’estar </a:t>
            </a:r>
            <a:r>
              <a:rPr b="1" lang="ca" sz="1100">
                <a:latin typeface="Arial"/>
                <a:ea typeface="Arial"/>
                <a:cs typeface="Arial"/>
                <a:sym typeface="Arial"/>
              </a:rPr>
              <a:t>enllaçats</a:t>
            </a:r>
            <a:endParaRPr b="1" sz="1100">
              <a:latin typeface="Arial"/>
              <a:ea typeface="Arial"/>
              <a:cs typeface="Arial"/>
              <a:sym typeface="Arial"/>
            </a:endParaRPr>
          </a:p>
          <a:p>
            <a:pPr indent="-298450" lvl="0" marL="457200" rtl="0" algn="l">
              <a:lnSpc>
                <a:spcPct val="115000"/>
              </a:lnSpc>
              <a:spcBef>
                <a:spcPts val="1800"/>
              </a:spcBef>
              <a:spcAft>
                <a:spcPts val="0"/>
              </a:spcAft>
              <a:buSzPts val="1100"/>
              <a:buFont typeface="Arial"/>
              <a:buChar char="●"/>
            </a:pPr>
            <a:r>
              <a:rPr lang="ca" sz="1100">
                <a:latin typeface="Arial"/>
                <a:ea typeface="Arial"/>
                <a:cs typeface="Arial"/>
                <a:sym typeface="Arial"/>
              </a:rPr>
              <a:t>El mapa d’objectes indica de quina manera poden estar enllaçats els objectes identificats perquè l’aplicació funcioni i es consideri correcta</a:t>
            </a:r>
            <a:endParaRPr sz="1100">
              <a:latin typeface="Arial"/>
              <a:ea typeface="Arial"/>
              <a:cs typeface="Arial"/>
              <a:sym typeface="Arial"/>
            </a:endParaRPr>
          </a:p>
          <a:p>
            <a:pPr indent="-298450" lvl="0" marL="457200" rtl="0" algn="l">
              <a:lnSpc>
                <a:spcPct val="115000"/>
              </a:lnSpc>
              <a:spcBef>
                <a:spcPts val="1800"/>
              </a:spcBef>
              <a:spcAft>
                <a:spcPts val="0"/>
              </a:spcAft>
              <a:buSzPts val="1100"/>
              <a:buFont typeface="Arial"/>
              <a:buChar char="●"/>
            </a:pPr>
            <a:r>
              <a:rPr lang="ca" sz="1100">
                <a:latin typeface="Arial"/>
                <a:ea typeface="Arial"/>
                <a:cs typeface="Arial"/>
                <a:sym typeface="Arial"/>
              </a:rPr>
              <a:t>Exemple Mapa d’Objectes Agenda</a:t>
            </a:r>
            <a:endParaRPr sz="1100">
              <a:latin typeface="Arial"/>
              <a:ea typeface="Arial"/>
              <a:cs typeface="Arial"/>
              <a:sym typeface="Arial"/>
            </a:endParaRPr>
          </a:p>
          <a:p>
            <a:pPr indent="0" lvl="0" marL="0" rtl="0" algn="l">
              <a:lnSpc>
                <a:spcPct val="115000"/>
              </a:lnSpc>
              <a:spcBef>
                <a:spcPts val="1800"/>
              </a:spcBef>
              <a:spcAft>
                <a:spcPts val="0"/>
              </a:spcAft>
              <a:buSzPts val="1800"/>
              <a:buNone/>
            </a:pPr>
            <a:r>
              <a:t/>
            </a:r>
            <a:endParaRPr sz="1100">
              <a:latin typeface="Arial"/>
              <a:ea typeface="Arial"/>
              <a:cs typeface="Arial"/>
              <a:sym typeface="Arial"/>
            </a:endParaRPr>
          </a:p>
          <a:p>
            <a:pPr indent="0" lvl="0" marL="0" rtl="0" algn="l">
              <a:lnSpc>
                <a:spcPct val="115000"/>
              </a:lnSpc>
              <a:spcBef>
                <a:spcPts val="1800"/>
              </a:spcBef>
              <a:spcAft>
                <a:spcPts val="0"/>
              </a:spcAft>
              <a:buSzPts val="1800"/>
              <a:buNone/>
            </a:pPr>
            <a:r>
              <a:t/>
            </a:r>
            <a:endParaRPr/>
          </a:p>
        </p:txBody>
      </p:sp>
      <p:pic>
        <p:nvPicPr>
          <p:cNvPr id="275" name="Google Shape;275;p30"/>
          <p:cNvPicPr preferRelativeResize="0"/>
          <p:nvPr/>
        </p:nvPicPr>
        <p:blipFill rotWithShape="1">
          <a:blip r:embed="rId3">
            <a:alphaModFix/>
          </a:blip>
          <a:srcRect b="0" l="0" r="0" t="0"/>
          <a:stretch/>
        </p:blipFill>
        <p:spPr>
          <a:xfrm>
            <a:off x="4417650" y="3030650"/>
            <a:ext cx="4052375" cy="1877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SzPts val="4200"/>
              <a:buNone/>
            </a:pPr>
            <a:r>
              <a:rPr b="1" lang="ca" sz="2533">
                <a:solidFill>
                  <a:srgbClr val="339933"/>
                </a:solidFill>
              </a:rPr>
              <a:t>Exercici	2</a:t>
            </a:r>
            <a:endParaRPr b="1" sz="2533">
              <a:solidFill>
                <a:srgbClr val="339933"/>
              </a:solidFill>
            </a:endParaRPr>
          </a:p>
        </p:txBody>
      </p:sp>
      <p:sp>
        <p:nvSpPr>
          <p:cNvPr id="281" name="Google Shape;281;p3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ca" sz="2100"/>
              <a:t>Realitza el mapa d’objectes d’un reproductor multimèdia amb dos altaveus, de manera que es pot controlar el mode mono o l’estèreo</a:t>
            </a:r>
            <a:endParaRPr sz="2100"/>
          </a:p>
          <a:p>
            <a:pPr indent="0" lvl="0" marL="0" rtl="0" algn="l">
              <a:lnSpc>
                <a:spcPct val="115000"/>
              </a:lnSpc>
              <a:spcBef>
                <a:spcPts val="0"/>
              </a:spcBef>
              <a:spcAft>
                <a:spcPts val="0"/>
              </a:spcAft>
              <a:buSzPts val="1800"/>
              <a:buNone/>
            </a:pPr>
            <a:r>
              <a:t/>
            </a:r>
            <a:endParaRPr sz="2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SzPts val="4200"/>
              <a:buNone/>
            </a:pPr>
            <a:r>
              <a:rPr b="1" lang="ca" sz="2533">
                <a:solidFill>
                  <a:srgbClr val="339933"/>
                </a:solidFill>
              </a:rPr>
              <a:t>Sol·lució exercici 2</a:t>
            </a:r>
            <a:endParaRPr b="1" sz="2533">
              <a:solidFill>
                <a:srgbClr val="339933"/>
              </a:solidFill>
            </a:endParaRPr>
          </a:p>
        </p:txBody>
      </p:sp>
      <p:sp>
        <p:nvSpPr>
          <p:cNvPr id="287" name="Google Shape;287;p32"/>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ca"/>
              <a:t>Reproductor multimèdia</a:t>
            </a:r>
            <a:endParaRPr b="1"/>
          </a:p>
        </p:txBody>
      </p:sp>
      <p:pic>
        <p:nvPicPr>
          <p:cNvPr id="288" name="Google Shape;288;p32"/>
          <p:cNvPicPr preferRelativeResize="0"/>
          <p:nvPr/>
        </p:nvPicPr>
        <p:blipFill rotWithShape="1">
          <a:blip r:embed="rId3">
            <a:alphaModFix/>
          </a:blip>
          <a:srcRect b="0" l="0" r="0" t="0"/>
          <a:stretch/>
        </p:blipFill>
        <p:spPr>
          <a:xfrm>
            <a:off x="3603625" y="1050050"/>
            <a:ext cx="4309224" cy="38531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696" u="none" cap="none" strike="noStrike">
                <a:solidFill>
                  <a:srgbClr val="339933"/>
                </a:solidFill>
                <a:latin typeface="Arial"/>
                <a:ea typeface="Arial"/>
                <a:cs typeface="Arial"/>
                <a:sym typeface="Arial"/>
              </a:rPr>
              <a:t>4. La consola: entrada i sortida</a:t>
            </a:r>
            <a:endParaRPr/>
          </a:p>
        </p:txBody>
      </p:sp>
      <p:sp>
        <p:nvSpPr>
          <p:cNvPr id="294" name="Google Shape;294;p33"/>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501677" lvl="0" marL="512062" marR="0" rtl="0" algn="l">
              <a:lnSpc>
                <a:spcPct val="80000"/>
              </a:lnSpc>
              <a:spcBef>
                <a:spcPts val="0"/>
              </a:spcBef>
              <a:spcAft>
                <a:spcPts val="0"/>
              </a:spcAft>
              <a:buClr>
                <a:srgbClr val="000000"/>
              </a:buClr>
              <a:buSzPts val="1755"/>
              <a:buFont typeface="Arial"/>
              <a:buChar char="•"/>
            </a:pPr>
            <a:r>
              <a:rPr b="1" i="0" lang="ca" sz="1754" u="none" cap="none" strike="noStrike">
                <a:solidFill>
                  <a:srgbClr val="000000"/>
                </a:solidFill>
                <a:latin typeface="Calibri"/>
                <a:ea typeface="Calibri"/>
                <a:cs typeface="Calibri"/>
                <a:sym typeface="Calibri"/>
              </a:rPr>
              <a:t>System.out</a:t>
            </a:r>
            <a:r>
              <a:rPr i="0" lang="ca" sz="1754" u="none" cap="none" strike="noStrike">
                <a:solidFill>
                  <a:srgbClr val="000000"/>
                </a:solidFill>
                <a:latin typeface="Calibri"/>
                <a:ea typeface="Calibri"/>
                <a:cs typeface="Calibri"/>
                <a:sym typeface="Calibri"/>
              </a:rPr>
              <a:t>: Sortida</a:t>
            </a:r>
            <a:endParaRPr sz="1690">
              <a:latin typeface="Calibri"/>
              <a:ea typeface="Calibri"/>
              <a:cs typeface="Calibri"/>
              <a:sym typeface="Calibri"/>
            </a:endParaRPr>
          </a:p>
          <a:p>
            <a:pPr indent="-501677" lvl="0" marL="512062" marR="0" rtl="0" algn="l">
              <a:lnSpc>
                <a:spcPct val="80000"/>
              </a:lnSpc>
              <a:spcBef>
                <a:spcPts val="400"/>
              </a:spcBef>
              <a:spcAft>
                <a:spcPts val="0"/>
              </a:spcAft>
              <a:buClr>
                <a:srgbClr val="000000"/>
              </a:buClr>
              <a:buSzPts val="1755"/>
              <a:buFont typeface="Arial"/>
              <a:buChar char="•"/>
            </a:pPr>
            <a:r>
              <a:rPr b="1" i="0" lang="ca" sz="1754" u="none" cap="none" strike="noStrike">
                <a:solidFill>
                  <a:srgbClr val="000000"/>
                </a:solidFill>
                <a:latin typeface="Calibri"/>
                <a:ea typeface="Calibri"/>
                <a:cs typeface="Calibri"/>
                <a:sym typeface="Calibri"/>
              </a:rPr>
              <a:t>System.in</a:t>
            </a:r>
            <a:r>
              <a:rPr i="0" lang="ca" sz="1754" u="none" cap="none" strike="noStrike">
                <a:solidFill>
                  <a:srgbClr val="000000"/>
                </a:solidFill>
                <a:latin typeface="Calibri"/>
                <a:ea typeface="Calibri"/>
                <a:cs typeface="Calibri"/>
                <a:sym typeface="Calibri"/>
              </a:rPr>
              <a:t>: Entrada</a:t>
            </a:r>
            <a:endParaRPr sz="1690">
              <a:latin typeface="Calibri"/>
              <a:ea typeface="Calibri"/>
              <a:cs typeface="Calibri"/>
              <a:sym typeface="Calibri"/>
            </a:endParaRPr>
          </a:p>
          <a:p>
            <a:pPr indent="-512062" lvl="0" marL="512062" marR="0" rtl="0" algn="l">
              <a:lnSpc>
                <a:spcPct val="80000"/>
              </a:lnSpc>
              <a:spcBef>
                <a:spcPts val="700"/>
              </a:spcBef>
              <a:spcAft>
                <a:spcPts val="0"/>
              </a:spcAft>
              <a:buClr>
                <a:srgbClr val="000000"/>
              </a:buClr>
              <a:buSzPts val="1055"/>
              <a:buFont typeface="Arial"/>
              <a:buNone/>
            </a:pPr>
            <a:r>
              <a:t/>
            </a:r>
            <a:endParaRPr i="0" sz="1754" u="none" cap="none" strike="noStrike">
              <a:solidFill>
                <a:srgbClr val="000000"/>
              </a:solidFill>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b="1" i="0" lang="ca" sz="1754" u="none" cap="none" strike="noStrike">
                <a:solidFill>
                  <a:srgbClr val="000000"/>
                </a:solidFill>
                <a:latin typeface="Calibri"/>
                <a:ea typeface="Calibri"/>
                <a:cs typeface="Calibri"/>
                <a:sym typeface="Calibri"/>
              </a:rPr>
              <a:t>Exemples</a:t>
            </a:r>
            <a:r>
              <a:rPr i="0" lang="ca" sz="1754" u="none" cap="none" strike="noStrike">
                <a:solidFill>
                  <a:srgbClr val="000000"/>
                </a:solidFill>
                <a:latin typeface="Calibri"/>
                <a:ea typeface="Calibri"/>
                <a:cs typeface="Calibri"/>
                <a:sym typeface="Calibri"/>
              </a:rPr>
              <a:t>:</a:t>
            </a:r>
            <a:endParaRPr sz="1690">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b="1" i="0" lang="ca" sz="1754" u="none" cap="none" strike="noStrike">
                <a:solidFill>
                  <a:srgbClr val="000000"/>
                </a:solidFill>
                <a:latin typeface="Calibri"/>
                <a:ea typeface="Calibri"/>
                <a:cs typeface="Calibri"/>
                <a:sym typeface="Calibri"/>
              </a:rPr>
              <a:t>Llegir un caràcter de la consola</a:t>
            </a:r>
            <a:endParaRPr sz="1690">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i="0" lang="ca" sz="1754" u="none" cap="none" strike="noStrike">
                <a:solidFill>
                  <a:srgbClr val="000000"/>
                </a:solidFill>
                <a:latin typeface="Calibri"/>
                <a:ea typeface="Calibri"/>
                <a:cs typeface="Calibri"/>
                <a:sym typeface="Calibri"/>
              </a:rPr>
              <a:t>c = (char) System.in.read();</a:t>
            </a:r>
            <a:endParaRPr sz="1690">
              <a:latin typeface="Calibri"/>
              <a:ea typeface="Calibri"/>
              <a:cs typeface="Calibri"/>
              <a:sym typeface="Calibri"/>
            </a:endParaRPr>
          </a:p>
          <a:p>
            <a:pPr indent="-512062" lvl="0" marL="512062" marR="0" rtl="0" algn="l">
              <a:lnSpc>
                <a:spcPct val="80000"/>
              </a:lnSpc>
              <a:spcBef>
                <a:spcPts val="700"/>
              </a:spcBef>
              <a:spcAft>
                <a:spcPts val="0"/>
              </a:spcAft>
              <a:buClr>
                <a:srgbClr val="000000"/>
              </a:buClr>
              <a:buSzPts val="1055"/>
              <a:buFont typeface="Arial"/>
              <a:buNone/>
            </a:pPr>
            <a:r>
              <a:t/>
            </a:r>
            <a:endParaRPr i="0" sz="1754" u="none" cap="none" strike="noStrike">
              <a:solidFill>
                <a:srgbClr val="000000"/>
              </a:solidFill>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b="1" i="0" lang="ca" sz="1754" u="none" cap="none" strike="noStrike">
                <a:solidFill>
                  <a:srgbClr val="000000"/>
                </a:solidFill>
                <a:latin typeface="Calibri"/>
                <a:ea typeface="Calibri"/>
                <a:cs typeface="Calibri"/>
                <a:sym typeface="Calibri"/>
              </a:rPr>
              <a:t>Llegir una cadena amb BufferedReader</a:t>
            </a:r>
            <a:endParaRPr sz="1690">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i="0" lang="ca" sz="1754" u="none" cap="none" strike="noStrike">
                <a:solidFill>
                  <a:srgbClr val="000000"/>
                </a:solidFill>
                <a:latin typeface="Calibri"/>
                <a:ea typeface="Calibri"/>
                <a:cs typeface="Calibri"/>
                <a:sym typeface="Calibri"/>
              </a:rPr>
              <a:t>//Cream el "lector"</a:t>
            </a:r>
            <a:endParaRPr sz="1690">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i="0" lang="ca" sz="1754" u="none" cap="none" strike="noStrike">
                <a:solidFill>
                  <a:srgbClr val="000000"/>
                </a:solidFill>
                <a:latin typeface="Calibri"/>
                <a:ea typeface="Calibri"/>
                <a:cs typeface="Calibri"/>
                <a:sym typeface="Calibri"/>
              </a:rPr>
              <a:t>InputStreamReader isr = new InputStreamReader (System.in);</a:t>
            </a:r>
            <a:endParaRPr sz="1690">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i="0" lang="ca" sz="1754" u="none" cap="none" strike="noStrike">
                <a:solidFill>
                  <a:srgbClr val="000000"/>
                </a:solidFill>
                <a:latin typeface="Calibri"/>
                <a:ea typeface="Calibri"/>
                <a:cs typeface="Calibri"/>
                <a:sym typeface="Calibri"/>
              </a:rPr>
              <a:t>BufferedReader br = new BufferedReader (isr);</a:t>
            </a:r>
            <a:endParaRPr sz="1690">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i="0" lang="ca" sz="1754" u="none" cap="none" strike="noStrike">
                <a:solidFill>
                  <a:srgbClr val="000000"/>
                </a:solidFill>
                <a:latin typeface="Calibri"/>
                <a:ea typeface="Calibri"/>
                <a:cs typeface="Calibri"/>
                <a:sym typeface="Calibri"/>
              </a:rPr>
              <a:t>// Llegim una cadena</a:t>
            </a:r>
            <a:endParaRPr sz="1690">
              <a:latin typeface="Calibri"/>
              <a:ea typeface="Calibri"/>
              <a:cs typeface="Calibri"/>
              <a:sym typeface="Calibri"/>
            </a:endParaRPr>
          </a:p>
          <a:p>
            <a:pPr indent="-512062" lvl="0" marL="512062" marR="0" rtl="0" algn="l">
              <a:lnSpc>
                <a:spcPct val="80000"/>
              </a:lnSpc>
              <a:spcBef>
                <a:spcPts val="400"/>
              </a:spcBef>
              <a:spcAft>
                <a:spcPts val="0"/>
              </a:spcAft>
              <a:buClr>
                <a:srgbClr val="000000"/>
              </a:buClr>
              <a:buSzPts val="1055"/>
              <a:buFont typeface="Arial"/>
              <a:buNone/>
            </a:pPr>
            <a:r>
              <a:rPr i="0" lang="ca" sz="1754" u="none" cap="none" strike="noStrike">
                <a:solidFill>
                  <a:srgbClr val="000000"/>
                </a:solidFill>
                <a:latin typeface="Calibri"/>
                <a:ea typeface="Calibri"/>
                <a:cs typeface="Calibri"/>
                <a:sym typeface="Calibri"/>
              </a:rPr>
              <a:t>String nombre = br.readLine();</a:t>
            </a:r>
            <a:endParaRPr sz="1690">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Més exemples</a:t>
            </a:r>
            <a:endParaRPr/>
          </a:p>
        </p:txBody>
      </p:sp>
      <p:sp>
        <p:nvSpPr>
          <p:cNvPr id="300" name="Google Shape;300;p34"/>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rmAutofit/>
          </a:bodyPr>
          <a:lstStyle/>
          <a:p>
            <a:pPr indent="-533400" lvl="0" marL="533400" marR="0" rtl="0" algn="l">
              <a:lnSpc>
                <a:spcPct val="100000"/>
              </a:lnSpc>
              <a:spcBef>
                <a:spcPts val="0"/>
              </a:spcBef>
              <a:spcAft>
                <a:spcPts val="0"/>
              </a:spcAft>
              <a:buClr>
                <a:srgbClr val="000000"/>
              </a:buClr>
              <a:buSzPts val="2000"/>
              <a:buFont typeface="Arial"/>
              <a:buNone/>
            </a:pPr>
            <a:r>
              <a:rPr b="1" i="0" lang="ca" sz="2000" u="none" cap="none" strike="noStrike">
                <a:solidFill>
                  <a:srgbClr val="000000"/>
                </a:solidFill>
                <a:latin typeface="Calibri"/>
                <a:ea typeface="Calibri"/>
                <a:cs typeface="Calibri"/>
                <a:sym typeface="Calibri"/>
              </a:rPr>
              <a:t>Llegir cadenes i enters amb Scanner</a:t>
            </a:r>
            <a:endParaRPr>
              <a:latin typeface="Calibri"/>
              <a:ea typeface="Calibri"/>
              <a:cs typeface="Calibri"/>
              <a:sym typeface="Calibri"/>
            </a:endParaRPr>
          </a:p>
          <a:p>
            <a:pPr indent="-533400" lvl="0" marL="533400" marR="0" rtl="0" algn="l">
              <a:lnSpc>
                <a:spcPct val="100000"/>
              </a:lnSpc>
              <a:spcBef>
                <a:spcPts val="0"/>
              </a:spcBef>
              <a:spcAft>
                <a:spcPts val="0"/>
              </a:spcAft>
              <a:buClr>
                <a:srgbClr val="000000"/>
              </a:buClr>
              <a:buSzPts val="2000"/>
              <a:buFont typeface="Arial"/>
              <a:buNone/>
            </a:pPr>
            <a:r>
              <a:rPr i="0" lang="ca" sz="2000" u="none" cap="none" strike="noStrike">
                <a:solidFill>
                  <a:srgbClr val="000000"/>
                </a:solidFill>
                <a:latin typeface="Calibri"/>
                <a:ea typeface="Calibri"/>
                <a:cs typeface="Calibri"/>
                <a:sym typeface="Calibri"/>
              </a:rPr>
              <a:t>Scanner sc = new Scanner(System.in); //cream el lector        </a:t>
            </a:r>
            <a:endParaRPr>
              <a:latin typeface="Calibri"/>
              <a:ea typeface="Calibri"/>
              <a:cs typeface="Calibri"/>
              <a:sym typeface="Calibri"/>
            </a:endParaRPr>
          </a:p>
          <a:p>
            <a:pPr indent="-533400" lvl="0" marL="533400" marR="0" rtl="0" algn="l">
              <a:lnSpc>
                <a:spcPct val="100000"/>
              </a:lnSpc>
              <a:spcBef>
                <a:spcPts val="0"/>
              </a:spcBef>
              <a:spcAft>
                <a:spcPts val="0"/>
              </a:spcAft>
              <a:buClr>
                <a:srgbClr val="000000"/>
              </a:buClr>
              <a:buSzPts val="2000"/>
              <a:buFont typeface="Arial"/>
              <a:buNone/>
            </a:pPr>
            <a:r>
              <a:rPr i="0" lang="ca" sz="2000" u="none" cap="none" strike="noStrike">
                <a:solidFill>
                  <a:srgbClr val="000000"/>
                </a:solidFill>
                <a:latin typeface="Calibri"/>
                <a:ea typeface="Calibri"/>
                <a:cs typeface="Calibri"/>
                <a:sym typeface="Calibri"/>
              </a:rPr>
              <a:t>String nombre = sc.nextLine();//Llegir una cadena</a:t>
            </a:r>
            <a:endParaRPr>
              <a:latin typeface="Calibri"/>
              <a:ea typeface="Calibri"/>
              <a:cs typeface="Calibri"/>
              <a:sym typeface="Calibri"/>
            </a:endParaRPr>
          </a:p>
          <a:p>
            <a:pPr indent="-533400" lvl="0" marL="533400" marR="0" rtl="0" algn="l">
              <a:lnSpc>
                <a:spcPct val="100000"/>
              </a:lnSpc>
              <a:spcBef>
                <a:spcPts val="0"/>
              </a:spcBef>
              <a:spcAft>
                <a:spcPts val="0"/>
              </a:spcAft>
              <a:buClr>
                <a:srgbClr val="000000"/>
              </a:buClr>
              <a:buSzPts val="2000"/>
              <a:buFont typeface="Arial"/>
              <a:buNone/>
            </a:pPr>
            <a:r>
              <a:rPr i="0" lang="ca" sz="2000" u="none" cap="none" strike="noStrike">
                <a:solidFill>
                  <a:srgbClr val="000000"/>
                </a:solidFill>
                <a:latin typeface="Calibri"/>
                <a:ea typeface="Calibri"/>
                <a:cs typeface="Calibri"/>
                <a:sym typeface="Calibri"/>
              </a:rPr>
              <a:t>int edad = sc.nextInt();//Llegir un int</a:t>
            </a:r>
            <a:endParaRPr>
              <a:latin typeface="Calibri"/>
              <a:ea typeface="Calibri"/>
              <a:cs typeface="Calibri"/>
              <a:sym typeface="Calibri"/>
            </a:endParaRPr>
          </a:p>
          <a:p>
            <a:pPr indent="-533400" lvl="0" marL="533400" marR="0" rtl="0" algn="l">
              <a:lnSpc>
                <a:spcPct val="100000"/>
              </a:lnSpc>
              <a:spcBef>
                <a:spcPts val="0"/>
              </a:spcBef>
              <a:spcAft>
                <a:spcPts val="0"/>
              </a:spcAft>
              <a:buClr>
                <a:srgbClr val="000000"/>
              </a:buClr>
              <a:buSzPts val="2000"/>
              <a:buFont typeface="Arial"/>
              <a:buNone/>
            </a:pPr>
            <a:r>
              <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ca" sz="2000" u="none" cap="none" strike="noStrike">
                <a:solidFill>
                  <a:srgbClr val="000000"/>
                </a:solidFill>
                <a:latin typeface="Calibri"/>
                <a:ea typeface="Calibri"/>
                <a:cs typeface="Calibri"/>
                <a:sym typeface="Calibri"/>
              </a:rPr>
              <a:t>La classe Scanner posseeix un mètode per a la lectura de nombres, text... En canvi la classe BufferedReader no.</a:t>
            </a:r>
            <a:endParaRPr>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4048" u="none" cap="none" strike="noStrike">
                <a:solidFill>
                  <a:srgbClr val="339933"/>
                </a:solidFill>
                <a:latin typeface="Arial"/>
                <a:ea typeface="Arial"/>
                <a:cs typeface="Arial"/>
                <a:sym typeface="Arial"/>
              </a:rPr>
              <a:t>5. Declaració de classes</a:t>
            </a:r>
            <a:endParaRPr/>
          </a:p>
        </p:txBody>
      </p:sp>
      <p:sp>
        <p:nvSpPr>
          <p:cNvPr id="306" name="Google Shape;306;p35"/>
          <p:cNvSpPr txBox="1"/>
          <p:nvPr>
            <p:ph idx="1" type="body"/>
          </p:nvPr>
        </p:nvSpPr>
        <p:spPr>
          <a:xfrm>
            <a:off x="311700" y="864348"/>
            <a:ext cx="8520600" cy="3499200"/>
          </a:xfrm>
          <a:prstGeom prst="rect">
            <a:avLst/>
          </a:prstGeom>
          <a:noFill/>
          <a:ln>
            <a:noFill/>
          </a:ln>
        </p:spPr>
        <p:txBody>
          <a:bodyPr anchorCtr="0" anchor="t" bIns="45700" lIns="45700" spcFirstLastPara="1" rIns="45700" wrap="square" tIns="45700">
            <a:noAutofit/>
          </a:bodyPr>
          <a:lstStyle/>
          <a:p>
            <a:pPr indent="-533400" lvl="0" marL="533400" marR="0" rtl="0" algn="l">
              <a:lnSpc>
                <a:spcPct val="80000"/>
              </a:lnSpc>
              <a:spcBef>
                <a:spcPts val="0"/>
              </a:spcBef>
              <a:spcAft>
                <a:spcPts val="0"/>
              </a:spcAft>
              <a:buClr>
                <a:srgbClr val="000000"/>
              </a:buClr>
              <a:buSzPts val="2000"/>
              <a:buFont typeface="Arial"/>
              <a:buNone/>
            </a:pPr>
            <a:r>
              <a:rPr i="1" lang="ca" sz="2800" u="none" cap="none" strike="noStrike">
                <a:solidFill>
                  <a:srgbClr val="000000"/>
                </a:solidFill>
                <a:latin typeface="Calibri"/>
                <a:ea typeface="Calibri"/>
                <a:cs typeface="Calibri"/>
                <a:sym typeface="Calibri"/>
              </a:rPr>
              <a:t>En java: nom de fitxer = nom classe.</a:t>
            </a:r>
            <a:endParaRPr sz="2600">
              <a:latin typeface="Calibri"/>
              <a:ea typeface="Calibri"/>
              <a:cs typeface="Calibri"/>
              <a:sym typeface="Calibri"/>
            </a:endParaRPr>
          </a:p>
          <a:p>
            <a:pPr indent="-533400" lvl="0" marL="533400" marR="0" rtl="0" algn="l">
              <a:lnSpc>
                <a:spcPct val="80000"/>
              </a:lnSpc>
              <a:spcBef>
                <a:spcPts val="700"/>
              </a:spcBef>
              <a:spcAft>
                <a:spcPts val="0"/>
              </a:spcAft>
              <a:buClr>
                <a:srgbClr val="000000"/>
              </a:buClr>
              <a:buSzPts val="2000"/>
              <a:buFont typeface="Arial"/>
              <a:buNone/>
            </a:pPr>
            <a:r>
              <a:t/>
            </a:r>
            <a:endParaRPr i="1" sz="2800" u="none" cap="none" strike="noStrike">
              <a:solidFill>
                <a:srgbClr val="000000"/>
              </a:solidFill>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2000"/>
              <a:buFont typeface="Arial"/>
              <a:buNone/>
            </a:pPr>
            <a:r>
              <a:rPr i="0" lang="ca" sz="2800" u="none" cap="none" strike="noStrike">
                <a:solidFill>
                  <a:srgbClr val="000000"/>
                </a:solidFill>
                <a:latin typeface="Calibri"/>
                <a:ea typeface="Calibri"/>
                <a:cs typeface="Calibri"/>
                <a:sym typeface="Calibri"/>
              </a:rPr>
              <a:t>Per </a:t>
            </a:r>
            <a:r>
              <a:rPr b="1" i="0" lang="ca" sz="2800" u="none" cap="none" strike="noStrike">
                <a:solidFill>
                  <a:srgbClr val="000000"/>
                </a:solidFill>
                <a:latin typeface="Calibri"/>
                <a:ea typeface="Calibri"/>
                <a:cs typeface="Calibri"/>
                <a:sym typeface="Calibri"/>
              </a:rPr>
              <a:t>declarar una classe</a:t>
            </a:r>
            <a:r>
              <a:rPr i="0" lang="ca" sz="2800" u="none" cap="none" strike="noStrike">
                <a:solidFill>
                  <a:srgbClr val="000000"/>
                </a:solidFill>
                <a:latin typeface="Calibri"/>
                <a:ea typeface="Calibri"/>
                <a:cs typeface="Calibri"/>
                <a:sym typeface="Calibri"/>
              </a:rPr>
              <a:t>:</a:t>
            </a:r>
            <a:endParaRPr sz="260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2000"/>
              <a:buFont typeface="Arial"/>
              <a:buNone/>
            </a:pPr>
            <a:r>
              <a:rPr i="0" lang="ca" sz="2800" u="none" cap="none" strike="noStrike">
                <a:solidFill>
                  <a:srgbClr val="000000"/>
                </a:solidFill>
                <a:latin typeface="Calibri"/>
                <a:ea typeface="Calibri"/>
                <a:cs typeface="Calibri"/>
                <a:sym typeface="Calibri"/>
              </a:rPr>
              <a:t>[ ] class NomClasse [ ] {</a:t>
            </a:r>
            <a:endParaRPr sz="260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2000"/>
              <a:buFont typeface="Arial"/>
              <a:buNone/>
            </a:pPr>
            <a:r>
              <a:rPr i="0" lang="ca" sz="2800" u="none" cap="none" strike="noStrike">
                <a:solidFill>
                  <a:srgbClr val="000000"/>
                </a:solidFill>
                <a:latin typeface="Calibri"/>
                <a:ea typeface="Calibri"/>
                <a:cs typeface="Calibri"/>
                <a:sym typeface="Calibri"/>
              </a:rPr>
              <a:t>	[atributs]</a:t>
            </a:r>
            <a:endParaRPr sz="260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2000"/>
              <a:buFont typeface="Arial"/>
              <a:buNone/>
            </a:pPr>
            <a:r>
              <a:rPr i="0" lang="ca" sz="2800" u="none" cap="none" strike="noStrike">
                <a:solidFill>
                  <a:srgbClr val="000000"/>
                </a:solidFill>
                <a:latin typeface="Calibri"/>
                <a:ea typeface="Calibri"/>
                <a:cs typeface="Calibri"/>
                <a:sym typeface="Calibri"/>
              </a:rPr>
              <a:t>	[mètodes]</a:t>
            </a:r>
            <a:endParaRPr sz="260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2000"/>
              <a:buFont typeface="Arial"/>
              <a:buNone/>
            </a:pPr>
            <a:r>
              <a:rPr i="0" lang="ca" sz="2800" u="none" cap="none" strike="noStrike">
                <a:solidFill>
                  <a:srgbClr val="000000"/>
                </a:solidFill>
                <a:latin typeface="Calibri"/>
                <a:ea typeface="Calibri"/>
                <a:cs typeface="Calibri"/>
                <a:sym typeface="Calibri"/>
              </a:rPr>
              <a:t>}</a:t>
            </a:r>
            <a:endParaRPr sz="260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2000"/>
              <a:buFont typeface="Arial"/>
              <a:buNone/>
            </a:pPr>
            <a:r>
              <a:rPr i="0" lang="ca" sz="2800" u="none" cap="none" strike="noStrike">
                <a:solidFill>
                  <a:srgbClr val="000000"/>
                </a:solidFill>
                <a:latin typeface="Calibri"/>
                <a:ea typeface="Calibri"/>
                <a:cs typeface="Calibri"/>
                <a:sym typeface="Calibri"/>
              </a:rPr>
              <a:t>* [ ] Valors opcionals.</a:t>
            </a:r>
            <a:endParaRPr sz="300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l">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Exemple</a:t>
            </a:r>
            <a:endParaRPr/>
          </a:p>
        </p:txBody>
      </p:sp>
      <p:sp>
        <p:nvSpPr>
          <p:cNvPr id="312" name="Google Shape;312;p36"/>
          <p:cNvSpPr txBox="1"/>
          <p:nvPr>
            <p:ph idx="1" type="body"/>
          </p:nvPr>
        </p:nvSpPr>
        <p:spPr>
          <a:xfrm>
            <a:off x="311700" y="864347"/>
            <a:ext cx="8520600" cy="38181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533400" lvl="0" marL="533400" marR="0" rtl="0" algn="l">
              <a:lnSpc>
                <a:spcPct val="80000"/>
              </a:lnSpc>
              <a:spcBef>
                <a:spcPts val="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public class Ocell{</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private int edat;</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private char color;</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public void setEdat(int e){</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edat = e;</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public void setColor(char c){</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color = c;</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public char getColor(){</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return color;</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	}</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a:t>
            </a:r>
            <a:endParaRPr sz="1690">
              <a:latin typeface="Calibri"/>
              <a:ea typeface="Calibri"/>
              <a:cs typeface="Calibri"/>
              <a:sym typeface="Calibri"/>
            </a:endParaRPr>
          </a:p>
          <a:p>
            <a:pPr indent="-533400" lvl="0" marL="533400" marR="0" rtl="0" algn="l">
              <a:lnSpc>
                <a:spcPct val="80000"/>
              </a:lnSpc>
              <a:spcBef>
                <a:spcPts val="400"/>
              </a:spcBef>
              <a:spcAft>
                <a:spcPts val="0"/>
              </a:spcAft>
              <a:buClr>
                <a:srgbClr val="000000"/>
              </a:buClr>
              <a:buSzPts val="1100"/>
              <a:buFont typeface="Arial"/>
              <a:buNone/>
            </a:pPr>
            <a:r>
              <a:rPr i="0" lang="ca" sz="1690" u="none" cap="none" strike="noStrike">
                <a:solidFill>
                  <a:srgbClr val="000000"/>
                </a:solidFill>
                <a:latin typeface="Calibri"/>
                <a:ea typeface="Calibri"/>
                <a:cs typeface="Calibri"/>
                <a:sym typeface="Calibri"/>
              </a:rPr>
              <a:t>}</a:t>
            </a:r>
            <a:endParaRPr sz="1690">
              <a:latin typeface="Calibri"/>
              <a:ea typeface="Calibri"/>
              <a:cs typeface="Calibri"/>
              <a:sym typeface="Calibri"/>
            </a:endParaRPr>
          </a:p>
        </p:txBody>
      </p:sp>
      <p:sp>
        <p:nvSpPr>
          <p:cNvPr id="313" name="Google Shape;313;p36"/>
          <p:cNvSpPr txBox="1"/>
          <p:nvPr/>
        </p:nvSpPr>
        <p:spPr>
          <a:xfrm>
            <a:off x="4356100" y="1545431"/>
            <a:ext cx="4248000" cy="16125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ca" sz="1800" u="none" cap="none" strike="noStrike">
                <a:solidFill>
                  <a:srgbClr val="000000"/>
                </a:solidFill>
                <a:latin typeface="Calibri"/>
                <a:ea typeface="Calibri"/>
                <a:cs typeface="Calibri"/>
                <a:sym typeface="Calibri"/>
              </a:rPr>
              <a:t>class prova{</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800" u="none" cap="none" strike="noStrike">
                <a:solidFill>
                  <a:srgbClr val="000000"/>
                </a:solidFill>
                <a:latin typeface="Calibri"/>
                <a:ea typeface="Calibri"/>
                <a:cs typeface="Calibri"/>
                <a:sym typeface="Calibri"/>
              </a:rPr>
              <a:t>	… main…{</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800" u="none" cap="none" strike="noStrike">
                <a:solidFill>
                  <a:srgbClr val="000000"/>
                </a:solidFill>
                <a:latin typeface="Calibri"/>
                <a:ea typeface="Calibri"/>
                <a:cs typeface="Calibri"/>
                <a:sym typeface="Calibri"/>
              </a:rPr>
              <a:t> 		ocell o;</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800" u="none" cap="none" strike="noStrike">
                <a:solidFill>
                  <a:srgbClr val="000000"/>
                </a:solidFill>
                <a:latin typeface="Calibri"/>
                <a:ea typeface="Calibri"/>
                <a:cs typeface="Calibri"/>
                <a:sym typeface="Calibri"/>
              </a:rPr>
              <a:t>		o = new Ocell();</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800" u="none" cap="none" strike="noStrike">
                <a:solidFill>
                  <a:srgbClr val="000000"/>
                </a:solidFill>
                <a:latin typeface="Calibri"/>
                <a:ea typeface="Calibri"/>
                <a:cs typeface="Calibri"/>
                <a:sym typeface="Calibri"/>
              </a:rPr>
              <a:t>   		o.setEdat(15);</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7"/>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696" u="none" cap="none" strike="noStrike">
                <a:solidFill>
                  <a:srgbClr val="339933"/>
                </a:solidFill>
                <a:latin typeface="Arial"/>
                <a:ea typeface="Arial"/>
                <a:cs typeface="Arial"/>
                <a:sym typeface="Arial"/>
              </a:rPr>
              <a:t>6. Paràmetres i retorn de valors</a:t>
            </a:r>
            <a:endParaRPr/>
          </a:p>
        </p:txBody>
      </p:sp>
      <p:sp>
        <p:nvSpPr>
          <p:cNvPr id="319" name="Google Shape;319;p37"/>
          <p:cNvSpPr txBox="1"/>
          <p:nvPr>
            <p:ph idx="1" type="body"/>
          </p:nvPr>
        </p:nvSpPr>
        <p:spPr>
          <a:xfrm>
            <a:off x="311700" y="864349"/>
            <a:ext cx="8520600" cy="3062400"/>
          </a:xfrm>
          <a:prstGeom prst="rect">
            <a:avLst/>
          </a:prstGeom>
          <a:noFill/>
          <a:ln>
            <a:noFill/>
          </a:ln>
        </p:spPr>
        <p:txBody>
          <a:bodyPr anchorCtr="0" anchor="t" bIns="45700" lIns="45700" spcFirstLastPara="1" rIns="45700" wrap="square" tIns="45700">
            <a:noAutofit/>
          </a:bodyPr>
          <a:lstStyle/>
          <a:p>
            <a:pPr indent="-485394" lvl="0" marL="485394" marR="0" rtl="0" algn="l">
              <a:lnSpc>
                <a:spcPct val="60000"/>
              </a:lnSpc>
              <a:spcBef>
                <a:spcPts val="0"/>
              </a:spcBef>
              <a:spcAft>
                <a:spcPts val="0"/>
              </a:spcAft>
              <a:buClr>
                <a:srgbClr val="000000"/>
              </a:buClr>
              <a:buSzPts val="1411"/>
              <a:buFont typeface="Arial"/>
              <a:buNone/>
            </a:pPr>
            <a:r>
              <a:rPr i="0" lang="ca" sz="1795" u="none" cap="none" strike="noStrike">
                <a:solidFill>
                  <a:srgbClr val="000000"/>
                </a:solidFill>
                <a:latin typeface="Calibri"/>
                <a:ea typeface="Calibri"/>
                <a:cs typeface="Calibri"/>
                <a:sym typeface="Calibri"/>
              </a:rPr>
              <a:t>Quan cridam un mètode es possible que li </a:t>
            </a:r>
            <a:r>
              <a:rPr b="1" i="0" lang="ca" sz="1795" u="none" cap="none" strike="noStrike">
                <a:solidFill>
                  <a:srgbClr val="000000"/>
                </a:solidFill>
                <a:latin typeface="Calibri"/>
                <a:ea typeface="Calibri"/>
                <a:cs typeface="Calibri"/>
                <a:sym typeface="Calibri"/>
              </a:rPr>
              <a:t>passem</a:t>
            </a:r>
            <a:r>
              <a:rPr i="0" lang="ca" sz="1795" u="none" cap="none" strike="noStrike">
                <a:solidFill>
                  <a:srgbClr val="000000"/>
                </a:solidFill>
                <a:latin typeface="Calibri"/>
                <a:ea typeface="Calibri"/>
                <a:cs typeface="Calibri"/>
                <a:sym typeface="Calibri"/>
              </a:rPr>
              <a:t> una sèrie de valors(int, char,objecte...)</a:t>
            </a:r>
            <a:r>
              <a:rPr lang="ca" sz="1795">
                <a:solidFill>
                  <a:srgbClr val="000000"/>
                </a:solidFill>
                <a:latin typeface="Calibri"/>
                <a:ea typeface="Calibri"/>
                <a:cs typeface="Calibri"/>
                <a:sym typeface="Calibri"/>
              </a:rPr>
              <a:t> </a:t>
            </a:r>
            <a:r>
              <a:rPr i="0" lang="ca" sz="1795" u="none" cap="none" strike="noStrike">
                <a:solidFill>
                  <a:srgbClr val="000000"/>
                </a:solidFill>
                <a:latin typeface="Calibri"/>
                <a:ea typeface="Calibri"/>
                <a:cs typeface="Calibri"/>
                <a:sym typeface="Calibri"/>
              </a:rPr>
              <a:t>anomenats </a:t>
            </a:r>
            <a:r>
              <a:rPr b="1" i="0" lang="ca" sz="1795" u="none" cap="none" strike="noStrike">
                <a:solidFill>
                  <a:srgbClr val="000000"/>
                </a:solidFill>
                <a:latin typeface="Calibri"/>
                <a:ea typeface="Calibri"/>
                <a:cs typeface="Calibri"/>
                <a:sym typeface="Calibri"/>
              </a:rPr>
              <a:t>paràmetres</a:t>
            </a:r>
            <a:endParaRPr b="1" i="0" sz="1795" u="none" cap="none" strike="noStrike">
              <a:solidFill>
                <a:srgbClr val="000000"/>
              </a:solidFill>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b="1" i="0" lang="ca" sz="1795" u="none" cap="none" strike="noStrike">
                <a:solidFill>
                  <a:srgbClr val="000000"/>
                </a:solidFill>
                <a:latin typeface="Calibri"/>
                <a:ea typeface="Calibri"/>
                <a:cs typeface="Calibri"/>
                <a:sym typeface="Calibri"/>
              </a:rPr>
              <a:t>Exemple: </a:t>
            </a:r>
            <a:endParaRPr sz="1795">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b="1" i="0" lang="ca" sz="1795" u="none" cap="none" strike="noStrike">
                <a:solidFill>
                  <a:srgbClr val="000000"/>
                </a:solidFill>
                <a:latin typeface="Calibri"/>
                <a:ea typeface="Calibri"/>
                <a:cs typeface="Calibri"/>
                <a:sym typeface="Calibri"/>
              </a:rPr>
              <a:t>	</a:t>
            </a:r>
            <a:r>
              <a:rPr i="0" lang="ca" sz="1795" u="none" cap="none" strike="noStrike">
                <a:solidFill>
                  <a:srgbClr val="000000"/>
                </a:solidFill>
                <a:latin typeface="Calibri"/>
                <a:ea typeface="Calibri"/>
                <a:cs typeface="Calibri"/>
                <a:sym typeface="Calibri"/>
              </a:rPr>
              <a:t>public void setEdat(int e){	</a:t>
            </a:r>
            <a:endParaRPr sz="1795">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i="0" lang="ca" sz="1795" u="none" cap="none" strike="noStrike">
                <a:solidFill>
                  <a:srgbClr val="000000"/>
                </a:solidFill>
                <a:latin typeface="Calibri"/>
                <a:ea typeface="Calibri"/>
                <a:cs typeface="Calibri"/>
                <a:sym typeface="Calibri"/>
              </a:rPr>
              <a:t>		edat = e</a:t>
            </a:r>
            <a:endParaRPr sz="1795">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i="0" lang="ca" sz="1795" u="none" cap="none" strike="noStrike">
                <a:solidFill>
                  <a:srgbClr val="000000"/>
                </a:solidFill>
                <a:latin typeface="Calibri"/>
                <a:ea typeface="Calibri"/>
                <a:cs typeface="Calibri"/>
                <a:sym typeface="Calibri"/>
              </a:rPr>
              <a:t>  	 }</a:t>
            </a:r>
            <a:endParaRPr sz="1795">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i="0" lang="ca" sz="1795" u="none" cap="none" strike="noStrike">
                <a:solidFill>
                  <a:srgbClr val="000000"/>
                </a:solidFill>
                <a:latin typeface="Calibri"/>
                <a:ea typeface="Calibri"/>
                <a:cs typeface="Calibri"/>
                <a:sym typeface="Calibri"/>
              </a:rPr>
              <a:t>Els mètodes (el constructor NO) poden </a:t>
            </a:r>
            <a:r>
              <a:rPr b="1" i="0" lang="ca" sz="1795" u="none" cap="none" strike="noStrike">
                <a:solidFill>
                  <a:srgbClr val="000000"/>
                </a:solidFill>
                <a:latin typeface="Calibri"/>
                <a:ea typeface="Calibri"/>
                <a:cs typeface="Calibri"/>
                <a:sym typeface="Calibri"/>
              </a:rPr>
              <a:t>tornar</a:t>
            </a:r>
            <a:r>
              <a:rPr i="0" lang="ca" sz="1795" u="none" cap="none" strike="noStrike">
                <a:solidFill>
                  <a:srgbClr val="000000"/>
                </a:solidFill>
                <a:latin typeface="Calibri"/>
                <a:ea typeface="Calibri"/>
                <a:cs typeface="Calibri"/>
                <a:sym typeface="Calibri"/>
              </a:rPr>
              <a:t> un valor:</a:t>
            </a:r>
            <a:endParaRPr sz="1795">
              <a:latin typeface="Calibri"/>
              <a:ea typeface="Calibri"/>
              <a:cs typeface="Calibri"/>
              <a:sym typeface="Calibri"/>
            </a:endParaRPr>
          </a:p>
          <a:p>
            <a:pPr indent="-483806" lvl="0" marL="485394" marR="0" rtl="0" algn="l">
              <a:lnSpc>
                <a:spcPct val="60000"/>
              </a:lnSpc>
              <a:spcBef>
                <a:spcPts val="400"/>
              </a:spcBef>
              <a:spcAft>
                <a:spcPts val="0"/>
              </a:spcAft>
              <a:buClr>
                <a:srgbClr val="000000"/>
              </a:buClr>
              <a:buSzPts val="1795"/>
              <a:buFont typeface="Arial"/>
              <a:buChar char="•"/>
            </a:pPr>
            <a:r>
              <a:rPr b="1" i="0" lang="ca" sz="1795" u="none" cap="none" strike="noStrike">
                <a:solidFill>
                  <a:srgbClr val="000000"/>
                </a:solidFill>
                <a:latin typeface="Calibri"/>
                <a:ea typeface="Calibri"/>
                <a:cs typeface="Calibri"/>
                <a:sym typeface="Calibri"/>
              </a:rPr>
              <a:t>public void </a:t>
            </a:r>
            <a:r>
              <a:rPr i="0" lang="ca" sz="1795" u="none" cap="none" strike="noStrike">
                <a:solidFill>
                  <a:srgbClr val="000000"/>
                </a:solidFill>
                <a:latin typeface="Calibri"/>
                <a:ea typeface="Calibri"/>
                <a:cs typeface="Calibri"/>
                <a:sym typeface="Calibri"/>
              </a:rPr>
              <a:t>setEdat(... void: indica que el mètode NO torna valor</a:t>
            </a:r>
            <a:endParaRPr sz="1795">
              <a:latin typeface="Calibri"/>
              <a:ea typeface="Calibri"/>
              <a:cs typeface="Calibri"/>
              <a:sym typeface="Calibri"/>
            </a:endParaRPr>
          </a:p>
          <a:p>
            <a:pPr indent="-483806" lvl="0" marL="485394" marR="0" rtl="0" algn="l">
              <a:lnSpc>
                <a:spcPct val="60000"/>
              </a:lnSpc>
              <a:spcBef>
                <a:spcPts val="400"/>
              </a:spcBef>
              <a:spcAft>
                <a:spcPts val="0"/>
              </a:spcAft>
              <a:buClr>
                <a:srgbClr val="000000"/>
              </a:buClr>
              <a:buSzPts val="1795"/>
              <a:buFont typeface="Arial"/>
              <a:buChar char="•"/>
            </a:pPr>
            <a:r>
              <a:rPr b="1" i="0" lang="ca" sz="1795" u="none" cap="none" strike="noStrike">
                <a:solidFill>
                  <a:srgbClr val="000000"/>
                </a:solidFill>
                <a:latin typeface="Calibri"/>
                <a:ea typeface="Calibri"/>
                <a:cs typeface="Calibri"/>
                <a:sym typeface="Calibri"/>
              </a:rPr>
              <a:t>public char </a:t>
            </a:r>
            <a:r>
              <a:rPr i="0" lang="ca" sz="1795" u="none" cap="none" strike="noStrike">
                <a:solidFill>
                  <a:srgbClr val="000000"/>
                </a:solidFill>
                <a:latin typeface="Calibri"/>
                <a:ea typeface="Calibri"/>
                <a:cs typeface="Calibri"/>
                <a:sym typeface="Calibri"/>
              </a:rPr>
              <a:t>getColor(... Retorna un caràcter, a la declaració s’especifica el tipus que retorna (int, char, objecte...) </a:t>
            </a:r>
            <a:endParaRPr sz="1795">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b="1" lang="ca" sz="1795">
                <a:latin typeface="Calibri"/>
                <a:ea typeface="Calibri"/>
                <a:cs typeface="Calibri"/>
                <a:sym typeface="Calibri"/>
              </a:rPr>
              <a:t>E</a:t>
            </a:r>
            <a:r>
              <a:rPr b="1" i="0" lang="ca" sz="1795" u="none" cap="none" strike="noStrike">
                <a:solidFill>
                  <a:srgbClr val="000000"/>
                </a:solidFill>
                <a:latin typeface="Calibri"/>
                <a:ea typeface="Calibri"/>
                <a:cs typeface="Calibri"/>
                <a:sym typeface="Calibri"/>
              </a:rPr>
              <a:t>xemple: </a:t>
            </a:r>
            <a:endParaRPr sz="1795">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b="1" i="0" lang="ca" sz="1795" u="none" cap="none" strike="noStrike">
                <a:solidFill>
                  <a:srgbClr val="000000"/>
                </a:solidFill>
                <a:latin typeface="Calibri"/>
                <a:ea typeface="Calibri"/>
                <a:cs typeface="Calibri"/>
                <a:sym typeface="Calibri"/>
              </a:rPr>
              <a:t>	</a:t>
            </a:r>
            <a:r>
              <a:rPr i="0" lang="ca" sz="1795" u="none" cap="none" strike="noStrike">
                <a:solidFill>
                  <a:srgbClr val="000000"/>
                </a:solidFill>
                <a:latin typeface="Calibri"/>
                <a:ea typeface="Calibri"/>
                <a:cs typeface="Calibri"/>
                <a:sym typeface="Calibri"/>
              </a:rPr>
              <a:t>public char getColor(){</a:t>
            </a:r>
            <a:endParaRPr sz="1795">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i="0" lang="ca" sz="1795" u="none" cap="none" strike="noStrike">
                <a:solidFill>
                  <a:srgbClr val="000000"/>
                </a:solidFill>
                <a:latin typeface="Calibri"/>
                <a:ea typeface="Calibri"/>
                <a:cs typeface="Calibri"/>
                <a:sym typeface="Calibri"/>
              </a:rPr>
              <a:t>		return color;</a:t>
            </a:r>
            <a:endParaRPr sz="1795">
              <a:latin typeface="Calibri"/>
              <a:ea typeface="Calibri"/>
              <a:cs typeface="Calibri"/>
              <a:sym typeface="Calibri"/>
            </a:endParaRPr>
          </a:p>
          <a:p>
            <a:pPr indent="-485394" lvl="0" marL="485394" marR="0" rtl="0" algn="l">
              <a:lnSpc>
                <a:spcPct val="60000"/>
              </a:lnSpc>
              <a:spcBef>
                <a:spcPts val="400"/>
              </a:spcBef>
              <a:spcAft>
                <a:spcPts val="0"/>
              </a:spcAft>
              <a:buClr>
                <a:srgbClr val="000000"/>
              </a:buClr>
              <a:buSzPts val="1411"/>
              <a:buFont typeface="Arial"/>
              <a:buNone/>
            </a:pPr>
            <a:r>
              <a:rPr i="0" lang="ca" sz="1795" u="none" cap="none" strike="noStrike">
                <a:solidFill>
                  <a:srgbClr val="000000"/>
                </a:solidFill>
                <a:latin typeface="Calibri"/>
                <a:ea typeface="Calibri"/>
                <a:cs typeface="Calibri"/>
                <a:sym typeface="Calibri"/>
              </a:rPr>
              <a:t>	}</a:t>
            </a:r>
            <a:endParaRPr sz="1795">
              <a:latin typeface="Calibri"/>
              <a:ea typeface="Calibri"/>
              <a:cs typeface="Calibri"/>
              <a:sym typeface="Calibri"/>
            </a:endParaRPr>
          </a:p>
        </p:txBody>
      </p:sp>
      <p:sp>
        <p:nvSpPr>
          <p:cNvPr id="320" name="Google Shape;320;p37"/>
          <p:cNvSpPr txBox="1"/>
          <p:nvPr/>
        </p:nvSpPr>
        <p:spPr>
          <a:xfrm>
            <a:off x="4932362" y="3219506"/>
            <a:ext cx="2663700" cy="2703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ca" sz="1800" u="none" cap="none" strike="noStrike">
                <a:solidFill>
                  <a:srgbClr val="000000"/>
                </a:solidFill>
                <a:latin typeface="Calibri"/>
                <a:ea typeface="Calibri"/>
                <a:cs typeface="Calibri"/>
                <a:sym typeface="Calibri"/>
              </a:rPr>
              <a:t>o.setEdat(15);</a:t>
            </a:r>
            <a:endParaRPr b="0" i="0" sz="1400" u="none" cap="none" strike="noStrike">
              <a:solidFill>
                <a:srgbClr val="000000"/>
              </a:solidFill>
              <a:latin typeface="Calibri"/>
              <a:ea typeface="Calibri"/>
              <a:cs typeface="Calibri"/>
              <a:sym typeface="Calibri"/>
            </a:endParaRPr>
          </a:p>
        </p:txBody>
      </p:sp>
      <p:sp>
        <p:nvSpPr>
          <p:cNvPr id="321" name="Google Shape;321;p37"/>
          <p:cNvSpPr txBox="1"/>
          <p:nvPr/>
        </p:nvSpPr>
        <p:spPr>
          <a:xfrm>
            <a:off x="4882812" y="3656444"/>
            <a:ext cx="2663700" cy="2703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ca" sz="1800" u="none" cap="none" strike="noStrike">
                <a:solidFill>
                  <a:srgbClr val="000000"/>
                </a:solidFill>
                <a:latin typeface="Calibri"/>
                <a:ea typeface="Calibri"/>
                <a:cs typeface="Calibri"/>
                <a:sym typeface="Calibri"/>
              </a:rPr>
              <a:t>c = o.getColor();</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3696" u="none" cap="none" strike="noStrike">
                <a:solidFill>
                  <a:srgbClr val="339933"/>
                </a:solidFill>
                <a:latin typeface="Arial"/>
                <a:ea typeface="Arial"/>
                <a:cs typeface="Arial"/>
                <a:sym typeface="Arial"/>
              </a:rPr>
              <a:t>7. Mètodes i atributs estàtics</a:t>
            </a:r>
            <a:endParaRPr/>
          </a:p>
        </p:txBody>
      </p:sp>
      <p:sp>
        <p:nvSpPr>
          <p:cNvPr id="327" name="Google Shape;327;p38"/>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348439" lvl="0" marL="457200" marR="0" rtl="0" algn="l">
              <a:lnSpc>
                <a:spcPct val="90000"/>
              </a:lnSpc>
              <a:spcBef>
                <a:spcPts val="0"/>
              </a:spcBef>
              <a:spcAft>
                <a:spcPts val="0"/>
              </a:spcAft>
              <a:buClr>
                <a:srgbClr val="000000"/>
              </a:buClr>
              <a:buSzPts val="1887"/>
              <a:buFont typeface="Calibri"/>
              <a:buChar char="●"/>
            </a:pPr>
            <a:r>
              <a:rPr i="0" lang="ca" sz="1887" u="none" cap="none" strike="noStrike">
                <a:solidFill>
                  <a:srgbClr val="000000"/>
                </a:solidFill>
                <a:latin typeface="Calibri"/>
                <a:ea typeface="Calibri"/>
                <a:cs typeface="Calibri"/>
                <a:sym typeface="Calibri"/>
              </a:rPr>
              <a:t>Els mètodes estàtics (static) són mètodes de classe. El seu comportament es </a:t>
            </a:r>
            <a:r>
              <a:rPr b="1" i="0" lang="ca" sz="1887" u="none" cap="none" strike="noStrike">
                <a:solidFill>
                  <a:srgbClr val="000000"/>
                </a:solidFill>
                <a:latin typeface="Calibri"/>
                <a:ea typeface="Calibri"/>
                <a:cs typeface="Calibri"/>
                <a:sym typeface="Calibri"/>
              </a:rPr>
              <a:t>independent</a:t>
            </a:r>
            <a:r>
              <a:rPr i="0" lang="ca" sz="1887" u="none" cap="none" strike="noStrike">
                <a:solidFill>
                  <a:srgbClr val="000000"/>
                </a:solidFill>
                <a:latin typeface="Calibri"/>
                <a:ea typeface="Calibri"/>
                <a:cs typeface="Calibri"/>
                <a:sym typeface="Calibri"/>
              </a:rPr>
              <a:t> de la instància de la classe.</a:t>
            </a:r>
            <a:endParaRPr sz="1795">
              <a:latin typeface="Calibri"/>
              <a:ea typeface="Calibri"/>
              <a:cs typeface="Calibri"/>
              <a:sym typeface="Calibri"/>
            </a:endParaRPr>
          </a:p>
          <a:p>
            <a:pPr indent="-348439" lvl="0" marL="457200" marR="0" rtl="0" algn="l">
              <a:lnSpc>
                <a:spcPct val="90000"/>
              </a:lnSpc>
              <a:spcBef>
                <a:spcPts val="0"/>
              </a:spcBef>
              <a:spcAft>
                <a:spcPts val="0"/>
              </a:spcAft>
              <a:buClr>
                <a:srgbClr val="000000"/>
              </a:buClr>
              <a:buSzPts val="1887"/>
              <a:buFont typeface="Calibri"/>
              <a:buChar char="●"/>
            </a:pPr>
            <a:r>
              <a:rPr i="0" lang="ca" sz="1887" u="none" cap="none" strike="noStrike">
                <a:solidFill>
                  <a:srgbClr val="000000"/>
                </a:solidFill>
                <a:latin typeface="Calibri"/>
                <a:ea typeface="Calibri"/>
                <a:cs typeface="Calibri"/>
                <a:sym typeface="Calibri"/>
              </a:rPr>
              <a:t>Per </a:t>
            </a:r>
            <a:r>
              <a:rPr b="1" i="0" lang="ca" sz="1887" u="none" cap="none" strike="noStrike">
                <a:solidFill>
                  <a:srgbClr val="000000"/>
                </a:solidFill>
                <a:latin typeface="Calibri"/>
                <a:ea typeface="Calibri"/>
                <a:cs typeface="Calibri"/>
                <a:sym typeface="Calibri"/>
              </a:rPr>
              <a:t>invocar a un mètode estàtic no es necessita crear un objecte</a:t>
            </a:r>
            <a:r>
              <a:rPr i="0" lang="ca" sz="1887" u="none" cap="none" strike="noStrike">
                <a:solidFill>
                  <a:srgbClr val="000000"/>
                </a:solidFill>
                <a:latin typeface="Calibri"/>
                <a:ea typeface="Calibri"/>
                <a:cs typeface="Calibri"/>
                <a:sym typeface="Calibri"/>
              </a:rPr>
              <a:t> de la classe en la qual es defineix:</a:t>
            </a:r>
            <a:endParaRPr sz="1795">
              <a:latin typeface="Calibri"/>
              <a:ea typeface="Calibri"/>
              <a:cs typeface="Calibri"/>
              <a:sym typeface="Calibri"/>
            </a:endParaRPr>
          </a:p>
          <a:p>
            <a:pPr indent="-510044" lvl="0" marL="969261" marR="0" rtl="0" algn="l">
              <a:lnSpc>
                <a:spcPct val="90000"/>
              </a:lnSpc>
              <a:spcBef>
                <a:spcPts val="400"/>
              </a:spcBef>
              <a:spcAft>
                <a:spcPts val="0"/>
              </a:spcAft>
              <a:buClr>
                <a:srgbClr val="000000"/>
              </a:buClr>
              <a:buSzPts val="1887"/>
              <a:buFont typeface="Calibri"/>
              <a:buChar char="•"/>
            </a:pPr>
            <a:r>
              <a:rPr i="0" lang="ca" sz="1887" u="none" cap="none" strike="noStrike">
                <a:solidFill>
                  <a:srgbClr val="000000"/>
                </a:solidFill>
                <a:latin typeface="Calibri"/>
                <a:ea typeface="Calibri"/>
                <a:cs typeface="Calibri"/>
                <a:sym typeface="Calibri"/>
              </a:rPr>
              <a:t>Si s'invoca des de la classe en la qual es troba definit, n'hi ha prou amb escriure el seu nom.</a:t>
            </a:r>
            <a:endParaRPr sz="1795">
              <a:latin typeface="Calibri"/>
              <a:ea typeface="Calibri"/>
              <a:cs typeface="Calibri"/>
              <a:sym typeface="Calibri"/>
            </a:endParaRPr>
          </a:p>
          <a:p>
            <a:pPr indent="-510044" lvl="0" marL="969261" marR="0" rtl="0" algn="l">
              <a:lnSpc>
                <a:spcPct val="90000"/>
              </a:lnSpc>
              <a:spcBef>
                <a:spcPts val="400"/>
              </a:spcBef>
              <a:spcAft>
                <a:spcPts val="0"/>
              </a:spcAft>
              <a:buClr>
                <a:srgbClr val="000000"/>
              </a:buClr>
              <a:buSzPts val="1887"/>
              <a:buFont typeface="Calibri"/>
              <a:buChar char="•"/>
            </a:pPr>
            <a:r>
              <a:rPr i="0" lang="ca" sz="1887" u="none" cap="none" strike="noStrike">
                <a:solidFill>
                  <a:srgbClr val="000000"/>
                </a:solidFill>
                <a:latin typeface="Calibri"/>
                <a:ea typeface="Calibri"/>
                <a:cs typeface="Calibri"/>
                <a:sym typeface="Calibri"/>
              </a:rPr>
              <a:t>Si se li invoca des d'una classe diferent:  &lt;NomClasse&gt;.metodeEstatic</a:t>
            </a:r>
            <a:endParaRPr sz="1795">
              <a:latin typeface="Calibri"/>
              <a:ea typeface="Calibri"/>
              <a:cs typeface="Calibri"/>
              <a:sym typeface="Calibri"/>
            </a:endParaRPr>
          </a:p>
          <a:p>
            <a:pPr indent="-390205" lvl="0" marL="969261" marR="0" rtl="0" algn="l">
              <a:lnSpc>
                <a:spcPct val="90000"/>
              </a:lnSpc>
              <a:spcBef>
                <a:spcPts val="700"/>
              </a:spcBef>
              <a:spcAft>
                <a:spcPts val="0"/>
              </a:spcAft>
              <a:buClr>
                <a:srgbClr val="000000"/>
              </a:buClr>
              <a:buSzPts val="1487"/>
              <a:buFont typeface="Arial"/>
              <a:buNone/>
            </a:pPr>
            <a:r>
              <a:t/>
            </a:r>
            <a:endParaRPr i="0" sz="1887" u="none" cap="none" strike="noStrike">
              <a:solidFill>
                <a:srgbClr val="000000"/>
              </a:solidFill>
              <a:latin typeface="Calibri"/>
              <a:ea typeface="Calibri"/>
              <a:cs typeface="Calibri"/>
              <a:sym typeface="Calibri"/>
            </a:endParaRPr>
          </a:p>
          <a:p>
            <a:pPr indent="-348439" lvl="0" marL="457200" marR="0" rtl="0" algn="l">
              <a:lnSpc>
                <a:spcPct val="90000"/>
              </a:lnSpc>
              <a:spcBef>
                <a:spcPts val="400"/>
              </a:spcBef>
              <a:spcAft>
                <a:spcPts val="0"/>
              </a:spcAft>
              <a:buClr>
                <a:srgbClr val="000000"/>
              </a:buClr>
              <a:buSzPts val="1887"/>
              <a:buFont typeface="Calibri"/>
              <a:buChar char="●"/>
            </a:pPr>
            <a:r>
              <a:rPr i="0" lang="ca" sz="1887" u="none" cap="none" strike="noStrike">
                <a:solidFill>
                  <a:srgbClr val="000000"/>
                </a:solidFill>
                <a:latin typeface="Calibri"/>
                <a:ea typeface="Calibri"/>
                <a:cs typeface="Calibri"/>
                <a:sym typeface="Calibri"/>
              </a:rPr>
              <a:t>Solen emprar-se per realitzar operacions comunes a tots els objectes de la classe. Per exemple, si es necessita un mètode per comptabilitzar el nombre d'objectes creats d'una classe, es realitzaria independentment de l'objecte emprat per invocar-li.</a:t>
            </a:r>
            <a:endParaRPr sz="1795">
              <a:latin typeface="Calibri"/>
              <a:ea typeface="Calibri"/>
              <a:cs typeface="Calibri"/>
              <a:sym typeface="Calibri"/>
            </a:endParaRPr>
          </a:p>
          <a:p>
            <a:pPr indent="-512062" lvl="0" marL="512062" marR="0" rtl="0" algn="l">
              <a:lnSpc>
                <a:spcPct val="90000"/>
              </a:lnSpc>
              <a:spcBef>
                <a:spcPts val="400"/>
              </a:spcBef>
              <a:spcAft>
                <a:spcPts val="0"/>
              </a:spcAft>
              <a:buClr>
                <a:srgbClr val="000000"/>
              </a:buClr>
              <a:buSzPts val="1487"/>
              <a:buFont typeface="Arial"/>
              <a:buNone/>
            </a:pPr>
            <a:r>
              <a:rPr i="0" lang="ca" sz="1887" u="none" cap="none" strike="noStrike">
                <a:solidFill>
                  <a:srgbClr val="000000"/>
                </a:solidFill>
                <a:latin typeface="Calibri"/>
                <a:ea typeface="Calibri"/>
                <a:cs typeface="Calibri"/>
                <a:sym typeface="Calibri"/>
              </a:rPr>
              <a:t>*</a:t>
            </a:r>
            <a:r>
              <a:rPr b="1" i="0" lang="ca" sz="1887" u="none" cap="none" strike="noStrike">
                <a:solidFill>
                  <a:srgbClr val="000000"/>
                </a:solidFill>
                <a:latin typeface="Calibri"/>
                <a:ea typeface="Calibri"/>
                <a:cs typeface="Calibri"/>
                <a:sym typeface="Calibri"/>
              </a:rPr>
              <a:t>Els atributs també poden ser static</a:t>
            </a:r>
            <a:r>
              <a:rPr i="0" lang="ca" sz="1887" u="none" cap="none" strike="noStrike">
                <a:solidFill>
                  <a:srgbClr val="000000"/>
                </a:solidFill>
                <a:latin typeface="Calibri"/>
                <a:ea typeface="Calibri"/>
                <a:cs typeface="Calibri"/>
                <a:sym typeface="Calibri"/>
              </a:rPr>
              <a:t>.</a:t>
            </a:r>
            <a:endParaRPr sz="1795">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l">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Exemple amb Estàtics</a:t>
            </a:r>
            <a:endParaRPr/>
          </a:p>
        </p:txBody>
      </p:sp>
      <p:sp>
        <p:nvSpPr>
          <p:cNvPr id="333" name="Google Shape;333;p39"/>
          <p:cNvSpPr txBox="1"/>
          <p:nvPr>
            <p:ph idx="1" type="body"/>
          </p:nvPr>
        </p:nvSpPr>
        <p:spPr>
          <a:xfrm>
            <a:off x="311700" y="864356"/>
            <a:ext cx="8520600" cy="25623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rmAutofit/>
          </a:bodyPr>
          <a:lstStyle/>
          <a:p>
            <a:pPr indent="-533400" lvl="0" marL="533400" marR="0" rtl="0" algn="l">
              <a:lnSpc>
                <a:spcPct val="100000"/>
              </a:lnSpc>
              <a:spcBef>
                <a:spcPts val="0"/>
              </a:spcBef>
              <a:spcAft>
                <a:spcPts val="0"/>
              </a:spcAft>
              <a:buClr>
                <a:srgbClr val="000000"/>
              </a:buClr>
              <a:buSzPts val="2000"/>
              <a:buFont typeface="Arial"/>
              <a:buNone/>
            </a:pPr>
            <a:r>
              <a:rPr i="0" lang="ca" sz="1400" u="none" cap="none" strike="noStrike">
                <a:solidFill>
                  <a:srgbClr val="000000"/>
                </a:solidFill>
                <a:latin typeface="Calibri"/>
                <a:ea typeface="Calibri"/>
                <a:cs typeface="Calibri"/>
                <a:sym typeface="Calibri"/>
              </a:rPr>
              <a:t>class Ocell{</a:t>
            </a:r>
            <a:endParaRPr sz="1400">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Arial"/>
              <a:buNone/>
            </a:pPr>
            <a:r>
              <a:rPr i="0" lang="ca" sz="1400" u="none" cap="none" strike="noStrike">
                <a:solidFill>
                  <a:srgbClr val="000000"/>
                </a:solidFill>
                <a:latin typeface="Calibri"/>
                <a:ea typeface="Calibri"/>
                <a:cs typeface="Calibri"/>
                <a:sym typeface="Calibri"/>
              </a:rPr>
              <a:t>	static int numOcells=0; </a:t>
            </a:r>
            <a:endParaRPr sz="1400">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Arial"/>
              <a:buNone/>
            </a:pPr>
            <a:r>
              <a:rPr i="0" lang="ca" sz="1400" u="none" cap="none" strike="noStrike">
                <a:solidFill>
                  <a:srgbClr val="000000"/>
                </a:solidFill>
                <a:latin typeface="Calibri"/>
                <a:ea typeface="Calibri"/>
                <a:cs typeface="Calibri"/>
                <a:sym typeface="Calibri"/>
              </a:rPr>
              <a:t>	public static void contarOcells(){</a:t>
            </a:r>
            <a:endParaRPr sz="1400">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Arial"/>
              <a:buNone/>
            </a:pPr>
            <a:r>
              <a:rPr i="0" lang="ca" sz="1400" u="none" cap="none" strike="noStrike">
                <a:solidFill>
                  <a:srgbClr val="000000"/>
                </a:solidFill>
                <a:latin typeface="Calibri"/>
                <a:ea typeface="Calibri"/>
                <a:cs typeface="Calibri"/>
                <a:sym typeface="Calibri"/>
              </a:rPr>
              <a:t>    		numOcells++;</a:t>
            </a:r>
            <a:endParaRPr sz="1400">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Arial"/>
              <a:buNone/>
            </a:pPr>
            <a:r>
              <a:rPr i="0" lang="ca" sz="1400" u="none" cap="none" strike="noStrike">
                <a:solidFill>
                  <a:srgbClr val="000000"/>
                </a:solidFill>
                <a:latin typeface="Calibri"/>
                <a:ea typeface="Calibri"/>
                <a:cs typeface="Calibri"/>
                <a:sym typeface="Calibri"/>
              </a:rPr>
              <a:t>	/*Constructor, cada vegada que creem objecte Ocell incrementam el comptador */	</a:t>
            </a:r>
            <a:endParaRPr sz="1400">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Arial"/>
              <a:buNone/>
            </a:pPr>
            <a:r>
              <a:rPr i="0" lang="ca" sz="1400" u="none" cap="none" strike="noStrike">
                <a:solidFill>
                  <a:srgbClr val="000000"/>
                </a:solidFill>
                <a:latin typeface="Calibri"/>
                <a:ea typeface="Calibri"/>
                <a:cs typeface="Calibri"/>
                <a:sym typeface="Calibri"/>
              </a:rPr>
              <a:t>	public Ocell(){		contarOcells();</a:t>
            </a:r>
            <a:endParaRPr sz="1400">
              <a:latin typeface="Calibri"/>
              <a:ea typeface="Calibri"/>
              <a:cs typeface="Calibri"/>
              <a:sym typeface="Calibri"/>
            </a:endParaRPr>
          </a:p>
          <a:p>
            <a:pPr indent="-533400" lvl="0" marL="533400" marR="0" rtl="0" algn="l">
              <a:lnSpc>
                <a:spcPct val="100000"/>
              </a:lnSpc>
              <a:spcBef>
                <a:spcPts val="400"/>
              </a:spcBef>
              <a:spcAft>
                <a:spcPts val="0"/>
              </a:spcAft>
              <a:buClr>
                <a:srgbClr val="000000"/>
              </a:buClr>
              <a:buSzPts val="2000"/>
              <a:buFont typeface="Arial"/>
              <a:buNone/>
            </a:pPr>
            <a:r>
              <a:rPr i="0" lang="ca" sz="1400" u="none" cap="none" strike="noStrike">
                <a:solidFill>
                  <a:srgbClr val="000000"/>
                </a:solidFill>
                <a:latin typeface="Calibri"/>
                <a:ea typeface="Calibri"/>
                <a:cs typeface="Calibri"/>
                <a:sym typeface="Calibri"/>
              </a:rPr>
              <a:t>….</a:t>
            </a:r>
            <a:endParaRPr sz="1400">
              <a:latin typeface="Calibri"/>
              <a:ea typeface="Calibri"/>
              <a:cs typeface="Calibri"/>
              <a:sym typeface="Calibri"/>
            </a:endParaRPr>
          </a:p>
        </p:txBody>
      </p:sp>
      <p:sp>
        <p:nvSpPr>
          <p:cNvPr id="334" name="Google Shape;334;p39"/>
          <p:cNvSpPr txBox="1"/>
          <p:nvPr/>
        </p:nvSpPr>
        <p:spPr>
          <a:xfrm>
            <a:off x="2422493" y="2808900"/>
            <a:ext cx="6264300" cy="17859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ca" sz="1400" u="none" cap="none" strike="noStrike">
                <a:solidFill>
                  <a:srgbClr val="000000"/>
                </a:solidFill>
                <a:latin typeface="Calibri"/>
                <a:ea typeface="Calibri"/>
                <a:cs typeface="Calibri"/>
                <a:sym typeface="Calibri"/>
              </a:rPr>
              <a:t>//Cridam static des d’una altra //classe</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400" u="none" cap="none" strike="noStrike">
                <a:solidFill>
                  <a:srgbClr val="000000"/>
                </a:solidFill>
                <a:latin typeface="Calibri"/>
                <a:ea typeface="Calibri"/>
                <a:cs typeface="Calibri"/>
                <a:sym typeface="Calibri"/>
              </a:rPr>
              <a:t>class prova{</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400" u="none" cap="none" strike="noStrike">
                <a:solidFill>
                  <a:srgbClr val="000000"/>
                </a:solidFill>
                <a:latin typeface="Calibri"/>
                <a:ea typeface="Calibri"/>
                <a:cs typeface="Calibri"/>
                <a:sym typeface="Calibri"/>
              </a:rPr>
              <a:t>	… main…{</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400" u="none" cap="none" strike="noStrike">
                <a:solidFill>
                  <a:srgbClr val="000000"/>
                </a:solidFill>
                <a:latin typeface="Calibri"/>
                <a:ea typeface="Calibri"/>
                <a:cs typeface="Calibri"/>
                <a:sym typeface="Calibri"/>
              </a:rPr>
              <a:t> 	  ocell o;</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2000"/>
              <a:buFont typeface="Arial"/>
              <a:buNone/>
            </a:pPr>
            <a:r>
              <a:rPr b="0" i="0" lang="ca" sz="1400" u="none" cap="none" strike="noStrike">
                <a:solidFill>
                  <a:srgbClr val="000000"/>
                </a:solidFill>
                <a:latin typeface="Calibri"/>
                <a:ea typeface="Calibri"/>
                <a:cs typeface="Calibri"/>
                <a:sym typeface="Calibri"/>
              </a:rPr>
              <a:t>	  o = new Ocell();</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ca" sz="1400" u="none" cap="none" strike="noStrike">
                <a:solidFill>
                  <a:srgbClr val="000000"/>
                </a:solidFill>
                <a:latin typeface="Calibri"/>
                <a:ea typeface="Calibri"/>
                <a:cs typeface="Calibri"/>
                <a:sym typeface="Calibri"/>
              </a:rPr>
              <a:t>	  int ocells = o.numOcells</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0"/>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ctr">
              <a:lnSpc>
                <a:spcPct val="100000"/>
              </a:lnSpc>
              <a:spcBef>
                <a:spcPts val="0"/>
              </a:spcBef>
              <a:spcAft>
                <a:spcPts val="0"/>
              </a:spcAft>
              <a:buClr>
                <a:srgbClr val="339933"/>
              </a:buClr>
              <a:buSzPct val="100000"/>
              <a:buFont typeface="Arial"/>
              <a:buNone/>
            </a:pPr>
            <a:r>
              <a:rPr b="1" i="0" lang="ca" sz="4268" u="none" cap="none" strike="noStrike">
                <a:solidFill>
                  <a:srgbClr val="339933"/>
                </a:solidFill>
                <a:latin typeface="Arial"/>
                <a:ea typeface="Arial"/>
                <a:cs typeface="Arial"/>
                <a:sym typeface="Arial"/>
              </a:rPr>
              <a:t>8. Llibreries d’objectes</a:t>
            </a:r>
            <a:endParaRPr/>
          </a:p>
        </p:txBody>
      </p:sp>
      <p:sp>
        <p:nvSpPr>
          <p:cNvPr id="340" name="Google Shape;340;p40"/>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533400" lvl="0" marL="533400" marR="0" rtl="0" algn="l">
              <a:lnSpc>
                <a:spcPct val="80000"/>
              </a:lnSpc>
              <a:spcBef>
                <a:spcPts val="0"/>
              </a:spcBef>
              <a:spcAft>
                <a:spcPts val="0"/>
              </a:spcAft>
              <a:buClr>
                <a:srgbClr val="000000"/>
              </a:buClr>
              <a:buSzPts val="1550"/>
              <a:buFont typeface="Arial"/>
              <a:buNone/>
            </a:pPr>
            <a:r>
              <a:rPr b="0" i="0" lang="ca" sz="2050" u="none" cap="none" strike="noStrike">
                <a:solidFill>
                  <a:srgbClr val="000000"/>
                </a:solidFill>
                <a:latin typeface="Arial"/>
                <a:ea typeface="Arial"/>
                <a:cs typeface="Arial"/>
                <a:sym typeface="Arial"/>
              </a:rPr>
              <a:t>Llibreria = Paquet(Package)</a:t>
            </a:r>
            <a:endParaRPr sz="1895"/>
          </a:p>
          <a:p>
            <a:pPr indent="-358775" lvl="0" marL="457200" marR="0" rtl="0" algn="l">
              <a:lnSpc>
                <a:spcPct val="80000"/>
              </a:lnSpc>
              <a:spcBef>
                <a:spcPts val="400"/>
              </a:spcBef>
              <a:spcAft>
                <a:spcPts val="0"/>
              </a:spcAft>
              <a:buClr>
                <a:srgbClr val="000000"/>
              </a:buClr>
              <a:buSzPts val="2050"/>
              <a:buFont typeface="Arial"/>
              <a:buChar char="●"/>
            </a:pPr>
            <a:r>
              <a:rPr b="1" i="0" lang="ca" sz="2050" u="none" cap="none" strike="noStrike">
                <a:solidFill>
                  <a:srgbClr val="000000"/>
                </a:solidFill>
                <a:latin typeface="Arial"/>
                <a:ea typeface="Arial"/>
                <a:cs typeface="Arial"/>
                <a:sym typeface="Arial"/>
              </a:rPr>
              <a:t>Package</a:t>
            </a:r>
            <a:r>
              <a:rPr b="0" i="0" lang="ca" sz="2050" u="none" cap="none" strike="noStrike">
                <a:solidFill>
                  <a:srgbClr val="000000"/>
                </a:solidFill>
                <a:latin typeface="Arial"/>
                <a:ea typeface="Arial"/>
                <a:cs typeface="Arial"/>
                <a:sym typeface="Arial"/>
              </a:rPr>
              <a:t>: Conjunt de classes relacionades entre si, no tenen per què tenir la mateixa superclasse. Permet agrupar classes. Totes les classes han d’estar dins un paquet</a:t>
            </a:r>
            <a:endParaRPr sz="1895"/>
          </a:p>
          <a:p>
            <a:pPr indent="-533400" lvl="0" marL="533400" marR="0" rtl="0" algn="l">
              <a:lnSpc>
                <a:spcPct val="80000"/>
              </a:lnSpc>
              <a:spcBef>
                <a:spcPts val="400"/>
              </a:spcBef>
              <a:spcAft>
                <a:spcPts val="0"/>
              </a:spcAft>
              <a:buClr>
                <a:srgbClr val="000000"/>
              </a:buClr>
              <a:buSzPts val="1550"/>
              <a:buFont typeface="Arial"/>
              <a:buNone/>
            </a:pPr>
            <a:r>
              <a:rPr b="0" i="0" lang="ca" sz="2050" u="none" cap="none" strike="noStrike">
                <a:solidFill>
                  <a:srgbClr val="000000"/>
                </a:solidFill>
                <a:latin typeface="Arial"/>
                <a:ea typeface="Arial"/>
                <a:cs typeface="Arial"/>
                <a:sym typeface="Arial"/>
              </a:rPr>
              <a:t>P.ex.: java.io</a:t>
            </a:r>
            <a:r>
              <a:rPr b="0" i="0" lang="ca" sz="2050" u="none" cap="none" strike="noStrike">
                <a:solidFill>
                  <a:srgbClr val="000000"/>
                </a:solidFill>
                <a:latin typeface="Noto Sans Symbols"/>
                <a:ea typeface="Noto Sans Symbols"/>
                <a:cs typeface="Noto Sans Symbols"/>
                <a:sym typeface="Noto Sans Symbols"/>
              </a:rPr>
              <a:t>→ </a:t>
            </a:r>
            <a:r>
              <a:rPr b="0" i="0" lang="ca" sz="2050" u="none" cap="none" strike="noStrike">
                <a:solidFill>
                  <a:srgbClr val="000000"/>
                </a:solidFill>
                <a:latin typeface="Arial"/>
                <a:ea typeface="Arial"/>
                <a:cs typeface="Arial"/>
                <a:sym typeface="Arial"/>
              </a:rPr>
              <a:t>classes d’entrada i sortida de informació</a:t>
            </a:r>
            <a:endParaRPr sz="1895"/>
          </a:p>
          <a:p>
            <a:pPr indent="-533400" lvl="0" marL="533400" marR="0" rtl="0" algn="l">
              <a:lnSpc>
                <a:spcPct val="80000"/>
              </a:lnSpc>
              <a:spcBef>
                <a:spcPts val="700"/>
              </a:spcBef>
              <a:spcAft>
                <a:spcPts val="0"/>
              </a:spcAft>
              <a:buClr>
                <a:srgbClr val="000000"/>
              </a:buClr>
              <a:buSzPts val="1550"/>
              <a:buFont typeface="Arial"/>
              <a:buNone/>
            </a:pPr>
            <a:r>
              <a:t/>
            </a:r>
            <a:endParaRPr b="0" i="0" sz="2050" u="none" cap="none" strike="noStrike">
              <a:solidFill>
                <a:srgbClr val="000000"/>
              </a:solidFill>
              <a:latin typeface="Arial"/>
              <a:ea typeface="Arial"/>
              <a:cs typeface="Arial"/>
              <a:sym typeface="Arial"/>
            </a:endParaRPr>
          </a:p>
          <a:p>
            <a:pPr indent="-533400" lvl="0" marL="533400" marR="0" rtl="0" algn="l">
              <a:lnSpc>
                <a:spcPct val="80000"/>
              </a:lnSpc>
              <a:spcBef>
                <a:spcPts val="400"/>
              </a:spcBef>
              <a:spcAft>
                <a:spcPts val="0"/>
              </a:spcAft>
              <a:buClr>
                <a:srgbClr val="000000"/>
              </a:buClr>
              <a:buSzPts val="1550"/>
              <a:buFont typeface="Arial"/>
              <a:buNone/>
            </a:pPr>
            <a:r>
              <a:rPr b="0" i="0" lang="ca" sz="2050" u="none" cap="none" strike="noStrike">
                <a:solidFill>
                  <a:srgbClr val="000000"/>
                </a:solidFill>
                <a:latin typeface="Arial"/>
                <a:ea typeface="Arial"/>
                <a:cs typeface="Arial"/>
                <a:sym typeface="Arial"/>
              </a:rPr>
              <a:t>Un paquet pot contenir altres paquets.</a:t>
            </a:r>
            <a:endParaRPr sz="1895"/>
          </a:p>
          <a:p>
            <a:pPr indent="-533400" lvl="0" marL="533400" marR="0" rtl="0" algn="l">
              <a:lnSpc>
                <a:spcPct val="80000"/>
              </a:lnSpc>
              <a:spcBef>
                <a:spcPts val="700"/>
              </a:spcBef>
              <a:spcAft>
                <a:spcPts val="0"/>
              </a:spcAft>
              <a:buClr>
                <a:srgbClr val="000000"/>
              </a:buClr>
              <a:buSzPts val="1550"/>
              <a:buFont typeface="Arial"/>
              <a:buNone/>
            </a:pPr>
            <a:r>
              <a:t/>
            </a:r>
            <a:endParaRPr b="0" i="0" sz="2050" u="none" cap="none" strike="noStrike">
              <a:solidFill>
                <a:srgbClr val="000000"/>
              </a:solidFill>
              <a:latin typeface="Arial"/>
              <a:ea typeface="Arial"/>
              <a:cs typeface="Arial"/>
              <a:sym typeface="Arial"/>
            </a:endParaRPr>
          </a:p>
          <a:p>
            <a:pPr indent="-358775" lvl="0" marL="457200" marR="0" rtl="0" algn="l">
              <a:lnSpc>
                <a:spcPct val="80000"/>
              </a:lnSpc>
              <a:spcBef>
                <a:spcPts val="400"/>
              </a:spcBef>
              <a:spcAft>
                <a:spcPts val="0"/>
              </a:spcAft>
              <a:buClr>
                <a:srgbClr val="000000"/>
              </a:buClr>
              <a:buSzPts val="2050"/>
              <a:buFont typeface="Arial"/>
              <a:buChar char="●"/>
            </a:pPr>
            <a:r>
              <a:rPr b="0" i="0" lang="ca" sz="2050" u="none" cap="none" strike="noStrike">
                <a:solidFill>
                  <a:srgbClr val="000000"/>
                </a:solidFill>
                <a:latin typeface="Arial"/>
                <a:ea typeface="Arial"/>
                <a:cs typeface="Arial"/>
                <a:sym typeface="Arial"/>
              </a:rPr>
              <a:t>Els noms dels paquets són paraules separades per punts i s'emmagatzemen en directoris que coincideixen amb aquests noms.</a:t>
            </a:r>
            <a:endParaRPr sz="1895"/>
          </a:p>
          <a:p>
            <a:pPr indent="-533400" lvl="0" marL="533400" marR="0" rtl="0" algn="l">
              <a:lnSpc>
                <a:spcPct val="80000"/>
              </a:lnSpc>
              <a:spcBef>
                <a:spcPts val="400"/>
              </a:spcBef>
              <a:spcAft>
                <a:spcPts val="0"/>
              </a:spcAft>
              <a:buClr>
                <a:srgbClr val="000000"/>
              </a:buClr>
              <a:buSzPts val="1550"/>
              <a:buFont typeface="Arial"/>
              <a:buNone/>
            </a:pPr>
            <a:r>
              <a:rPr b="0" i="0" lang="ca" sz="2050" u="none" cap="none" strike="noStrike">
                <a:solidFill>
                  <a:srgbClr val="000000"/>
                </a:solidFill>
                <a:latin typeface="Arial"/>
                <a:ea typeface="Arial"/>
                <a:cs typeface="Arial"/>
                <a:sym typeface="Arial"/>
              </a:rPr>
              <a:t>P.ex.: java.io</a:t>
            </a:r>
            <a:r>
              <a:rPr b="0" i="0" lang="ca" sz="2050" u="none" cap="none" strike="noStrike">
                <a:solidFill>
                  <a:srgbClr val="000000"/>
                </a:solidFill>
                <a:latin typeface="Noto Sans Symbols"/>
                <a:ea typeface="Noto Sans Symbols"/>
                <a:cs typeface="Noto Sans Symbols"/>
                <a:sym typeface="Noto Sans Symbols"/>
              </a:rPr>
              <a:t>→ </a:t>
            </a:r>
            <a:r>
              <a:rPr b="0" i="0" lang="ca" sz="2050" u="none" cap="none" strike="noStrike">
                <a:solidFill>
                  <a:srgbClr val="000000"/>
                </a:solidFill>
                <a:latin typeface="Arial"/>
                <a:ea typeface="Arial"/>
                <a:cs typeface="Arial"/>
                <a:sym typeface="Arial"/>
              </a:rPr>
              <a:t>.../java/io</a:t>
            </a:r>
            <a:endParaRPr sz="1895"/>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1"/>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l">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Import</a:t>
            </a:r>
            <a:endParaRPr/>
          </a:p>
        </p:txBody>
      </p:sp>
      <p:sp>
        <p:nvSpPr>
          <p:cNvPr id="346" name="Google Shape;346;p41"/>
          <p:cNvSpPr txBox="1"/>
          <p:nvPr>
            <p:ph idx="1" type="body"/>
          </p:nvPr>
        </p:nvSpPr>
        <p:spPr>
          <a:xfrm>
            <a:off x="311700" y="864356"/>
            <a:ext cx="8520600" cy="2562300"/>
          </a:xfrm>
          <a:prstGeom prst="rect">
            <a:avLst/>
          </a:prstGeom>
          <a:noFill/>
          <a:ln>
            <a:noFill/>
          </a:ln>
        </p:spPr>
        <p:txBody>
          <a:bodyPr anchorCtr="0" anchor="t" bIns="45700" lIns="45700" spcFirstLastPara="1" rIns="45700" wrap="square" tIns="45700">
            <a:noAutofit/>
          </a:bodyPr>
          <a:lstStyle/>
          <a:p>
            <a:pPr indent="-359727" lvl="0" marL="457200" marR="0" rtl="0" algn="l">
              <a:lnSpc>
                <a:spcPct val="60000"/>
              </a:lnSpc>
              <a:spcBef>
                <a:spcPts val="0"/>
              </a:spcBef>
              <a:spcAft>
                <a:spcPts val="0"/>
              </a:spcAft>
              <a:buClr>
                <a:srgbClr val="000000"/>
              </a:buClr>
              <a:buSzPts val="2065"/>
              <a:buFont typeface="Calibri"/>
              <a:buChar char="●"/>
            </a:pPr>
            <a:r>
              <a:rPr i="0" lang="ca" sz="2065" u="none" cap="none" strike="noStrike">
                <a:solidFill>
                  <a:srgbClr val="000000"/>
                </a:solidFill>
                <a:latin typeface="Calibri"/>
                <a:ea typeface="Calibri"/>
                <a:cs typeface="Calibri"/>
                <a:sym typeface="Calibri"/>
              </a:rPr>
              <a:t>Per utilitzar les classes d’un altre paquet, hem d'especificar de qualque manera on es troba:</a:t>
            </a:r>
            <a:endParaRPr i="0" sz="2065" u="none" cap="none" strike="noStrike">
              <a:solidFill>
                <a:srgbClr val="000000"/>
              </a:solidFill>
              <a:latin typeface="Calibri"/>
              <a:ea typeface="Calibri"/>
              <a:cs typeface="Calibri"/>
              <a:sym typeface="Calibri"/>
            </a:endParaRPr>
          </a:p>
          <a:p>
            <a:pPr indent="0" lvl="0" marL="457200" marR="0" rtl="0" algn="l">
              <a:lnSpc>
                <a:spcPct val="60000"/>
              </a:lnSpc>
              <a:spcBef>
                <a:spcPts val="0"/>
              </a:spcBef>
              <a:spcAft>
                <a:spcPts val="0"/>
              </a:spcAft>
              <a:buSzPts val="1800"/>
              <a:buNone/>
            </a:pPr>
            <a:r>
              <a:t/>
            </a:r>
            <a:endParaRPr sz="2065">
              <a:solidFill>
                <a:srgbClr val="000000"/>
              </a:solidFill>
              <a:latin typeface="Calibri"/>
              <a:ea typeface="Calibri"/>
              <a:cs typeface="Calibri"/>
              <a:sym typeface="Calibri"/>
            </a:endParaRPr>
          </a:p>
          <a:p>
            <a:pPr indent="-512061" lvl="0" marL="1426461" marR="0" rtl="0" algn="l">
              <a:lnSpc>
                <a:spcPct val="60000"/>
              </a:lnSpc>
              <a:spcBef>
                <a:spcPts val="0"/>
              </a:spcBef>
              <a:spcAft>
                <a:spcPts val="0"/>
              </a:spcAft>
              <a:buClr>
                <a:srgbClr val="000000"/>
              </a:buClr>
              <a:buSzPts val="1775"/>
              <a:buFont typeface="Arial"/>
              <a:buNone/>
            </a:pPr>
            <a:r>
              <a:rPr i="0" lang="ca" sz="1765" u="none" cap="none" strike="noStrike">
                <a:solidFill>
                  <a:srgbClr val="000000"/>
                </a:solidFill>
                <a:latin typeface="Courier New"/>
                <a:ea typeface="Courier New"/>
                <a:cs typeface="Courier New"/>
                <a:sym typeface="Courier New"/>
              </a:rPr>
              <a:t>java.util.Date data1= new java.util.Date(); </a:t>
            </a:r>
            <a:endParaRPr sz="1765">
              <a:latin typeface="Courier New"/>
              <a:ea typeface="Courier New"/>
              <a:cs typeface="Courier New"/>
              <a:sym typeface="Courier New"/>
            </a:endParaRPr>
          </a:p>
          <a:p>
            <a:pPr indent="0" lvl="0" marL="914400" marR="0" rtl="0" algn="l">
              <a:lnSpc>
                <a:spcPct val="60000"/>
              </a:lnSpc>
              <a:spcBef>
                <a:spcPts val="0"/>
              </a:spcBef>
              <a:spcAft>
                <a:spcPts val="0"/>
              </a:spcAft>
              <a:buClr>
                <a:srgbClr val="000000"/>
              </a:buClr>
              <a:buSzPts val="1775"/>
              <a:buFont typeface="Arial"/>
              <a:buNone/>
            </a:pPr>
            <a:r>
              <a:rPr i="0" lang="ca" sz="1765" u="none" cap="none" strike="noStrike">
                <a:solidFill>
                  <a:srgbClr val="000000"/>
                </a:solidFill>
                <a:latin typeface="Courier New"/>
                <a:ea typeface="Courier New"/>
                <a:cs typeface="Courier New"/>
                <a:sym typeface="Courier New"/>
              </a:rPr>
              <a:t>java.util.Date data2= new java.util.Date();</a:t>
            </a:r>
            <a:endParaRPr sz="1765">
              <a:latin typeface="Courier New"/>
              <a:ea typeface="Courier New"/>
              <a:cs typeface="Courier New"/>
              <a:sym typeface="Courier New"/>
            </a:endParaRPr>
          </a:p>
          <a:p>
            <a:pPr indent="-512062" lvl="0" marL="512062" marR="0" rtl="0" algn="ctr">
              <a:lnSpc>
                <a:spcPct val="60000"/>
              </a:lnSpc>
              <a:spcBef>
                <a:spcPts val="0"/>
              </a:spcBef>
              <a:spcAft>
                <a:spcPts val="0"/>
              </a:spcAft>
              <a:buClr>
                <a:srgbClr val="000000"/>
              </a:buClr>
              <a:buSzPts val="1775"/>
              <a:buFont typeface="Arial"/>
              <a:buNone/>
            </a:pPr>
            <a:r>
              <a:t/>
            </a:r>
            <a:endParaRPr i="0" sz="2065" u="none" cap="none" strike="noStrike">
              <a:solidFill>
                <a:srgbClr val="000000"/>
              </a:solidFill>
              <a:latin typeface="Calibri"/>
              <a:ea typeface="Calibri"/>
              <a:cs typeface="Calibri"/>
              <a:sym typeface="Calibri"/>
            </a:endParaRPr>
          </a:p>
          <a:p>
            <a:pPr indent="-359727" lvl="0" marL="457200" marR="0" rtl="0" algn="l">
              <a:lnSpc>
                <a:spcPct val="60000"/>
              </a:lnSpc>
              <a:spcBef>
                <a:spcPts val="0"/>
              </a:spcBef>
              <a:spcAft>
                <a:spcPts val="0"/>
              </a:spcAft>
              <a:buClr>
                <a:srgbClr val="000000"/>
              </a:buClr>
              <a:buSzPts val="2065"/>
              <a:buFont typeface="Calibri"/>
              <a:buChar char="●"/>
            </a:pPr>
            <a:r>
              <a:rPr i="0" lang="ca" sz="2065" u="none" cap="none" strike="noStrike">
                <a:solidFill>
                  <a:srgbClr val="000000"/>
                </a:solidFill>
                <a:latin typeface="Calibri"/>
                <a:ea typeface="Calibri"/>
                <a:cs typeface="Calibri"/>
                <a:sym typeface="Calibri"/>
              </a:rPr>
              <a:t>Amb l’exemple anterior hauríem d’escriure cada vegada el paquet sencer, per evitar-ho, normalment ho farem utilitzant </a:t>
            </a:r>
            <a:r>
              <a:rPr b="1" i="0" lang="ca" sz="2065" u="none" cap="none" strike="noStrike">
                <a:solidFill>
                  <a:srgbClr val="000000"/>
                </a:solidFill>
                <a:latin typeface="Calibri"/>
                <a:ea typeface="Calibri"/>
                <a:cs typeface="Calibri"/>
                <a:sym typeface="Calibri"/>
              </a:rPr>
              <a:t>import</a:t>
            </a:r>
            <a:r>
              <a:rPr i="0" lang="ca" sz="2065" u="none" cap="none" strike="noStrike">
                <a:solidFill>
                  <a:srgbClr val="000000"/>
                </a:solidFill>
                <a:latin typeface="Calibri"/>
                <a:ea typeface="Calibri"/>
                <a:cs typeface="Calibri"/>
                <a:sym typeface="Calibri"/>
              </a:rPr>
              <a:t>:</a:t>
            </a:r>
            <a:endParaRPr i="0" sz="2065" u="none" cap="none" strike="noStrike">
              <a:solidFill>
                <a:srgbClr val="000000"/>
              </a:solidFill>
              <a:latin typeface="Calibri"/>
              <a:ea typeface="Calibri"/>
              <a:cs typeface="Calibri"/>
              <a:sym typeface="Calibri"/>
            </a:endParaRPr>
          </a:p>
          <a:p>
            <a:pPr indent="0" lvl="0" marL="457200" marR="0" rtl="0" algn="l">
              <a:lnSpc>
                <a:spcPct val="60000"/>
              </a:lnSpc>
              <a:spcBef>
                <a:spcPts val="0"/>
              </a:spcBef>
              <a:spcAft>
                <a:spcPts val="0"/>
              </a:spcAft>
              <a:buSzPts val="1800"/>
              <a:buNone/>
            </a:pPr>
            <a:r>
              <a:t/>
            </a:r>
            <a:endParaRPr sz="2065">
              <a:solidFill>
                <a:srgbClr val="000000"/>
              </a:solidFill>
              <a:latin typeface="Calibri"/>
              <a:ea typeface="Calibri"/>
              <a:cs typeface="Calibri"/>
              <a:sym typeface="Calibri"/>
            </a:endParaRPr>
          </a:p>
          <a:p>
            <a:pPr indent="-512062" lvl="0" marL="512062" marR="0" rtl="0" algn="l">
              <a:lnSpc>
                <a:spcPct val="60000"/>
              </a:lnSpc>
              <a:spcBef>
                <a:spcPts val="0"/>
              </a:spcBef>
              <a:spcAft>
                <a:spcPts val="0"/>
              </a:spcAft>
              <a:buClr>
                <a:srgbClr val="000000"/>
              </a:buClr>
              <a:buSzPts val="1775"/>
              <a:buFont typeface="Arial"/>
              <a:buNone/>
            </a:pPr>
            <a:r>
              <a:rPr i="0" lang="ca" sz="2065" u="none" cap="none" strike="noStrike">
                <a:solidFill>
                  <a:srgbClr val="000000"/>
                </a:solidFill>
                <a:latin typeface="Calibri"/>
                <a:ea typeface="Calibri"/>
                <a:cs typeface="Calibri"/>
                <a:sym typeface="Calibri"/>
              </a:rPr>
              <a:t>		</a:t>
            </a:r>
            <a:r>
              <a:rPr i="0" lang="ca" sz="1765" u="none" cap="none" strike="noStrike">
                <a:solidFill>
                  <a:srgbClr val="000000"/>
                </a:solidFill>
                <a:latin typeface="Courier New"/>
                <a:ea typeface="Courier New"/>
                <a:cs typeface="Courier New"/>
                <a:sym typeface="Courier New"/>
              </a:rPr>
              <a:t>//importam la classe import</a:t>
            </a:r>
            <a:endParaRPr sz="1765">
              <a:latin typeface="Courier New"/>
              <a:ea typeface="Courier New"/>
              <a:cs typeface="Courier New"/>
              <a:sym typeface="Courier New"/>
            </a:endParaRPr>
          </a:p>
          <a:p>
            <a:pPr indent="-512062" lvl="0" marL="512062" marR="0" rtl="0" algn="l">
              <a:lnSpc>
                <a:spcPct val="60000"/>
              </a:lnSpc>
              <a:spcBef>
                <a:spcPts val="0"/>
              </a:spcBef>
              <a:spcAft>
                <a:spcPts val="0"/>
              </a:spcAft>
              <a:buClr>
                <a:srgbClr val="000000"/>
              </a:buClr>
              <a:buSzPts val="1775"/>
              <a:buFont typeface="Arial"/>
              <a:buNone/>
            </a:pPr>
            <a:r>
              <a:rPr i="0" lang="ca" sz="1765" u="none" cap="none" strike="noStrike">
                <a:solidFill>
                  <a:srgbClr val="000000"/>
                </a:solidFill>
                <a:latin typeface="Courier New"/>
                <a:ea typeface="Courier New"/>
                <a:cs typeface="Courier New"/>
                <a:sym typeface="Courier New"/>
              </a:rPr>
              <a:t>		import java.util.Date;</a:t>
            </a:r>
            <a:endParaRPr sz="1765">
              <a:latin typeface="Courier New"/>
              <a:ea typeface="Courier New"/>
              <a:cs typeface="Courier New"/>
              <a:sym typeface="Courier New"/>
            </a:endParaRPr>
          </a:p>
          <a:p>
            <a:pPr indent="-512062" lvl="0" marL="512062" marR="0" rtl="0" algn="l">
              <a:lnSpc>
                <a:spcPct val="60000"/>
              </a:lnSpc>
              <a:spcBef>
                <a:spcPts val="0"/>
              </a:spcBef>
              <a:spcAft>
                <a:spcPts val="0"/>
              </a:spcAft>
              <a:buClr>
                <a:srgbClr val="000000"/>
              </a:buClr>
              <a:buSzPts val="1775"/>
              <a:buFont typeface="Arial"/>
              <a:buNone/>
            </a:pPr>
            <a:r>
              <a:rPr i="0" lang="ca" sz="1765" u="none" cap="none" strike="noStrike">
                <a:solidFill>
                  <a:srgbClr val="000000"/>
                </a:solidFill>
                <a:latin typeface="Courier New"/>
                <a:ea typeface="Courier New"/>
                <a:cs typeface="Courier New"/>
                <a:sym typeface="Courier New"/>
              </a:rPr>
              <a:t>		Date data1= new Date();</a:t>
            </a:r>
            <a:endParaRPr b="1" i="0" sz="1765" u="none" cap="none" strike="noStrike">
              <a:solidFill>
                <a:srgbClr val="000000"/>
              </a:solidFill>
              <a:latin typeface="Courier New"/>
              <a:ea typeface="Courier New"/>
              <a:cs typeface="Courier New"/>
              <a:sym typeface="Courier New"/>
            </a:endParaRPr>
          </a:p>
          <a:p>
            <a:pPr indent="-512062" lvl="0" marL="512062" marR="0" rtl="0" algn="l">
              <a:lnSpc>
                <a:spcPct val="60000"/>
              </a:lnSpc>
              <a:spcBef>
                <a:spcPts val="0"/>
              </a:spcBef>
              <a:spcAft>
                <a:spcPts val="0"/>
              </a:spcAft>
              <a:buClr>
                <a:srgbClr val="000000"/>
              </a:buClr>
              <a:buSzPts val="1775"/>
              <a:buFont typeface="Arial"/>
              <a:buNone/>
            </a:pPr>
            <a:r>
              <a:rPr i="0" lang="ca" sz="1765" u="none" cap="none" strike="noStrike">
                <a:solidFill>
                  <a:srgbClr val="000000"/>
                </a:solidFill>
                <a:latin typeface="Courier New"/>
                <a:ea typeface="Courier New"/>
                <a:cs typeface="Courier New"/>
                <a:sym typeface="Courier New"/>
              </a:rPr>
              <a:t>		Date data2= new Date();</a:t>
            </a:r>
            <a:endParaRPr sz="1765">
              <a:latin typeface="Courier New"/>
              <a:ea typeface="Courier New"/>
              <a:cs typeface="Courier New"/>
              <a:sym typeface="Courier New"/>
            </a:endParaRPr>
          </a:p>
          <a:p>
            <a:pPr indent="-512062" lvl="0" marL="512062" marR="0" rtl="0" algn="l">
              <a:lnSpc>
                <a:spcPct val="60000"/>
              </a:lnSpc>
              <a:spcBef>
                <a:spcPts val="0"/>
              </a:spcBef>
              <a:spcAft>
                <a:spcPts val="0"/>
              </a:spcAft>
              <a:buClr>
                <a:srgbClr val="000000"/>
              </a:buClr>
              <a:buSzPts val="1775"/>
              <a:buFont typeface="Arial"/>
              <a:buNone/>
            </a:pPr>
            <a:r>
              <a:t/>
            </a:r>
            <a:endParaRPr i="0" sz="2065" u="none" cap="none" strike="noStrike">
              <a:solidFill>
                <a:srgbClr val="000000"/>
              </a:solidFill>
              <a:latin typeface="Calibri"/>
              <a:ea typeface="Calibri"/>
              <a:cs typeface="Calibri"/>
              <a:sym typeface="Calibri"/>
            </a:endParaRPr>
          </a:p>
          <a:p>
            <a:pPr indent="-359727" lvl="0" marL="457200" marR="0" rtl="0" algn="l">
              <a:lnSpc>
                <a:spcPct val="60000"/>
              </a:lnSpc>
              <a:spcBef>
                <a:spcPts val="0"/>
              </a:spcBef>
              <a:spcAft>
                <a:spcPts val="0"/>
              </a:spcAft>
              <a:buClr>
                <a:srgbClr val="000000"/>
              </a:buClr>
              <a:buSzPts val="2065"/>
              <a:buFont typeface="Calibri"/>
              <a:buChar char="●"/>
            </a:pPr>
            <a:r>
              <a:rPr i="0" lang="ca" sz="2065" u="none" cap="none" strike="noStrike">
                <a:solidFill>
                  <a:srgbClr val="000000"/>
                </a:solidFill>
                <a:latin typeface="Calibri"/>
                <a:ea typeface="Calibri"/>
                <a:cs typeface="Calibri"/>
                <a:sym typeface="Calibri"/>
              </a:rPr>
              <a:t>També podem </a:t>
            </a:r>
            <a:r>
              <a:rPr b="1" i="0" lang="ca" sz="2065" u="none" cap="none" strike="noStrike">
                <a:solidFill>
                  <a:srgbClr val="000000"/>
                </a:solidFill>
                <a:latin typeface="Calibri"/>
                <a:ea typeface="Calibri"/>
                <a:cs typeface="Calibri"/>
                <a:sym typeface="Calibri"/>
              </a:rPr>
              <a:t>importar totes les classes d’un paquet</a:t>
            </a:r>
            <a:r>
              <a:rPr i="0" lang="ca" sz="2065" u="none" cap="none" strike="noStrike">
                <a:solidFill>
                  <a:srgbClr val="000000"/>
                </a:solidFill>
                <a:latin typeface="Calibri"/>
                <a:ea typeface="Calibri"/>
                <a:cs typeface="Calibri"/>
                <a:sym typeface="Calibri"/>
              </a:rPr>
              <a:t>: </a:t>
            </a:r>
            <a:endParaRPr i="0" sz="2065" u="none" cap="none" strike="noStrike">
              <a:solidFill>
                <a:srgbClr val="000000"/>
              </a:solidFill>
              <a:latin typeface="Calibri"/>
              <a:ea typeface="Calibri"/>
              <a:cs typeface="Calibri"/>
              <a:sym typeface="Calibri"/>
            </a:endParaRPr>
          </a:p>
          <a:p>
            <a:pPr indent="0" lvl="0" marL="457200" marR="0" rtl="0" algn="l">
              <a:lnSpc>
                <a:spcPct val="60000"/>
              </a:lnSpc>
              <a:spcBef>
                <a:spcPts val="0"/>
              </a:spcBef>
              <a:spcAft>
                <a:spcPts val="0"/>
              </a:spcAft>
              <a:buSzPts val="1800"/>
              <a:buNone/>
            </a:pPr>
            <a:r>
              <a:t/>
            </a:r>
            <a:endParaRPr sz="1665">
              <a:solidFill>
                <a:srgbClr val="000000"/>
              </a:solidFill>
              <a:latin typeface="Courier New"/>
              <a:ea typeface="Courier New"/>
              <a:cs typeface="Courier New"/>
              <a:sym typeface="Courier New"/>
            </a:endParaRPr>
          </a:p>
          <a:p>
            <a:pPr indent="457200" lvl="0" marL="457200" marR="0" rtl="0" algn="l">
              <a:lnSpc>
                <a:spcPct val="60000"/>
              </a:lnSpc>
              <a:spcBef>
                <a:spcPts val="0"/>
              </a:spcBef>
              <a:spcAft>
                <a:spcPts val="0"/>
              </a:spcAft>
              <a:buSzPts val="1800"/>
              <a:buNone/>
            </a:pPr>
            <a:r>
              <a:rPr i="0" lang="ca" sz="1665" u="none" cap="none" strike="noStrike">
                <a:solidFill>
                  <a:srgbClr val="000000"/>
                </a:solidFill>
                <a:latin typeface="Courier New"/>
                <a:ea typeface="Courier New"/>
                <a:cs typeface="Courier New"/>
                <a:sym typeface="Courier New"/>
              </a:rPr>
              <a:t>import java.util.*</a:t>
            </a:r>
            <a:endParaRPr i="0" sz="1665" u="none" cap="none" strike="noStrike">
              <a:solidFill>
                <a:srgbClr val="000000"/>
              </a:solidFill>
              <a:latin typeface="Courier New"/>
              <a:ea typeface="Courier New"/>
              <a:cs typeface="Courier New"/>
              <a:sym typeface="Courier New"/>
            </a:endParaRPr>
          </a:p>
          <a:p>
            <a:pPr indent="0" lvl="0" marL="457200" marR="0" rtl="0" algn="l">
              <a:lnSpc>
                <a:spcPct val="60000"/>
              </a:lnSpc>
              <a:spcBef>
                <a:spcPts val="0"/>
              </a:spcBef>
              <a:spcAft>
                <a:spcPts val="0"/>
              </a:spcAft>
              <a:buSzPts val="1800"/>
              <a:buNone/>
            </a:pPr>
            <a:r>
              <a:t/>
            </a:r>
            <a:endParaRPr sz="2065">
              <a:solidFill>
                <a:srgbClr val="000000"/>
              </a:solidFill>
              <a:latin typeface="Calibri"/>
              <a:ea typeface="Calibri"/>
              <a:cs typeface="Calibri"/>
              <a:sym typeface="Calibri"/>
            </a:endParaRPr>
          </a:p>
          <a:p>
            <a:pPr indent="-359727" lvl="0" marL="457200" marR="0" rtl="0" algn="l">
              <a:lnSpc>
                <a:spcPct val="60000"/>
              </a:lnSpc>
              <a:spcBef>
                <a:spcPts val="0"/>
              </a:spcBef>
              <a:spcAft>
                <a:spcPts val="0"/>
              </a:spcAft>
              <a:buClr>
                <a:srgbClr val="000000"/>
              </a:buClr>
              <a:buSzPts val="2065"/>
              <a:buFont typeface="Calibri"/>
              <a:buChar char="●"/>
            </a:pPr>
            <a:r>
              <a:rPr i="0" lang="ca" sz="2065" u="none" cap="none" strike="noStrike">
                <a:solidFill>
                  <a:srgbClr val="000000"/>
                </a:solidFill>
                <a:latin typeface="Calibri"/>
                <a:ea typeface="Calibri"/>
                <a:cs typeface="Calibri"/>
                <a:sym typeface="Calibri"/>
              </a:rPr>
              <a:t>La sentència import es situa al principi de la classe, abans de la declaració.</a:t>
            </a:r>
            <a:endParaRPr sz="2065">
              <a:latin typeface="Calibri"/>
              <a:ea typeface="Calibri"/>
              <a:cs typeface="Calibri"/>
              <a:sym typeface="Calibri"/>
            </a:endParaRPr>
          </a:p>
          <a:p>
            <a:pPr indent="0" lvl="0" marL="0" marR="0" rtl="0" algn="l">
              <a:lnSpc>
                <a:spcPct val="60000"/>
              </a:lnSpc>
              <a:spcBef>
                <a:spcPts val="0"/>
              </a:spcBef>
              <a:spcAft>
                <a:spcPts val="0"/>
              </a:spcAft>
              <a:buSzPts val="1018"/>
              <a:buNone/>
            </a:pPr>
            <a:r>
              <a:t/>
            </a:r>
            <a:endParaRPr i="0" sz="2065" u="none" cap="none" strike="noStrike">
              <a:solidFill>
                <a:srgbClr val="000000"/>
              </a:solidFill>
              <a:latin typeface="Calibri"/>
              <a:ea typeface="Calibri"/>
              <a:cs typeface="Calibri"/>
              <a:sym typeface="Calibri"/>
            </a:endParaRPr>
          </a:p>
          <a:p>
            <a:pPr indent="-359727" lvl="0" marL="457200" marR="0" rtl="0" algn="l">
              <a:lnSpc>
                <a:spcPct val="60000"/>
              </a:lnSpc>
              <a:spcBef>
                <a:spcPts val="0"/>
              </a:spcBef>
              <a:spcAft>
                <a:spcPts val="0"/>
              </a:spcAft>
              <a:buClr>
                <a:srgbClr val="000000"/>
              </a:buClr>
              <a:buSzPts val="2065"/>
              <a:buFont typeface="Calibri"/>
              <a:buChar char="●"/>
            </a:pPr>
            <a:r>
              <a:rPr i="0" lang="ca" sz="2065" u="none" cap="none" strike="noStrike">
                <a:solidFill>
                  <a:srgbClr val="000000"/>
                </a:solidFill>
                <a:latin typeface="Calibri"/>
                <a:ea typeface="Calibri"/>
                <a:cs typeface="Calibri"/>
                <a:sym typeface="Calibri"/>
              </a:rPr>
              <a:t>Les classes del mateix paquet no s’han d’importar.</a:t>
            </a:r>
            <a:endParaRPr sz="2065">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2"/>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l">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Algunes llibreries java</a:t>
            </a:r>
            <a:endParaRPr/>
          </a:p>
        </p:txBody>
      </p:sp>
      <p:pic>
        <p:nvPicPr>
          <p:cNvPr descr="01.jpeg" id="352" name="Google Shape;352;p42"/>
          <p:cNvPicPr preferRelativeResize="0"/>
          <p:nvPr/>
        </p:nvPicPr>
        <p:blipFill rotWithShape="1">
          <a:blip r:embed="rId3">
            <a:alphaModFix/>
          </a:blip>
          <a:srcRect b="0" l="0" r="0" t="0"/>
          <a:stretch/>
        </p:blipFill>
        <p:spPr>
          <a:xfrm>
            <a:off x="514350" y="1267487"/>
            <a:ext cx="8066608" cy="296489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3"/>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l">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Exemple Classe</a:t>
            </a:r>
            <a:endParaRPr/>
          </a:p>
        </p:txBody>
      </p:sp>
      <p:sp>
        <p:nvSpPr>
          <p:cNvPr id="358" name="Google Shape;358;p43"/>
          <p:cNvSpPr txBox="1"/>
          <p:nvPr>
            <p:ph idx="1" type="body"/>
          </p:nvPr>
        </p:nvSpPr>
        <p:spPr>
          <a:xfrm>
            <a:off x="457200" y="1200150"/>
            <a:ext cx="4110600" cy="33945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rmAutofit fontScale="85000" lnSpcReduction="20000"/>
          </a:bodyPr>
          <a:lstStyle/>
          <a:p>
            <a:pPr indent="-416050" lvl="0" marL="416050" marR="0" rtl="0" algn="l">
              <a:lnSpc>
                <a:spcPct val="100000"/>
              </a:lnSpc>
              <a:spcBef>
                <a:spcPts val="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public class Ocell{</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//Atributs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private int edat;</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private char color;</a:t>
            </a:r>
            <a:endParaRPr sz="1400">
              <a:latin typeface="Calibri"/>
              <a:ea typeface="Calibri"/>
              <a:cs typeface="Calibri"/>
              <a:sym typeface="Calibri"/>
            </a:endParaRPr>
          </a:p>
          <a:p>
            <a:pPr indent="-416050" lvl="0" marL="416050" marR="0" rtl="0" algn="l">
              <a:lnSpc>
                <a:spcPct val="100000"/>
              </a:lnSpc>
              <a:spcBef>
                <a:spcPts val="500"/>
              </a:spcBef>
              <a:spcAft>
                <a:spcPts val="0"/>
              </a:spcAft>
              <a:buClr>
                <a:srgbClr val="000000"/>
              </a:buClr>
              <a:buSzPct val="50071"/>
              <a:buFont typeface="Arial"/>
              <a:buNone/>
            </a:pPr>
            <a:r>
              <a:t/>
            </a:r>
            <a:endParaRPr i="0" sz="1400" u="none" cap="none" strike="noStrike">
              <a:solidFill>
                <a:srgbClr val="000000"/>
              </a:solidFill>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//Constructor sense paràmetres</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public Ocell(){</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edat = 0;</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color = ‘a’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//Constructor amb  paràmetres</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public Ocell(int e, char c){</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edat = e;</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color = c</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a:p>
            <a:pPr indent="-416050" lvl="0" marL="416050" rtl="0" algn="l">
              <a:lnSpc>
                <a:spcPct val="115000"/>
              </a:lnSpc>
              <a:spcBef>
                <a:spcPts val="100"/>
              </a:spcBef>
              <a:spcAft>
                <a:spcPts val="0"/>
              </a:spcAft>
              <a:buClr>
                <a:schemeClr val="dk1"/>
              </a:buClr>
              <a:buSzPct val="50071"/>
              <a:buFont typeface="Arial"/>
              <a:buNone/>
            </a:pPr>
            <a:r>
              <a:rPr lang="ca" sz="1400">
                <a:solidFill>
                  <a:schemeClr val="dk1"/>
                </a:solidFill>
                <a:latin typeface="Calibri"/>
                <a:ea typeface="Calibri"/>
                <a:cs typeface="Calibri"/>
                <a:sym typeface="Calibri"/>
              </a:rPr>
              <a:t>//Mètodes modificar i accedir atributs</a:t>
            </a:r>
            <a:endParaRPr sz="1400">
              <a:solidFill>
                <a:schemeClr val="dk1"/>
              </a:solidFill>
              <a:latin typeface="Calibri"/>
              <a:ea typeface="Calibri"/>
              <a:cs typeface="Calibri"/>
              <a:sym typeface="Calibri"/>
            </a:endParaRPr>
          </a:p>
          <a:p>
            <a:pPr indent="-416050" lvl="0" marL="416050" rtl="0" algn="l">
              <a:lnSpc>
                <a:spcPct val="115000"/>
              </a:lnSpc>
              <a:spcBef>
                <a:spcPts val="100"/>
              </a:spcBef>
              <a:spcAft>
                <a:spcPts val="0"/>
              </a:spcAft>
              <a:buClr>
                <a:schemeClr val="dk1"/>
              </a:buClr>
              <a:buSzPct val="50071"/>
              <a:buFont typeface="Arial"/>
              <a:buNone/>
            </a:pPr>
            <a:r>
              <a:rPr lang="ca" sz="1400">
                <a:solidFill>
                  <a:schemeClr val="dk1"/>
                </a:solidFill>
                <a:latin typeface="Calibri"/>
                <a:ea typeface="Calibri"/>
                <a:cs typeface="Calibri"/>
                <a:sym typeface="Calibri"/>
              </a:rPr>
              <a:t>      	public void setEdat(int e){</a:t>
            </a:r>
            <a:endParaRPr sz="1400">
              <a:solidFill>
                <a:schemeClr val="dk1"/>
              </a:solidFill>
              <a:latin typeface="Calibri"/>
              <a:ea typeface="Calibri"/>
              <a:cs typeface="Calibri"/>
              <a:sym typeface="Calibri"/>
            </a:endParaRPr>
          </a:p>
          <a:p>
            <a:pPr indent="-416050" lvl="0" marL="416050" rtl="0" algn="l">
              <a:lnSpc>
                <a:spcPct val="115000"/>
              </a:lnSpc>
              <a:spcBef>
                <a:spcPts val="100"/>
              </a:spcBef>
              <a:spcAft>
                <a:spcPts val="0"/>
              </a:spcAft>
              <a:buClr>
                <a:schemeClr val="dk1"/>
              </a:buClr>
              <a:buSzPct val="50071"/>
              <a:buFont typeface="Arial"/>
              <a:buNone/>
            </a:pPr>
            <a:r>
              <a:rPr lang="ca" sz="1400">
                <a:solidFill>
                  <a:schemeClr val="dk1"/>
                </a:solidFill>
                <a:latin typeface="Calibri"/>
                <a:ea typeface="Calibri"/>
                <a:cs typeface="Calibri"/>
                <a:sym typeface="Calibri"/>
              </a:rPr>
              <a:t>		edat = e;</a:t>
            </a:r>
            <a:endParaRPr sz="1400">
              <a:solidFill>
                <a:schemeClr val="dk1"/>
              </a:solidFill>
              <a:latin typeface="Calibri"/>
              <a:ea typeface="Calibri"/>
              <a:cs typeface="Calibri"/>
              <a:sym typeface="Calibri"/>
            </a:endParaRPr>
          </a:p>
          <a:p>
            <a:pPr indent="-416050" lvl="0" marL="416050" rtl="0" algn="l">
              <a:lnSpc>
                <a:spcPct val="115000"/>
              </a:lnSpc>
              <a:spcBef>
                <a:spcPts val="100"/>
              </a:spcBef>
              <a:spcAft>
                <a:spcPts val="0"/>
              </a:spcAft>
              <a:buClr>
                <a:schemeClr val="dk1"/>
              </a:buClr>
              <a:buSzPct val="50071"/>
              <a:buFont typeface="Arial"/>
              <a:buNone/>
            </a:pPr>
            <a:r>
              <a:rPr lang="ca" sz="1400">
                <a:solidFill>
                  <a:schemeClr val="dk1"/>
                </a:solidFill>
                <a:latin typeface="Calibri"/>
                <a:ea typeface="Calibri"/>
                <a:cs typeface="Calibri"/>
                <a:sym typeface="Calibri"/>
              </a:rPr>
              <a:t>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p:txBody>
      </p:sp>
      <p:sp>
        <p:nvSpPr>
          <p:cNvPr id="359" name="Google Shape;359;p43"/>
          <p:cNvSpPr txBox="1"/>
          <p:nvPr>
            <p:ph idx="1" type="body"/>
          </p:nvPr>
        </p:nvSpPr>
        <p:spPr>
          <a:xfrm>
            <a:off x="4567800" y="1200150"/>
            <a:ext cx="4110600" cy="33945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rmAutofit fontScale="92500" lnSpcReduction="20000"/>
          </a:bodyPr>
          <a:lstStyle/>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r>
              <a:rPr lang="ca" sz="1400">
                <a:latin typeface="Calibri"/>
                <a:ea typeface="Calibri"/>
                <a:cs typeface="Calibri"/>
                <a:sym typeface="Calibri"/>
              </a:rPr>
              <a:t>/ Segueix columna anterior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public char getColor(){</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return color;</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public void setColor(char c){</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color = c;</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public char getColor(){</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return color;</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//Altres mètodes</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public void aixecarse(){</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//Instruccions...</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public void volar(){</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//Podem utilitzar els metodes dins la propi classe</a:t>
            </a:r>
            <a:endParaRPr sz="1400">
              <a:latin typeface="Calibri"/>
              <a:ea typeface="Calibri"/>
              <a:cs typeface="Calibri"/>
              <a:sym typeface="Calibri"/>
            </a:endParaRPr>
          </a:p>
          <a:p>
            <a:pPr indent="-416050" lvl="0" marL="416050" marR="0" rtl="0" algn="l">
              <a:lnSpc>
                <a:spcPct val="100000"/>
              </a:lnSpc>
              <a:spcBef>
                <a:spcPts val="100"/>
              </a:spcBef>
              <a:spcAft>
                <a:spcPts val="0"/>
              </a:spcAft>
              <a:buClr>
                <a:srgbClr val="000000"/>
              </a:buClr>
              <a:buSzPct val="50071"/>
              <a:buFont typeface="Arial"/>
              <a:buNone/>
            </a:pPr>
            <a:r>
              <a:rPr i="0" lang="ca" sz="1400" u="none" cap="none" strike="noStrike">
                <a:solidFill>
                  <a:srgbClr val="000000"/>
                </a:solidFill>
                <a:latin typeface="Calibri"/>
                <a:ea typeface="Calibri"/>
                <a:cs typeface="Calibri"/>
                <a:sym typeface="Calibri"/>
              </a:rPr>
              <a:t>		 aixecarse()</a:t>
            </a:r>
            <a:endParaRPr sz="1400">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4"/>
          <p:cNvSpPr txBox="1"/>
          <p:nvPr>
            <p:ph type="title"/>
          </p:nvPr>
        </p:nvSpPr>
        <p:spPr>
          <a:xfrm>
            <a:off x="311700" y="333769"/>
            <a:ext cx="8520600" cy="429600"/>
          </a:xfrm>
          <a:prstGeom prst="rect">
            <a:avLst/>
          </a:prstGeom>
          <a:noFill/>
          <a:ln>
            <a:noFill/>
          </a:ln>
        </p:spPr>
        <p:txBody>
          <a:bodyPr anchorCtr="0" anchor="ctr" bIns="45700" lIns="45700" spcFirstLastPara="1" rIns="45700" wrap="square" tIns="45700">
            <a:normAutofit fontScale="90000"/>
          </a:bodyPr>
          <a:lstStyle/>
          <a:p>
            <a:pPr indent="0" lvl="0" marL="0" marR="0" rtl="0" algn="l">
              <a:lnSpc>
                <a:spcPct val="100000"/>
              </a:lnSpc>
              <a:spcBef>
                <a:spcPts val="0"/>
              </a:spcBef>
              <a:spcAft>
                <a:spcPts val="0"/>
              </a:spcAft>
              <a:buClr>
                <a:srgbClr val="339933"/>
              </a:buClr>
              <a:buSzPct val="100000"/>
              <a:buFont typeface="Arial"/>
              <a:buNone/>
            </a:pPr>
            <a:r>
              <a:rPr b="1" i="0" lang="ca" sz="3200" u="none" cap="none" strike="noStrike">
                <a:solidFill>
                  <a:srgbClr val="339933"/>
                </a:solidFill>
                <a:latin typeface="Arial"/>
                <a:ea typeface="Arial"/>
                <a:cs typeface="Arial"/>
                <a:sym typeface="Arial"/>
              </a:rPr>
              <a:t>Exemple utilitzar Classe</a:t>
            </a:r>
            <a:endParaRPr/>
          </a:p>
        </p:txBody>
      </p:sp>
      <p:sp>
        <p:nvSpPr>
          <p:cNvPr id="365" name="Google Shape;365;p44"/>
          <p:cNvSpPr txBox="1"/>
          <p:nvPr/>
        </p:nvSpPr>
        <p:spPr>
          <a:xfrm>
            <a:off x="539750" y="798899"/>
            <a:ext cx="7488300" cy="41922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class prova{</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 main…{</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char colorOcell;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//Declaram i cream l’objecte ocell</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Ocell ocell1 = new Ocell();</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//L’ocell1 té 15 anys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ocell1.setEdat(15);</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 Accedim al color de l’ocell1</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colorOcell = ocell1.getColor();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 Mostram per consola el color de l’ocell1</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System.out.println(“El color de l’ocell és ” + colorOcell);</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//Feim volar 3 vegades l’ocell1</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ocell1.volar();</a:t>
            </a:r>
            <a:r>
              <a:rPr b="0" i="0" lang="ca" sz="800" u="none" cap="none" strike="noStrike">
                <a:solidFill>
                  <a:srgbClr val="000000"/>
                </a:solidFill>
                <a:latin typeface="Arial"/>
                <a:ea typeface="Arial"/>
                <a:cs typeface="Arial"/>
                <a:sym typeface="Arial"/>
              </a:rPr>
              <a:t>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ocell1.volar();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ocell1.volar();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