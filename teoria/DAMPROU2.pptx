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6858000" cy="9144000"/>
  <p:embeddedFontLst>
    <p:embeddedFont>
      <p:font typeface="Economica"/>
      <p:regular r:id="rId58"/>
      <p:bold r:id="rId59"/>
      <p:italic r:id="rId60"/>
      <p:boldItalic r:id="rId61"/>
    </p:embeddedFont>
    <p:embeddedFont>
      <p:font typeface="Helvetica Neue Light"/>
      <p:regular r:id="rId62"/>
      <p:bold r:id="rId63"/>
      <p:italic r:id="rId64"/>
      <p:boldItalic r:id="rId65"/>
    </p:embeddedFont>
    <p:embeddedFont>
      <p:font typeface="Open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hwbfsdCI8SRdS08Boy0XDPgOZW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0" Type="http://customschemas.google.com/relationships/presentationmetadata" Target="meta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HelveticaNeueLight-regular.fntdata"/><Relationship Id="rId61" Type="http://schemas.openxmlformats.org/officeDocument/2006/relationships/font" Target="fonts/Economica-boldItalic.fntdata"/><Relationship Id="rId20" Type="http://schemas.openxmlformats.org/officeDocument/2006/relationships/slide" Target="slides/slide16.xml"/><Relationship Id="rId64" Type="http://schemas.openxmlformats.org/officeDocument/2006/relationships/font" Target="fonts/HelveticaNeueLight-italic.fntdata"/><Relationship Id="rId63" Type="http://schemas.openxmlformats.org/officeDocument/2006/relationships/font" Target="fonts/HelveticaNeueLight-bold.fntdata"/><Relationship Id="rId22" Type="http://schemas.openxmlformats.org/officeDocument/2006/relationships/slide" Target="slides/slide18.xml"/><Relationship Id="rId66" Type="http://schemas.openxmlformats.org/officeDocument/2006/relationships/font" Target="fonts/OpenSans-regular.fntdata"/><Relationship Id="rId21" Type="http://schemas.openxmlformats.org/officeDocument/2006/relationships/slide" Target="slides/slide17.xml"/><Relationship Id="rId65" Type="http://schemas.openxmlformats.org/officeDocument/2006/relationships/font" Target="fonts/HelveticaNeueLight-boldItalic.fntdata"/><Relationship Id="rId24" Type="http://schemas.openxmlformats.org/officeDocument/2006/relationships/slide" Target="slides/slide20.xml"/><Relationship Id="rId68" Type="http://schemas.openxmlformats.org/officeDocument/2006/relationships/font" Target="fonts/OpenSans-italic.fntdata"/><Relationship Id="rId23" Type="http://schemas.openxmlformats.org/officeDocument/2006/relationships/slide" Target="slides/slide19.xml"/><Relationship Id="rId67" Type="http://schemas.openxmlformats.org/officeDocument/2006/relationships/font" Target="fonts/OpenSans-bold.fntdata"/><Relationship Id="rId60" Type="http://schemas.openxmlformats.org/officeDocument/2006/relationships/font" Target="fonts/Economica-italic.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OpenSans-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Economica-bold.fntdata"/><Relationship Id="rId14" Type="http://schemas.openxmlformats.org/officeDocument/2006/relationships/slide" Target="slides/slide10.xml"/><Relationship Id="rId58" Type="http://schemas.openxmlformats.org/officeDocument/2006/relationships/font" Target="fonts/Economica-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228600" lvl="5" marL="27432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6pPr>
            <a:lvl7pPr indent="-228600" lvl="6" marL="32004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7pPr>
            <a:lvl8pPr indent="-228600" lvl="7" marL="36576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8pPr>
            <a:lvl9pPr indent="-228600" lvl="8" marL="4114800" marR="0" rtl="0" algn="l">
              <a:lnSpc>
                <a:spcPct val="100000"/>
              </a:lnSpc>
              <a:spcBef>
                <a:spcPts val="40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66" name="Google Shape;6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73" name="Google Shape;7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80" name="Google Shape;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87" name="Google Shape;8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94" name="Google Shape;9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02" name="Google Shape;10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17" name="Google Shape;11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25" name="Google Shape;12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33" name="Google Shape;1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41" name="Google Shape;14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48" name="Google Shape;1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56" name="Google Shape;1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63" name="Google Shape;16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70" name="Google Shape;17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77" name="Google Shape;17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84" name="Google Shape;18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92" name="Google Shape;19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199" name="Google Shape;19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06" name="Google Shape;2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13" name="Google Shape;21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20" name="Google Shape;22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28" name="Google Shape;22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35" name="Google Shape;23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42" name="Google Shape;24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50" name="Google Shape;25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57" name="Google Shape;25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64" name="Google Shape;264;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72" name="Google Shape;27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79" name="Google Shape;27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87" name="Google Shape;28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295" name="Google Shape;29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02" name="Google Shape;30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11" name="Google Shape;31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18" name="Google Shape;31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25" name="Google Shape;32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32" name="Google Shape;33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40" name="Google Shape;34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47" name="Google Shape;34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54" name="Google Shape;35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61" name="Google Shape;36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68" name="Google Shape;36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75" name="Google Shape;37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82" name="Google Shape;38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90" name="Google Shape;39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398" name="Google Shape;39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05" name="Google Shape;40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12" name="Google Shape;41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19" name="Google Shape;41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26" name="Google Shape;42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33" name="Google Shape;43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40" name="Google Shape;440;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1400"/>
              <a:buNone/>
            </a:pPr>
            <a:r>
              <a:t/>
            </a:r>
            <a:endParaRPr/>
          </a:p>
        </p:txBody>
      </p:sp>
      <p:sp>
        <p:nvSpPr>
          <p:cNvPr id="447" name="Google Shape;44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howMasterSp="0">
  <p:cSld name="TITLE_1">
    <p:spTree>
      <p:nvGrpSpPr>
        <p:cNvPr id="10" name="Shape 10"/>
        <p:cNvGrpSpPr/>
        <p:nvPr/>
      </p:nvGrpSpPr>
      <p:grpSpPr>
        <a:xfrm>
          <a:off x="0" y="0"/>
          <a:ext cx="0" cy="0"/>
          <a:chOff x="0" y="0"/>
          <a:chExt cx="0" cy="0"/>
        </a:xfrm>
      </p:grpSpPr>
      <p:sp>
        <p:nvSpPr>
          <p:cNvPr id="11" name="Google Shape;11;p55"/>
          <p:cNvSpPr txBox="1"/>
          <p:nvPr>
            <p:ph type="title"/>
          </p:nvPr>
        </p:nvSpPr>
        <p:spPr>
          <a:xfrm>
            <a:off x="685800" y="1597819"/>
            <a:ext cx="7772400" cy="1102500"/>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339933"/>
              </a:buClr>
              <a:buSzPts val="1800"/>
              <a:buNone/>
              <a:defRPr/>
            </a:lvl1pPr>
            <a:lvl2pPr lvl="1" algn="ctr">
              <a:lnSpc>
                <a:spcPct val="100000"/>
              </a:lnSpc>
              <a:spcBef>
                <a:spcPts val="0"/>
              </a:spcBef>
              <a:spcAft>
                <a:spcPts val="0"/>
              </a:spcAft>
              <a:buClr>
                <a:srgbClr val="339933"/>
              </a:buClr>
              <a:buSzPts val="1800"/>
              <a:buNone/>
              <a:defRPr/>
            </a:lvl2pPr>
            <a:lvl3pPr lvl="2" algn="ctr">
              <a:lnSpc>
                <a:spcPct val="100000"/>
              </a:lnSpc>
              <a:spcBef>
                <a:spcPts val="0"/>
              </a:spcBef>
              <a:spcAft>
                <a:spcPts val="0"/>
              </a:spcAft>
              <a:buClr>
                <a:srgbClr val="339933"/>
              </a:buClr>
              <a:buSzPts val="1800"/>
              <a:buNone/>
              <a:defRPr/>
            </a:lvl3pPr>
            <a:lvl4pPr lvl="3" algn="ctr">
              <a:lnSpc>
                <a:spcPct val="100000"/>
              </a:lnSpc>
              <a:spcBef>
                <a:spcPts val="0"/>
              </a:spcBef>
              <a:spcAft>
                <a:spcPts val="0"/>
              </a:spcAft>
              <a:buClr>
                <a:srgbClr val="339933"/>
              </a:buClr>
              <a:buSzPts val="1800"/>
              <a:buNone/>
              <a:defRPr/>
            </a:lvl4pPr>
            <a:lvl5pPr lvl="4" algn="ctr">
              <a:lnSpc>
                <a:spcPct val="100000"/>
              </a:lnSpc>
              <a:spcBef>
                <a:spcPts val="0"/>
              </a:spcBef>
              <a:spcAft>
                <a:spcPts val="0"/>
              </a:spcAft>
              <a:buClr>
                <a:srgbClr val="339933"/>
              </a:buClr>
              <a:buSzPts val="1800"/>
              <a:buNone/>
              <a:defRPr/>
            </a:lvl5pPr>
            <a:lvl6pPr lvl="5" algn="ctr">
              <a:lnSpc>
                <a:spcPct val="100000"/>
              </a:lnSpc>
              <a:spcBef>
                <a:spcPts val="0"/>
              </a:spcBef>
              <a:spcAft>
                <a:spcPts val="0"/>
              </a:spcAft>
              <a:buClr>
                <a:srgbClr val="339933"/>
              </a:buClr>
              <a:buSzPts val="1800"/>
              <a:buNone/>
              <a:defRPr/>
            </a:lvl6pPr>
            <a:lvl7pPr lvl="6" algn="ctr">
              <a:lnSpc>
                <a:spcPct val="100000"/>
              </a:lnSpc>
              <a:spcBef>
                <a:spcPts val="0"/>
              </a:spcBef>
              <a:spcAft>
                <a:spcPts val="0"/>
              </a:spcAft>
              <a:buClr>
                <a:srgbClr val="339933"/>
              </a:buClr>
              <a:buSzPts val="1800"/>
              <a:buNone/>
              <a:defRPr/>
            </a:lvl7pPr>
            <a:lvl8pPr lvl="7" algn="ctr">
              <a:lnSpc>
                <a:spcPct val="100000"/>
              </a:lnSpc>
              <a:spcBef>
                <a:spcPts val="0"/>
              </a:spcBef>
              <a:spcAft>
                <a:spcPts val="0"/>
              </a:spcAft>
              <a:buClr>
                <a:srgbClr val="339933"/>
              </a:buClr>
              <a:buSzPts val="1800"/>
              <a:buNone/>
              <a:defRPr/>
            </a:lvl8pPr>
            <a:lvl9pPr lvl="8" algn="ctr">
              <a:lnSpc>
                <a:spcPct val="100000"/>
              </a:lnSpc>
              <a:spcBef>
                <a:spcPts val="0"/>
              </a:spcBef>
              <a:spcAft>
                <a:spcPts val="0"/>
              </a:spcAft>
              <a:buClr>
                <a:srgbClr val="339933"/>
              </a:buClr>
              <a:buSzPts val="1800"/>
              <a:buNone/>
              <a:defRPr/>
            </a:lvl9pPr>
          </a:lstStyle>
          <a:p/>
        </p:txBody>
      </p:sp>
      <p:sp>
        <p:nvSpPr>
          <p:cNvPr id="12" name="Google Shape;12;p55"/>
          <p:cNvSpPr txBox="1"/>
          <p:nvPr>
            <p:ph idx="1" type="body"/>
          </p:nvPr>
        </p:nvSpPr>
        <p:spPr>
          <a:xfrm>
            <a:off x="1371600" y="2914650"/>
            <a:ext cx="6400800" cy="13146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000000"/>
              </a:buClr>
              <a:buSzPts val="3200"/>
              <a:buFont typeface="Arial"/>
              <a:buNone/>
              <a:defRPr sz="3200"/>
            </a:lvl1pPr>
            <a:lvl2pPr indent="-228600" lvl="1" marL="914400" algn="ctr">
              <a:lnSpc>
                <a:spcPct val="100000"/>
              </a:lnSpc>
              <a:spcBef>
                <a:spcPts val="700"/>
              </a:spcBef>
              <a:spcAft>
                <a:spcPts val="0"/>
              </a:spcAft>
              <a:buClr>
                <a:srgbClr val="000000"/>
              </a:buClr>
              <a:buSzPts val="3200"/>
              <a:buFont typeface="Arial"/>
              <a:buNone/>
              <a:defRPr sz="3200"/>
            </a:lvl2pPr>
            <a:lvl3pPr indent="-228600" lvl="2" marL="1371600" algn="ctr">
              <a:lnSpc>
                <a:spcPct val="100000"/>
              </a:lnSpc>
              <a:spcBef>
                <a:spcPts val="700"/>
              </a:spcBef>
              <a:spcAft>
                <a:spcPts val="0"/>
              </a:spcAft>
              <a:buClr>
                <a:srgbClr val="000000"/>
              </a:buClr>
              <a:buSzPts val="3200"/>
              <a:buFont typeface="Arial"/>
              <a:buNone/>
              <a:defRPr sz="3200"/>
            </a:lvl3pPr>
            <a:lvl4pPr indent="-228600" lvl="3" marL="1828800" algn="ctr">
              <a:lnSpc>
                <a:spcPct val="100000"/>
              </a:lnSpc>
              <a:spcBef>
                <a:spcPts val="700"/>
              </a:spcBef>
              <a:spcAft>
                <a:spcPts val="0"/>
              </a:spcAft>
              <a:buClr>
                <a:srgbClr val="000000"/>
              </a:buClr>
              <a:buSzPts val="3200"/>
              <a:buFont typeface="Arial"/>
              <a:buNone/>
              <a:defRPr sz="3200"/>
            </a:lvl4pPr>
            <a:lvl5pPr indent="-228600" lvl="4" marL="2286000" algn="ctr">
              <a:lnSpc>
                <a:spcPct val="100000"/>
              </a:lnSpc>
              <a:spcBef>
                <a:spcPts val="700"/>
              </a:spcBef>
              <a:spcAft>
                <a:spcPts val="0"/>
              </a:spcAft>
              <a:buClr>
                <a:srgbClr val="000000"/>
              </a:buClr>
              <a:buSzPts val="3200"/>
              <a:buFont typeface="Arial"/>
              <a:buNone/>
              <a:defRPr sz="3200"/>
            </a:lvl5pPr>
            <a:lvl6pPr indent="-342900" lvl="5" marL="2743200" algn="l">
              <a:lnSpc>
                <a:spcPct val="80000"/>
              </a:lnSpc>
              <a:spcBef>
                <a:spcPts val="700"/>
              </a:spcBef>
              <a:spcAft>
                <a:spcPts val="0"/>
              </a:spcAft>
              <a:buClr>
                <a:srgbClr val="000000"/>
              </a:buClr>
              <a:buSzPts val="1800"/>
              <a:buChar char="■"/>
              <a:defRPr/>
            </a:lvl6pPr>
            <a:lvl7pPr indent="-342900" lvl="6" marL="3200400" algn="l">
              <a:lnSpc>
                <a:spcPct val="80000"/>
              </a:lnSpc>
              <a:spcBef>
                <a:spcPts val="700"/>
              </a:spcBef>
              <a:spcAft>
                <a:spcPts val="0"/>
              </a:spcAft>
              <a:buClr>
                <a:srgbClr val="000000"/>
              </a:buClr>
              <a:buSzPts val="1800"/>
              <a:buChar char="●"/>
              <a:defRPr/>
            </a:lvl7pPr>
            <a:lvl8pPr indent="-342900" lvl="7" marL="3657600" algn="l">
              <a:lnSpc>
                <a:spcPct val="80000"/>
              </a:lnSpc>
              <a:spcBef>
                <a:spcPts val="700"/>
              </a:spcBef>
              <a:spcAft>
                <a:spcPts val="0"/>
              </a:spcAft>
              <a:buClr>
                <a:srgbClr val="000000"/>
              </a:buClr>
              <a:buSzPts val="1800"/>
              <a:buChar char="○"/>
              <a:defRPr/>
            </a:lvl8pPr>
            <a:lvl9pPr indent="-342900" lvl="8" marL="4114800" algn="l">
              <a:lnSpc>
                <a:spcPct val="80000"/>
              </a:lnSpc>
              <a:spcBef>
                <a:spcPts val="700"/>
              </a:spcBef>
              <a:spcAft>
                <a:spcPts val="0"/>
              </a:spcAft>
              <a:buClr>
                <a:srgbClr val="000000"/>
              </a:buClr>
              <a:buSzPts val="1800"/>
              <a:buChar char="■"/>
              <a:defRPr/>
            </a:lvl9pPr>
          </a:lstStyle>
          <a:p/>
        </p:txBody>
      </p:sp>
      <p:sp>
        <p:nvSpPr>
          <p:cNvPr id="13" name="Google Shape;13;p55"/>
          <p:cNvSpPr txBox="1"/>
          <p:nvPr/>
        </p:nvSpPr>
        <p:spPr>
          <a:xfrm>
            <a:off x="3390252" y="212392"/>
            <a:ext cx="2363400" cy="9339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1800"/>
              <a:buFont typeface="Helvetica Neue Light"/>
              <a:buNone/>
            </a:pPr>
            <a:r>
              <a:rPr b="0" i="0" lang="ca" sz="1800" u="none" cap="none" strike="noStrike">
                <a:solidFill>
                  <a:srgbClr val="000000"/>
                </a:solidFill>
                <a:latin typeface="Helvetica Neue Light"/>
                <a:ea typeface="Helvetica Neue Light"/>
                <a:cs typeface="Helvetica Neue Light"/>
                <a:sym typeface="Helvetica Neue Light"/>
              </a:rPr>
              <a:t>Programació - Tema 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Helvetica Neue Light"/>
              <a:buNone/>
            </a:pPr>
            <a:r>
              <a:t/>
            </a:r>
            <a:endParaRPr b="0" i="0" sz="18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800"/>
              <a:buFont typeface="Helvetica Neue Light"/>
              <a:buNone/>
            </a:pPr>
            <a:r>
              <a:rPr b="0" i="0" lang="ca" sz="1800" u="none" cap="none" strike="noStrike">
                <a:solidFill>
                  <a:srgbClr val="000000"/>
                </a:solidFill>
                <a:latin typeface="Helvetica Neue Light"/>
                <a:ea typeface="Helvetica Neue Light"/>
                <a:cs typeface="Helvetica Neue Light"/>
                <a:sym typeface="Helvetica Neue Light"/>
              </a:rPr>
              <a:t>DAM</a:t>
            </a:r>
            <a:endParaRPr b="0" i="0" sz="1400" u="none" cap="none" strike="noStrike">
              <a:solidFill>
                <a:srgbClr val="000000"/>
              </a:solidFill>
              <a:latin typeface="Arial"/>
              <a:ea typeface="Arial"/>
              <a:cs typeface="Arial"/>
              <a:sym typeface="Arial"/>
            </a:endParaRPr>
          </a:p>
        </p:txBody>
      </p:sp>
      <p:sp>
        <p:nvSpPr>
          <p:cNvPr id="14" name="Google Shape;14;p55"/>
          <p:cNvSpPr txBox="1"/>
          <p:nvPr>
            <p:ph idx="12" type="sldNum"/>
          </p:nvPr>
        </p:nvSpPr>
        <p:spPr>
          <a:xfrm>
            <a:off x="8384892" y="4683919"/>
            <a:ext cx="301800" cy="307800"/>
          </a:xfrm>
          <a:prstGeom prst="rect">
            <a:avLst/>
          </a:prstGeom>
          <a:noFill/>
          <a:ln>
            <a:noFill/>
          </a:ln>
        </p:spPr>
        <p:txBody>
          <a:bodyPr anchorCtr="0" anchor="t" bIns="45700" lIns="45700" spcFirstLastPara="1" rIns="45700" wrap="square" tIns="4570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5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5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57"/>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2" name="Google Shape;22;p57"/>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3" name="Google Shape;23;p57"/>
          <p:cNvSpPr txBox="1"/>
          <p:nvPr>
            <p:ph type="ctrTitle"/>
          </p:nvPr>
        </p:nvSpPr>
        <p:spPr>
          <a:xfrm>
            <a:off x="3044700" y="1444256"/>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4" name="Google Shape;24;p57"/>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25" name="Google Shape;25;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8"/>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8" name="Google Shape;28;p58"/>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9" name="Google Shape;29;p58"/>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0" name="Google Shape;30;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3" name="Google Shape;33;p59"/>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59"/>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8" name="Google Shape;38;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6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p61"/>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6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2"/>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6" name="Google Shape;46;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63"/>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6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63"/>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51" name="Google Shape;51;p63"/>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52" name="Google Shape;52;p6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3" name="Google Shape;53;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64"/>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6" name="Google Shape;56;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6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65"/>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60" name="Google Shape;60;p65"/>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5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ca"/>
              <a:t>‹#›</a:t>
            </a:fld>
            <a:endParaRPr/>
          </a:p>
        </p:txBody>
      </p:sp>
      <p:pic>
        <p:nvPicPr>
          <p:cNvPr id="9" name="Google Shape;9;p54"/>
          <p:cNvPicPr preferRelativeResize="0"/>
          <p:nvPr/>
        </p:nvPicPr>
        <p:blipFill rotWithShape="1">
          <a:blip r:embed="rId1">
            <a:alphaModFix/>
          </a:blip>
          <a:srcRect b="0" l="0" r="0" t="0"/>
          <a:stretch/>
        </p:blipFill>
        <p:spPr>
          <a:xfrm>
            <a:off x="7452320" y="116632"/>
            <a:ext cx="1144581" cy="4294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www.google.com/search?hl=en&amp;q=allinurl%3Astring+java.sun.com&amp;btnI=I%27m%20Feeling%20Lucky" TargetMode="External"/><Relationship Id="rId4" Type="http://schemas.openxmlformats.org/officeDocument/2006/relationships/hyperlink" Target="http://www.google.com/search?hl=en&amp;q=allinurl%3Asystem+java.sun.com&amp;btnI=I%27m%20Feeling%20Luck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www.google.com/search?hl=en&amp;q=allinurl%3Astring+java.sun.com&amp;btnI=I%27m%20Feeling%20Lucky" TargetMode="External"/><Relationship Id="rId4" Type="http://schemas.openxmlformats.org/officeDocument/2006/relationships/hyperlink" Target="http://www.google.com/search?hl=en&amp;q=allinurl%3Asystem+java.sun.com&amp;btnI=I%27m%20Feeling%20Lucky" TargetMode="External"/><Relationship Id="rId5" Type="http://schemas.openxmlformats.org/officeDocument/2006/relationships/hyperlink" Target="http://www.google.com/search?hl=en&amp;q=allinurl%3Asystem+java.sun.com&amp;btnI=I%27m%20Feeling%20Lucky" TargetMode="External"/><Relationship Id="rId6" Type="http://schemas.openxmlformats.org/officeDocument/2006/relationships/hyperlink" Target="http://www.google.com/search?hl=en&amp;q=allinurl%3Asystem+java.sun.com&amp;btnI=I%27m%20Feeling%20Luck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www.google.com/search?hl=en&amp;q=allinurl%3Astring+java.sun.com&amp;btnI=I%27m%20Feeling%20Lucky" TargetMode="External"/><Relationship Id="rId4" Type="http://schemas.openxmlformats.org/officeDocument/2006/relationships/hyperlink" Target="http://www.google.com/search?hl=en&amp;q=allinurl%3Asystem+java.sun.com&amp;btnI=I%27m%20Feeling%20Lucky" TargetMode="External"/><Relationship Id="rId5" Type="http://schemas.openxmlformats.org/officeDocument/2006/relationships/hyperlink" Target="http://www.google.com/search?hl=en&amp;q=allinurl%3Asystem+java.sun.com&amp;btnI=I%27m%20Feeling%20Lucky" TargetMode="External"/><Relationship Id="rId6" Type="http://schemas.openxmlformats.org/officeDocument/2006/relationships/hyperlink" Target="http://www.google.com/search?hl=en&amp;q=allinurl%3Asystem+java.sun.com&amp;btnI=I%27m%20Feeling%20Luck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www.google.com/search?hl=en&amp;q=allinurl%3Asystem+java.sun.com&amp;btnI=I%27m%20Feeling%20Lucky" TargetMode="External"/><Relationship Id="rId4" Type="http://schemas.openxmlformats.org/officeDocument/2006/relationships/hyperlink" Target="http://www.google.com/search?hl=en&amp;q=allinurl%3Asystem+java.sun.com&amp;btnI=I%27m%20Feeling%20Lucky" TargetMode="External"/><Relationship Id="rId5" Type="http://schemas.openxmlformats.org/officeDocument/2006/relationships/hyperlink" Target="http://www.google.com/search?hl=en&amp;q=allinurl%3Asystem+java.sun.com&amp;btnI=I%27m%20Feeling%20Lucky"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idx="4294967295" type="ctrTitle"/>
          </p:nvPr>
        </p:nvSpPr>
        <p:spPr>
          <a:xfrm>
            <a:off x="684212" y="1329928"/>
            <a:ext cx="7772400" cy="11025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5400"/>
              <a:buFont typeface="Arial"/>
              <a:buNone/>
            </a:pPr>
            <a:r>
              <a:rPr b="0" i="0" lang="ca" sz="5400" u="none" cap="none" strike="noStrike">
                <a:solidFill>
                  <a:schemeClr val="dk1"/>
                </a:solidFill>
                <a:latin typeface="Economica"/>
                <a:ea typeface="Economica"/>
                <a:cs typeface="Economica"/>
                <a:sym typeface="Economica"/>
              </a:rPr>
              <a:t>Tema 2</a:t>
            </a:r>
            <a:r>
              <a:rPr b="1" i="0" lang="ca" sz="5400" u="none" cap="none" strike="noStrike">
                <a:solidFill>
                  <a:srgbClr val="339933"/>
                </a:solidFill>
                <a:latin typeface="Arial"/>
                <a:ea typeface="Arial"/>
                <a:cs typeface="Arial"/>
                <a:sym typeface="Arial"/>
              </a:rPr>
              <a:t> </a:t>
            </a:r>
            <a:endParaRPr b="0" i="0" sz="4200" u="none" cap="none" strike="noStrike">
              <a:solidFill>
                <a:schemeClr val="dk1"/>
              </a:solidFill>
              <a:latin typeface="Economica"/>
              <a:ea typeface="Economica"/>
              <a:cs typeface="Economica"/>
              <a:sym typeface="Economica"/>
            </a:endParaRPr>
          </a:p>
        </p:txBody>
      </p:sp>
      <p:sp>
        <p:nvSpPr>
          <p:cNvPr id="69" name="Google Shape;69;p1"/>
          <p:cNvSpPr txBox="1"/>
          <p:nvPr>
            <p:ph idx="4294967295" type="subTitle"/>
          </p:nvPr>
        </p:nvSpPr>
        <p:spPr>
          <a:xfrm>
            <a:off x="1370012" y="2366010"/>
            <a:ext cx="6400800" cy="1314600"/>
          </a:xfrm>
          <a:prstGeom prst="rect">
            <a:avLst/>
          </a:prstGeom>
          <a:noFill/>
          <a:ln>
            <a:noFill/>
          </a:ln>
        </p:spPr>
        <p:txBody>
          <a:bodyPr anchorCtr="0" anchor="t" bIns="45700" lIns="45700" spcFirstLastPara="1" rIns="45700" wrap="square" tIns="45700">
            <a:normAutofit lnSpcReduction="20000"/>
          </a:bodyPr>
          <a:lstStyle/>
          <a:p>
            <a:pPr indent="0" lvl="0" marL="0" marR="0" rtl="0" algn="ctr">
              <a:lnSpc>
                <a:spcPct val="100000"/>
              </a:lnSpc>
              <a:spcBef>
                <a:spcPts val="0"/>
              </a:spcBef>
              <a:spcAft>
                <a:spcPts val="0"/>
              </a:spcAft>
              <a:buClr>
                <a:srgbClr val="339933"/>
              </a:buClr>
              <a:buSzPts val="4800"/>
              <a:buFont typeface="Arial"/>
              <a:buNone/>
            </a:pPr>
            <a:r>
              <a:rPr b="1" i="0" lang="ca" sz="4800" u="none" cap="none" strike="noStrike">
                <a:solidFill>
                  <a:srgbClr val="339933"/>
                </a:solidFill>
                <a:latin typeface="Arial"/>
                <a:ea typeface="Arial"/>
                <a:cs typeface="Arial"/>
                <a:sym typeface="Arial"/>
              </a:rPr>
              <a:t>Ús d'estructures de control</a:t>
            </a:r>
            <a:endParaRPr b="0" i="0" sz="1800" u="none" cap="none" strike="noStrike">
              <a:solidFill>
                <a:schemeClr val="dk1"/>
              </a:solidFill>
              <a:latin typeface="Open Sans"/>
              <a:ea typeface="Open Sans"/>
              <a:cs typeface="Open Sans"/>
              <a:sym typeface="Open Sans"/>
            </a:endParaRPr>
          </a:p>
        </p:txBody>
      </p:sp>
      <p:pic>
        <p:nvPicPr>
          <p:cNvPr descr="LOGO_PRIN_300dpi-02.png" id="70" name="Google Shape;70;p1"/>
          <p:cNvPicPr preferRelativeResize="0"/>
          <p:nvPr/>
        </p:nvPicPr>
        <p:blipFill rotWithShape="1">
          <a:blip r:embed="rId3">
            <a:alphaModFix/>
          </a:blip>
          <a:srcRect b="0" l="0" r="0" t="0"/>
          <a:stretch/>
        </p:blipFill>
        <p:spPr>
          <a:xfrm>
            <a:off x="7596187" y="141684"/>
            <a:ext cx="1040607" cy="10798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Índex</a:t>
            </a:r>
            <a:endParaRPr/>
          </a:p>
        </p:txBody>
      </p:sp>
      <p:sp>
        <p:nvSpPr>
          <p:cNvPr id="76" name="Google Shape;76;p2"/>
          <p:cNvSpPr txBox="1"/>
          <p:nvPr>
            <p:ph idx="1" type="body"/>
          </p:nvPr>
        </p:nvSpPr>
        <p:spPr>
          <a:xfrm>
            <a:off x="395287" y="951309"/>
            <a:ext cx="8229600" cy="3424200"/>
          </a:xfrm>
          <a:prstGeom prst="rect">
            <a:avLst/>
          </a:prstGeom>
          <a:noFill/>
          <a:ln>
            <a:noFill/>
          </a:ln>
        </p:spPr>
        <p:txBody>
          <a:bodyPr anchorCtr="0" anchor="t" bIns="45700" lIns="45700" spcFirstLastPara="1" rIns="45700" wrap="square" tIns="45700">
            <a:normAutofit/>
          </a:bodyPr>
          <a:lstStyle/>
          <a:p>
            <a:pPr indent="-438150" lvl="0" marL="457200" rtl="0" algn="l">
              <a:lnSpc>
                <a:spcPct val="80000"/>
              </a:lnSpc>
              <a:spcBef>
                <a:spcPts val="0"/>
              </a:spcBef>
              <a:spcAft>
                <a:spcPts val="0"/>
              </a:spcAft>
              <a:buSzPts val="3300"/>
              <a:buAutoNum type="arabicPeriod"/>
            </a:pPr>
            <a:r>
              <a:rPr lang="ca" sz="3300"/>
              <a:t>Introducció</a:t>
            </a:r>
            <a:endParaRPr sz="3300"/>
          </a:p>
          <a:p>
            <a:pPr indent="-438150" lvl="0" marL="457200" rtl="0" algn="l">
              <a:lnSpc>
                <a:spcPct val="80000"/>
              </a:lnSpc>
              <a:spcBef>
                <a:spcPts val="0"/>
              </a:spcBef>
              <a:spcAft>
                <a:spcPts val="0"/>
              </a:spcAft>
              <a:buSzPts val="3300"/>
              <a:buAutoNum type="arabicPeriod"/>
            </a:pPr>
            <a:r>
              <a:rPr lang="ca" sz="3300"/>
              <a:t>Estructures de selecció</a:t>
            </a:r>
            <a:endParaRPr sz="3300"/>
          </a:p>
          <a:p>
            <a:pPr indent="-438150" lvl="0" marL="457200" rtl="0" algn="l">
              <a:lnSpc>
                <a:spcPct val="80000"/>
              </a:lnSpc>
              <a:spcBef>
                <a:spcPts val="0"/>
              </a:spcBef>
              <a:spcAft>
                <a:spcPts val="0"/>
              </a:spcAft>
              <a:buSzPts val="3300"/>
              <a:buAutoNum type="arabicPeriod"/>
            </a:pPr>
            <a:r>
              <a:rPr lang="ca" sz="3300"/>
              <a:t>Estructures de repetició</a:t>
            </a:r>
            <a:endParaRPr sz="3300"/>
          </a:p>
          <a:p>
            <a:pPr indent="-438150" lvl="0" marL="457200" rtl="0" algn="l">
              <a:lnSpc>
                <a:spcPct val="80000"/>
              </a:lnSpc>
              <a:spcBef>
                <a:spcPts val="0"/>
              </a:spcBef>
              <a:spcAft>
                <a:spcPts val="0"/>
              </a:spcAft>
              <a:buSzPts val="3300"/>
              <a:buAutoNum type="arabicPeriod"/>
            </a:pPr>
            <a:r>
              <a:rPr lang="ca" sz="3300"/>
              <a:t>Estructures de bot</a:t>
            </a:r>
            <a:endParaRPr sz="3300"/>
          </a:p>
          <a:p>
            <a:pPr indent="-438150" lvl="0" marL="457200" rtl="0" algn="l">
              <a:lnSpc>
                <a:spcPct val="80000"/>
              </a:lnSpc>
              <a:spcBef>
                <a:spcPts val="0"/>
              </a:spcBef>
              <a:spcAft>
                <a:spcPts val="0"/>
              </a:spcAft>
              <a:buSzPts val="3300"/>
              <a:buAutoNum type="arabicPeriod"/>
            </a:pPr>
            <a:r>
              <a:rPr lang="ca" sz="3300"/>
              <a:t>Exceptions</a:t>
            </a:r>
            <a:endParaRPr sz="3300"/>
          </a:p>
          <a:p>
            <a:pPr indent="-438150" lvl="0" marL="457200" rtl="0" algn="l">
              <a:lnSpc>
                <a:spcPct val="80000"/>
              </a:lnSpc>
              <a:spcBef>
                <a:spcPts val="0"/>
              </a:spcBef>
              <a:spcAft>
                <a:spcPts val="0"/>
              </a:spcAft>
              <a:buSzPts val="3300"/>
              <a:buAutoNum type="arabicPeriod"/>
            </a:pPr>
            <a:r>
              <a:rPr lang="ca" sz="3300"/>
              <a:t>Prova i depuració</a:t>
            </a:r>
            <a:endParaRPr sz="3300"/>
          </a:p>
          <a:p>
            <a:pPr indent="-438150" lvl="0" marL="457200" rtl="0" algn="l">
              <a:lnSpc>
                <a:spcPct val="80000"/>
              </a:lnSpc>
              <a:spcBef>
                <a:spcPts val="0"/>
              </a:spcBef>
              <a:spcAft>
                <a:spcPts val="0"/>
              </a:spcAft>
              <a:buSzPts val="3300"/>
              <a:buAutoNum type="arabicPeriod"/>
            </a:pPr>
            <a:r>
              <a:rPr lang="ca" sz="3300"/>
              <a:t>Documentació</a:t>
            </a:r>
            <a:endParaRPr sz="3300"/>
          </a:p>
        </p:txBody>
      </p:sp>
      <p:sp>
        <p:nvSpPr>
          <p:cNvPr id="77" name="Google Shape;77;p2"/>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1. Introducció</a:t>
            </a:r>
            <a:endParaRPr/>
          </a:p>
        </p:txBody>
      </p:sp>
      <p:sp>
        <p:nvSpPr>
          <p:cNvPr id="83" name="Google Shape;83;p3"/>
          <p:cNvSpPr txBox="1"/>
          <p:nvPr>
            <p:ph idx="1" type="body"/>
          </p:nvPr>
        </p:nvSpPr>
        <p:spPr>
          <a:xfrm>
            <a:off x="457200" y="1200150"/>
            <a:ext cx="8229600" cy="34242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333333"/>
              </a:buClr>
              <a:buSzPts val="2000"/>
              <a:buFont typeface="Arial"/>
              <a:buNone/>
            </a:pPr>
            <a:r>
              <a:rPr lang="ca">
                <a:solidFill>
                  <a:srgbClr val="333333"/>
                </a:solidFill>
              </a:rPr>
              <a:t>Una </a:t>
            </a:r>
            <a:r>
              <a:rPr b="1" lang="ca">
                <a:solidFill>
                  <a:srgbClr val="333333"/>
                </a:solidFill>
              </a:rPr>
              <a:t>expressió</a:t>
            </a:r>
            <a:r>
              <a:rPr lang="ca">
                <a:solidFill>
                  <a:srgbClr val="333333"/>
                </a:solidFill>
              </a:rPr>
              <a:t> és una sèrie de variables/constants/dades units per operadors. </a:t>
            </a:r>
            <a:endParaRPr>
              <a:solidFill>
                <a:srgbClr val="333333"/>
              </a:solidFill>
            </a:endParaRPr>
          </a:p>
          <a:p>
            <a:pPr indent="-342900" lvl="0" marL="342900" rtl="0" algn="l">
              <a:lnSpc>
                <a:spcPct val="80000"/>
              </a:lnSpc>
              <a:spcBef>
                <a:spcPts val="0"/>
              </a:spcBef>
              <a:spcAft>
                <a:spcPts val="0"/>
              </a:spcAft>
              <a:buClr>
                <a:srgbClr val="333333"/>
              </a:buClr>
              <a:buSzPts val="2000"/>
              <a:buFont typeface="Arial"/>
              <a:buNone/>
            </a:pPr>
            <a:r>
              <a:t/>
            </a:r>
            <a:endParaRPr>
              <a:solidFill>
                <a:srgbClr val="333333"/>
              </a:solidFill>
            </a:endParaRPr>
          </a:p>
          <a:p>
            <a:pPr indent="-342900" lvl="0" marL="342900" rtl="0" algn="l">
              <a:lnSpc>
                <a:spcPct val="80000"/>
              </a:lnSpc>
              <a:spcBef>
                <a:spcPts val="0"/>
              </a:spcBef>
              <a:spcAft>
                <a:spcPts val="0"/>
              </a:spcAft>
              <a:buClr>
                <a:srgbClr val="333333"/>
              </a:buClr>
              <a:buSzPts val="2000"/>
              <a:buFont typeface="Arial"/>
              <a:buNone/>
            </a:pPr>
            <a:r>
              <a:rPr lang="ca">
                <a:solidFill>
                  <a:srgbClr val="333333"/>
                </a:solidFill>
              </a:rPr>
              <a:t>Una </a:t>
            </a:r>
            <a:r>
              <a:rPr b="1" lang="ca">
                <a:solidFill>
                  <a:srgbClr val="333333"/>
                </a:solidFill>
              </a:rPr>
              <a:t>sentència</a:t>
            </a:r>
            <a:r>
              <a:rPr lang="ca">
                <a:solidFill>
                  <a:srgbClr val="333333"/>
                </a:solidFill>
              </a:rPr>
              <a:t> és una expressió que finalitza amb  “ ; ”</a:t>
            </a:r>
            <a:endParaRPr>
              <a:solidFill>
                <a:srgbClr val="333333"/>
              </a:solidFill>
            </a:endParaRPr>
          </a:p>
          <a:p>
            <a:pPr indent="-342900" lvl="0" marL="342900" rtl="0" algn="l">
              <a:lnSpc>
                <a:spcPct val="80000"/>
              </a:lnSpc>
              <a:spcBef>
                <a:spcPts val="0"/>
              </a:spcBef>
              <a:spcAft>
                <a:spcPts val="0"/>
              </a:spcAft>
              <a:buClr>
                <a:srgbClr val="333333"/>
              </a:buClr>
              <a:buSzPts val="2000"/>
              <a:buFont typeface="Arial"/>
              <a:buNone/>
            </a:pPr>
            <a:r>
              <a:t/>
            </a:r>
            <a:endParaRPr>
              <a:solidFill>
                <a:srgbClr val="333333"/>
              </a:solidFill>
            </a:endParaRPr>
          </a:p>
          <a:p>
            <a:pPr indent="-342900" lvl="0" marL="342900" rtl="0" algn="l">
              <a:lnSpc>
                <a:spcPct val="80000"/>
              </a:lnSpc>
              <a:spcBef>
                <a:spcPts val="0"/>
              </a:spcBef>
              <a:spcAft>
                <a:spcPts val="0"/>
              </a:spcAft>
              <a:buClr>
                <a:srgbClr val="333333"/>
              </a:buClr>
              <a:buSzPts val="2000"/>
              <a:buFont typeface="Arial"/>
              <a:buNone/>
            </a:pPr>
            <a:r>
              <a:rPr lang="ca">
                <a:solidFill>
                  <a:srgbClr val="333333"/>
                </a:solidFill>
              </a:rPr>
              <a:t>Les </a:t>
            </a:r>
            <a:r>
              <a:rPr b="1" lang="ca"/>
              <a:t>estructures de selecció</a:t>
            </a:r>
            <a:r>
              <a:rPr lang="ca">
                <a:solidFill>
                  <a:srgbClr val="333333"/>
                </a:solidFill>
              </a:rPr>
              <a:t> permeten prendre decisions sobre quin conjunt d’instruccions cal executar en un punt del programa. O sigui, seleccionar quin codi s’executa en un moment determinat entre camins alternatius.</a:t>
            </a:r>
            <a:endParaRPr b="1"/>
          </a:p>
          <a:p>
            <a:pPr indent="-342900" lvl="0" marL="342900" rtl="0" algn="l">
              <a:lnSpc>
                <a:spcPct val="80000"/>
              </a:lnSpc>
              <a:spcBef>
                <a:spcPts val="700"/>
              </a:spcBef>
              <a:spcAft>
                <a:spcPts val="0"/>
              </a:spcAft>
              <a:buClr>
                <a:srgbClr val="333333"/>
              </a:buClr>
              <a:buSzPts val="2000"/>
              <a:buFont typeface="Arial"/>
              <a:buNone/>
            </a:pPr>
            <a:r>
              <a:t/>
            </a:r>
            <a:endParaRPr b="1"/>
          </a:p>
          <a:p>
            <a:pPr indent="-342900" lvl="0" marL="342900" rtl="0" algn="l">
              <a:lnSpc>
                <a:spcPct val="80000"/>
              </a:lnSpc>
              <a:spcBef>
                <a:spcPts val="400"/>
              </a:spcBef>
              <a:spcAft>
                <a:spcPts val="0"/>
              </a:spcAft>
              <a:buClr>
                <a:srgbClr val="333333"/>
              </a:buClr>
              <a:buSzPts val="2000"/>
              <a:buFont typeface="Arial"/>
              <a:buNone/>
            </a:pPr>
            <a:r>
              <a:rPr lang="ca">
                <a:solidFill>
                  <a:srgbClr val="333333"/>
                </a:solidFill>
              </a:rPr>
              <a:t>Tota estructura de selecció es basa en </a:t>
            </a:r>
            <a:r>
              <a:rPr b="1" lang="ca"/>
              <a:t>l’avaluació d’una expressió</a:t>
            </a:r>
            <a:r>
              <a:rPr lang="ca">
                <a:solidFill>
                  <a:srgbClr val="333333"/>
                </a:solidFill>
              </a:rPr>
              <a:t> que ha de donar un </a:t>
            </a:r>
            <a:r>
              <a:rPr b="1" lang="ca"/>
              <a:t>resultat booleà</a:t>
            </a:r>
            <a:r>
              <a:rPr lang="ca">
                <a:solidFill>
                  <a:srgbClr val="333333"/>
                </a:solidFill>
              </a:rPr>
              <a:t>: true (cert) o false (fals). Aquesta expressió s’anomena la condició lògica de l’estructura. </a:t>
            </a:r>
            <a:endParaRPr/>
          </a:p>
        </p:txBody>
      </p:sp>
      <p:sp>
        <p:nvSpPr>
          <p:cNvPr id="84" name="Google Shape;84;p3"/>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2. </a:t>
            </a:r>
            <a:r>
              <a:rPr b="1" lang="ca" sz="3600">
                <a:solidFill>
                  <a:srgbClr val="339933"/>
                </a:solidFill>
                <a:latin typeface="Arial"/>
                <a:ea typeface="Arial"/>
                <a:cs typeface="Arial"/>
                <a:sym typeface="Arial"/>
              </a:rPr>
              <a:t>Estructures de sel·lecció</a:t>
            </a:r>
            <a:endParaRPr/>
          </a:p>
        </p:txBody>
      </p:sp>
      <p:sp>
        <p:nvSpPr>
          <p:cNvPr id="90" name="Google Shape;90;p4"/>
          <p:cNvSpPr txBox="1"/>
          <p:nvPr>
            <p:ph idx="1" type="body"/>
          </p:nvPr>
        </p:nvSpPr>
        <p:spPr>
          <a:xfrm>
            <a:off x="457200" y="1200150"/>
            <a:ext cx="8229600" cy="34242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L’estructura de </a:t>
            </a:r>
            <a:r>
              <a:rPr b="1" lang="ca"/>
              <a:t>selecció simple</a:t>
            </a:r>
            <a:r>
              <a:rPr b="0" i="0" lang="ca" sz="2000" u="none" cap="none" strike="noStrike">
                <a:solidFill>
                  <a:srgbClr val="000000"/>
                </a:solidFill>
                <a:latin typeface="Arial"/>
                <a:ea typeface="Arial"/>
                <a:cs typeface="Arial"/>
                <a:sym typeface="Arial"/>
              </a:rPr>
              <a:t> permet controlar el fet que s’executi un conjunt d’instruccions si i només si es compleix la condició lògica (és a dir, el resultat d’avaluar la condició lògica és igual a true). En cas contrari, no s’executen. </a:t>
            </a:r>
            <a:endParaRPr/>
          </a:p>
          <a:p>
            <a:pPr indent="-342900" lvl="0" marL="342900" rtl="0" algn="l">
              <a:lnSpc>
                <a:spcPct val="80000"/>
              </a:lnSpc>
              <a:spcBef>
                <a:spcPts val="7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Un exemple seria el programa d’una botiga virtual que aplica un descompte al preu final d’acord amb un cert criteri (per exemple, si la compra total és com a mínim de 100 €). En aquest cas, hi ha un conjunt d’instruccions, les que apliquen el descompte, que només s’executen quan es compleix la condició. En cas contrari, s’ignoren i el preu final és el mateix que l’original. </a:t>
            </a:r>
            <a:endParaRPr/>
          </a:p>
        </p:txBody>
      </p:sp>
      <p:sp>
        <p:nvSpPr>
          <p:cNvPr id="91" name="Google Shape;91;p4"/>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txBox="1"/>
          <p:nvPr>
            <p:ph idx="1" type="body"/>
          </p:nvPr>
        </p:nvSpPr>
        <p:spPr>
          <a:xfrm>
            <a:off x="468312" y="1168003"/>
            <a:ext cx="8229600" cy="8643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333333"/>
              </a:buClr>
              <a:buSzPts val="2000"/>
              <a:buFont typeface="Arial"/>
              <a:buNone/>
            </a:pPr>
            <a:r>
              <a:rPr lang="ca">
                <a:solidFill>
                  <a:srgbClr val="333333"/>
                </a:solidFill>
              </a:rPr>
              <a:t>Per dur a terme aquest tipus de control sobre les instruccions del programa, cal usar una sentència if (</a:t>
            </a:r>
            <a:r>
              <a:rPr i="1" lang="ca"/>
              <a:t>si…</a:t>
            </a:r>
            <a:r>
              <a:rPr lang="ca">
                <a:solidFill>
                  <a:srgbClr val="333333"/>
                </a:solidFill>
              </a:rPr>
              <a:t>). En el cas del Java, la sintaxi és la següent:</a:t>
            </a:r>
            <a:endParaRPr/>
          </a:p>
        </p:txBody>
      </p:sp>
      <p:sp>
        <p:nvSpPr>
          <p:cNvPr id="97" name="Google Shape;97;p5"/>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98" name="Google Shape;98;p5"/>
          <p:cNvSpPr txBox="1"/>
          <p:nvPr/>
        </p:nvSpPr>
        <p:spPr>
          <a:xfrm>
            <a:off x="179387" y="201081"/>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sp>
        <p:nvSpPr>
          <p:cNvPr id="99" name="Google Shape;99;p5"/>
          <p:cNvSpPr txBox="1"/>
          <p:nvPr/>
        </p:nvSpPr>
        <p:spPr>
          <a:xfrm>
            <a:off x="395287" y="2571750"/>
            <a:ext cx="8353500" cy="19908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instruccions del programa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if (expressió booleana)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    Instruccions per executar si l'expressió avalua a true (cert) - Bloc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resta d'instruccions del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idx="1" type="body"/>
          </p:nvPr>
        </p:nvSpPr>
        <p:spPr>
          <a:xfrm>
            <a:off x="323850" y="1059656"/>
            <a:ext cx="8229600" cy="35100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nom de la sentència if bàsicament diu: </a:t>
            </a:r>
            <a:r>
              <a:rPr b="1" lang="ca"/>
              <a:t>“Si es compleix certa condició, fes això…”</a:t>
            </a:r>
            <a:endParaRPr/>
          </a:p>
        </p:txBody>
      </p:sp>
      <p:sp>
        <p:nvSpPr>
          <p:cNvPr id="105" name="Google Shape;105;p6"/>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06" name="Google Shape;106;p6"/>
          <p:cNvSpPr txBox="1"/>
          <p:nvPr/>
        </p:nvSpPr>
        <p:spPr>
          <a:xfrm>
            <a:off x="323850" y="309428"/>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pic>
        <p:nvPicPr>
          <p:cNvPr descr="ic10mu2_04.png" id="107" name="Google Shape;107;p6"/>
          <p:cNvPicPr preferRelativeResize="0"/>
          <p:nvPr/>
        </p:nvPicPr>
        <p:blipFill rotWithShape="1">
          <a:blip r:embed="rId3">
            <a:alphaModFix/>
          </a:blip>
          <a:srcRect b="0" l="0" r="0" t="0"/>
          <a:stretch/>
        </p:blipFill>
        <p:spPr>
          <a:xfrm>
            <a:off x="2268537" y="1924050"/>
            <a:ext cx="3186114" cy="2819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1" type="body"/>
          </p:nvPr>
        </p:nvSpPr>
        <p:spPr>
          <a:xfrm>
            <a:off x="468312" y="1168003"/>
            <a:ext cx="8229600" cy="3025500"/>
          </a:xfrm>
          <a:prstGeom prst="rect">
            <a:avLst/>
          </a:prstGeom>
          <a:noFill/>
          <a:ln>
            <a:noFill/>
          </a:ln>
        </p:spPr>
        <p:txBody>
          <a:bodyPr anchorCtr="0" anchor="t" bIns="45700" lIns="45700" spcFirstLastPara="1" rIns="45700" wrap="square" tIns="45700">
            <a:normAutofit/>
          </a:bodyPr>
          <a:lstStyle/>
          <a:p>
            <a:pPr indent="-533400" lvl="0" marL="533400" rtl="0" algn="l">
              <a:lnSpc>
                <a:spcPct val="90000"/>
              </a:lnSpc>
              <a:spcBef>
                <a:spcPts val="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L’expressió booleana que denota la condició lògica pot ser tan complexa com es vulgui, però ha d’estar sempre </a:t>
            </a:r>
            <a:r>
              <a:rPr b="1" lang="ca"/>
              <a:t>entre parèntesis</a:t>
            </a:r>
            <a:r>
              <a:rPr b="0" i="0" lang="ca" sz="2000" u="none" cap="none" strike="noStrike">
                <a:solidFill>
                  <a:srgbClr val="000000"/>
                </a:solidFill>
                <a:latin typeface="Arial"/>
                <a:ea typeface="Arial"/>
                <a:cs typeface="Arial"/>
                <a:sym typeface="Arial"/>
              </a:rPr>
              <a:t>.</a:t>
            </a:r>
            <a:endParaRPr/>
          </a:p>
          <a:p>
            <a:pPr indent="-533400" lvl="0" marL="533400" rtl="0" algn="l">
              <a:lnSpc>
                <a:spcPct val="90000"/>
              </a:lnSpc>
              <a:spcBef>
                <a:spcPts val="4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Les instruccions que cal executar si la condició és certa estan </a:t>
            </a:r>
            <a:r>
              <a:rPr b="1" lang="ca"/>
              <a:t>englobades entre dues claus</a:t>
            </a:r>
            <a:r>
              <a:rPr b="0" i="0" lang="ca" sz="2000" u="none" cap="none" strike="noStrike">
                <a:solidFill>
                  <a:srgbClr val="000000"/>
                </a:solidFill>
                <a:latin typeface="Arial"/>
                <a:ea typeface="Arial"/>
                <a:cs typeface="Arial"/>
                <a:sym typeface="Arial"/>
              </a:rPr>
              <a:t> ({, }). Aquest conjunt es considera un bloc d’instruccions associat a la sentència if (</a:t>
            </a:r>
            <a:r>
              <a:rPr i="1" lang="ca"/>
              <a:t>bloc if</a:t>
            </a:r>
            <a:r>
              <a:rPr b="0" i="0" lang="ca" sz="2000" u="none" cap="none" strike="noStrike">
                <a:solidFill>
                  <a:srgbClr val="000000"/>
                </a:solidFill>
                <a:latin typeface="Arial"/>
                <a:ea typeface="Arial"/>
                <a:cs typeface="Arial"/>
                <a:sym typeface="Arial"/>
              </a:rPr>
              <a:t>).</a:t>
            </a:r>
            <a:endParaRPr/>
          </a:p>
          <a:p>
            <a:pPr indent="-533400" lvl="0" marL="533400" rtl="0" algn="l">
              <a:lnSpc>
                <a:spcPct val="90000"/>
              </a:lnSpc>
              <a:spcBef>
                <a:spcPts val="4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La línia on hi ha les claus o la condició </a:t>
            </a:r>
            <a:r>
              <a:rPr b="1" lang="ca"/>
              <a:t>no acaba mai en punt i coma</a:t>
            </a:r>
            <a:r>
              <a:rPr b="0" i="0" lang="ca" sz="2000" u="none" cap="none" strike="noStrike">
                <a:solidFill>
                  <a:srgbClr val="000000"/>
                </a:solidFill>
                <a:latin typeface="Arial"/>
                <a:ea typeface="Arial"/>
                <a:cs typeface="Arial"/>
                <a:sym typeface="Arial"/>
              </a:rPr>
              <a:t> (;), al contrari que altres instruccions.</a:t>
            </a:r>
            <a:endParaRPr/>
          </a:p>
          <a:p>
            <a:pPr indent="-533400" lvl="0" marL="533400" rtl="0" algn="l">
              <a:lnSpc>
                <a:spcPct val="90000"/>
              </a:lnSpc>
              <a:spcBef>
                <a:spcPts val="4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Tot i que no és imprescindible, és un bon costum que les instruccions del bloc estiguin </a:t>
            </a:r>
            <a:r>
              <a:rPr b="1" lang="ca"/>
              <a:t>sagnades</a:t>
            </a:r>
            <a:r>
              <a:rPr b="0" i="0" lang="ca" sz="2000" u="none" cap="none" strike="noStrike">
                <a:solidFill>
                  <a:srgbClr val="000000"/>
                </a:solidFill>
                <a:latin typeface="Arial"/>
                <a:ea typeface="Arial"/>
                <a:cs typeface="Arial"/>
                <a:sym typeface="Arial"/>
              </a:rPr>
              <a:t>.</a:t>
            </a:r>
            <a:endParaRPr/>
          </a:p>
        </p:txBody>
      </p:sp>
      <p:sp>
        <p:nvSpPr>
          <p:cNvPr id="113" name="Google Shape;113;p7"/>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14" name="Google Shape;114;p7"/>
          <p:cNvSpPr txBox="1"/>
          <p:nvPr/>
        </p:nvSpPr>
        <p:spPr>
          <a:xfrm>
            <a:off x="323850"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8"/>
          <p:cNvSpPr txBox="1"/>
          <p:nvPr>
            <p:ph idx="1" type="body"/>
          </p:nvPr>
        </p:nvSpPr>
        <p:spPr>
          <a:xfrm>
            <a:off x="468312" y="1059656"/>
            <a:ext cx="8280300" cy="12966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Quan el bloc if només té una </a:t>
            </a:r>
            <a:r>
              <a:rPr b="1" lang="ca"/>
              <a:t>única instrucció</a:t>
            </a:r>
            <a:r>
              <a:rPr b="0" i="0" lang="ca" sz="2000" u="none" cap="none" strike="noStrike">
                <a:solidFill>
                  <a:srgbClr val="000000"/>
                </a:solidFill>
                <a:latin typeface="Arial"/>
                <a:ea typeface="Arial"/>
                <a:cs typeface="Arial"/>
                <a:sym typeface="Arial"/>
              </a:rPr>
              <a:t>, l’ús de </a:t>
            </a:r>
            <a:r>
              <a:rPr b="1" lang="ca"/>
              <a:t>claus és opcional</a:t>
            </a:r>
            <a:r>
              <a:rPr b="0" i="0" lang="ca" sz="2000" u="none" cap="none" strike="noStrike">
                <a:solidFill>
                  <a:srgbClr val="000000"/>
                </a:solidFill>
                <a:latin typeface="Arial"/>
                <a:ea typeface="Arial"/>
                <a:cs typeface="Arial"/>
                <a:sym typeface="Arial"/>
              </a:rPr>
              <a:t>. De totes maneres, </a:t>
            </a:r>
            <a:r>
              <a:rPr b="1" lang="ca"/>
              <a:t>és molt recomanable usar-les</a:t>
            </a:r>
            <a:r>
              <a:rPr b="0" i="0" lang="ca" sz="2000" u="none" cap="none" strike="noStrike">
                <a:solidFill>
                  <a:srgbClr val="000000"/>
                </a:solidFill>
                <a:latin typeface="Arial"/>
                <a:ea typeface="Arial"/>
                <a:cs typeface="Arial"/>
                <a:sym typeface="Arial"/>
              </a:rPr>
              <a:t> sempre, independentment d’aquest fet. Això facilita la identificació del bloc de codi associat a la sentència if quan s’està llegint el codi font. </a:t>
            </a:r>
            <a:endParaRPr/>
          </a:p>
        </p:txBody>
      </p:sp>
      <p:sp>
        <p:nvSpPr>
          <p:cNvPr id="120" name="Google Shape;120;p8"/>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21" name="Google Shape;121;p8"/>
          <p:cNvSpPr txBox="1"/>
          <p:nvPr/>
        </p:nvSpPr>
        <p:spPr>
          <a:xfrm>
            <a:off x="323850" y="471353"/>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sp>
        <p:nvSpPr>
          <p:cNvPr id="122" name="Google Shape;122;p8"/>
          <p:cNvSpPr txBox="1"/>
          <p:nvPr/>
        </p:nvSpPr>
        <p:spPr>
          <a:xfrm>
            <a:off x="2179006" y="2462425"/>
            <a:ext cx="4067700" cy="22215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if (preu &gt;= COMPRA_MIN)</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preu = preu - (preu * DESCOMPTE / 100);</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és equivalent a</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if (preu &gt;= COMPRA_MIN) {</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preu = preu - (preu * DESCOMPTE / 100);</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9"/>
          <p:cNvSpPr txBox="1"/>
          <p:nvPr>
            <p:ph idx="1" type="body"/>
          </p:nvPr>
        </p:nvSpPr>
        <p:spPr>
          <a:xfrm>
            <a:off x="468312" y="1059656"/>
            <a:ext cx="8280300" cy="4857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Alerta! </a:t>
            </a:r>
            <a:endParaRPr/>
          </a:p>
        </p:txBody>
      </p:sp>
      <p:sp>
        <p:nvSpPr>
          <p:cNvPr id="128" name="Google Shape;128;p9"/>
          <p:cNvSpPr txBox="1"/>
          <p:nvPr>
            <p:ph idx="12" type="sldNum"/>
          </p:nvPr>
        </p:nvSpPr>
        <p:spPr>
          <a:xfrm>
            <a:off x="8483776" y="4683919"/>
            <a:ext cx="2031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29" name="Google Shape;129;p9"/>
          <p:cNvSpPr txBox="1"/>
          <p:nvPr/>
        </p:nvSpPr>
        <p:spPr>
          <a:xfrm>
            <a:off x="323850" y="471353"/>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sp>
        <p:nvSpPr>
          <p:cNvPr id="130" name="Google Shape;130;p9"/>
          <p:cNvSpPr txBox="1"/>
          <p:nvPr/>
        </p:nvSpPr>
        <p:spPr>
          <a:xfrm>
            <a:off x="230512" y="1478131"/>
            <a:ext cx="8353500" cy="30579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if (preu &gt;= COMPRA_MIN)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float descompteFet = preu * DESCOMPTE / 100;</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preu = preu - descompteFet;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 és equivalent a (fixeu-vos on estan ubicades les claus)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if (preu &gt;= COMPRA_MIN)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float descompteFet = preu * DESCOMPTE /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preu = preu - descompteFet;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txBox="1"/>
          <p:nvPr>
            <p:ph idx="1" type="body"/>
          </p:nvPr>
        </p:nvSpPr>
        <p:spPr>
          <a:xfrm>
            <a:off x="468312" y="1059656"/>
            <a:ext cx="8280300" cy="4857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Alerta! </a:t>
            </a:r>
            <a:endParaRPr/>
          </a:p>
        </p:txBody>
      </p:sp>
      <p:sp>
        <p:nvSpPr>
          <p:cNvPr id="136" name="Google Shape;136;p10"/>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37" name="Google Shape;137;p10"/>
          <p:cNvSpPr txBox="1"/>
          <p:nvPr/>
        </p:nvSpPr>
        <p:spPr>
          <a:xfrm>
            <a:off x="323850" y="471353"/>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a:t>
            </a:r>
            <a:endParaRPr b="0" i="0" sz="1400" u="none" cap="none" strike="noStrike">
              <a:solidFill>
                <a:srgbClr val="000000"/>
              </a:solidFill>
              <a:latin typeface="Arial"/>
              <a:ea typeface="Arial"/>
              <a:cs typeface="Arial"/>
              <a:sym typeface="Arial"/>
            </a:endParaRPr>
          </a:p>
        </p:txBody>
      </p:sp>
      <p:sp>
        <p:nvSpPr>
          <p:cNvPr id="138" name="Google Shape;138;p10"/>
          <p:cNvSpPr txBox="1"/>
          <p:nvPr/>
        </p:nvSpPr>
        <p:spPr>
          <a:xfrm>
            <a:off x="538587" y="1478131"/>
            <a:ext cx="8353500" cy="3401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//Quan comparam </a:t>
            </a:r>
            <a:r>
              <a:rPr b="1" i="0" lang="ca" sz="1400" u="none" cap="none" strike="noStrike">
                <a:solidFill>
                  <a:srgbClr val="000000"/>
                </a:solidFill>
                <a:latin typeface="Arial"/>
                <a:ea typeface="Arial"/>
                <a:cs typeface="Arial"/>
                <a:sym typeface="Arial"/>
              </a:rPr>
              <a:t>Strings</a:t>
            </a:r>
            <a:r>
              <a:rPr b="0" i="0" lang="ca" sz="1400" u="none" cap="none" strike="noStrike">
                <a:solidFill>
                  <a:srgbClr val="000000"/>
                </a:solidFill>
                <a:latin typeface="Arial"/>
                <a:ea typeface="Arial"/>
                <a:cs typeface="Arial"/>
                <a:sym typeface="Arial"/>
              </a:rPr>
              <a:t> </a:t>
            </a:r>
            <a:r>
              <a:rPr b="1" i="0" lang="ca" sz="1400" u="none" cap="none" strike="noStrike">
                <a:solidFill>
                  <a:srgbClr val="000000"/>
                </a:solidFill>
                <a:latin typeface="Arial"/>
                <a:ea typeface="Arial"/>
                <a:cs typeface="Arial"/>
                <a:sym typeface="Arial"/>
              </a:rPr>
              <a:t>NO utilitzam == o !=</a:t>
            </a:r>
            <a:r>
              <a:rPr b="0" i="0" lang="ca"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Scanner sc= new Scanner(System.in);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System.out.println(“Ets major d’edat?");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String major=sc.nextLine();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if (</a:t>
            </a:r>
            <a:r>
              <a:rPr b="1" i="0" lang="ca" sz="1400" u="none" cap="none" strike="noStrike">
                <a:solidFill>
                  <a:srgbClr val="000000"/>
                </a:solidFill>
                <a:latin typeface="Arial"/>
                <a:ea typeface="Arial"/>
                <a:cs typeface="Arial"/>
                <a:sym typeface="Arial"/>
              </a:rPr>
              <a:t>major.equals</a:t>
            </a:r>
            <a:r>
              <a:rPr b="0" i="0" lang="ca" sz="1400" u="none" cap="none" strike="noStrike">
                <a:solidFill>
                  <a:srgbClr val="000000"/>
                </a:solidFill>
                <a:latin typeface="Arial"/>
                <a:ea typeface="Arial"/>
                <a:cs typeface="Arial"/>
                <a:sym typeface="Arial"/>
              </a:rPr>
              <a:t>("si")){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System.out.println(“Ja et pots treure el carnet");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else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System.out.println(“Encara no et pots treure el carnet");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idx="1" type="body"/>
          </p:nvPr>
        </p:nvSpPr>
        <p:spPr>
          <a:xfrm>
            <a:off x="395275" y="1275147"/>
            <a:ext cx="8208900" cy="32595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La sentència </a:t>
            </a:r>
            <a:r>
              <a:rPr b="1" lang="ca"/>
              <a:t>if/else</a:t>
            </a:r>
            <a:r>
              <a:rPr b="0" i="0" lang="ca" sz="2000" u="none" cap="none" strike="noStrike">
                <a:solidFill>
                  <a:srgbClr val="000000"/>
                </a:solidFill>
                <a:latin typeface="Arial"/>
                <a:ea typeface="Arial"/>
                <a:cs typeface="Arial"/>
                <a:sym typeface="Arial"/>
              </a:rPr>
              <a:t> bàsicament diu: </a:t>
            </a:r>
            <a:r>
              <a:rPr b="1" lang="ca"/>
              <a:t>“Si es compleix certa condició, fes això… i si no, això altre…”.</a:t>
            </a:r>
            <a:r>
              <a:rPr b="0" i="0" lang="ca" sz="2000" u="none" cap="none" strike="noStrike">
                <a:solidFill>
                  <a:srgbClr val="000000"/>
                </a:solidFill>
                <a:latin typeface="Arial"/>
                <a:ea typeface="Arial"/>
                <a:cs typeface="Arial"/>
                <a:sym typeface="Arial"/>
              </a:rPr>
              <a:t> </a:t>
            </a:r>
            <a:endParaRPr/>
          </a:p>
          <a:p>
            <a:pPr indent="-533400" lvl="0" marL="533400" rtl="0" algn="l">
              <a:lnSpc>
                <a:spcPct val="80000"/>
              </a:lnSpc>
              <a:spcBef>
                <a:spcPts val="7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533400" lvl="0" marL="5334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L’estructura de </a:t>
            </a:r>
            <a:r>
              <a:rPr b="1" lang="ca"/>
              <a:t>selecció doble</a:t>
            </a:r>
            <a:r>
              <a:rPr b="0" i="0" lang="ca" sz="2000" u="none" cap="none" strike="noStrike">
                <a:solidFill>
                  <a:srgbClr val="000000"/>
                </a:solidFill>
                <a:latin typeface="Arial"/>
                <a:ea typeface="Arial"/>
                <a:cs typeface="Arial"/>
                <a:sym typeface="Arial"/>
              </a:rPr>
              <a:t> permet controlar el fet que s’executi un conjunt d’instruccions, només si es compleix la condició lògica, i que se n’executi un altre, només si no es compleix la condició lògica.</a:t>
            </a:r>
            <a:endParaRPr b="0" i="0" sz="2000" u="none" cap="none" strike="noStrike">
              <a:solidFill>
                <a:srgbClr val="000000"/>
              </a:solidFill>
              <a:latin typeface="Arial"/>
              <a:ea typeface="Arial"/>
              <a:cs typeface="Arial"/>
              <a:sym typeface="Arial"/>
            </a:endParaRPr>
          </a:p>
          <a:p>
            <a:pPr indent="-533400" lvl="0" marL="533400" rtl="0" algn="l">
              <a:lnSpc>
                <a:spcPct val="80000"/>
              </a:lnSpc>
              <a:spcBef>
                <a:spcPts val="400"/>
              </a:spcBef>
              <a:spcAft>
                <a:spcPts val="0"/>
              </a:spcAft>
              <a:buClr>
                <a:srgbClr val="000000"/>
              </a:buClr>
              <a:buSzPts val="2000"/>
              <a:buFont typeface="Arial"/>
              <a:buNone/>
            </a:pPr>
            <a:r>
              <a:t/>
            </a:r>
            <a:endParaRPr sz="2000">
              <a:solidFill>
                <a:srgbClr val="000000"/>
              </a:solidFill>
              <a:latin typeface="Arial"/>
              <a:ea typeface="Arial"/>
              <a:cs typeface="Arial"/>
              <a:sym typeface="Arial"/>
            </a:endParaRPr>
          </a:p>
          <a:p>
            <a:pPr indent="-533400" lvl="0" marL="5334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Els </a:t>
            </a:r>
            <a:r>
              <a:rPr b="1" lang="ca"/>
              <a:t>dos blocs de codi són excloents</a:t>
            </a:r>
            <a:r>
              <a:rPr b="0" i="0" lang="ca" sz="2000" u="none" cap="none" strike="noStrike">
                <a:solidFill>
                  <a:srgbClr val="000000"/>
                </a:solidFill>
                <a:latin typeface="Arial"/>
                <a:ea typeface="Arial"/>
                <a:cs typeface="Arial"/>
                <a:sym typeface="Arial"/>
              </a:rPr>
              <a:t>. Mai no pot passar que tots dos s’acabin executant.</a:t>
            </a:r>
            <a:endParaRPr/>
          </a:p>
        </p:txBody>
      </p:sp>
      <p:sp>
        <p:nvSpPr>
          <p:cNvPr id="144" name="Google Shape;144;p11"/>
          <p:cNvSpPr txBox="1"/>
          <p:nvPr>
            <p:ph idx="12" type="sldNum"/>
          </p:nvPr>
        </p:nvSpPr>
        <p:spPr>
          <a:xfrm>
            <a:off x="8398088" y="4683919"/>
            <a:ext cx="2886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45" name="Google Shape;145;p11"/>
          <p:cNvSpPr txBox="1"/>
          <p:nvPr/>
        </p:nvSpPr>
        <p:spPr>
          <a:xfrm>
            <a:off x="334962" y="654710"/>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idx="1" type="body"/>
          </p:nvPr>
        </p:nvSpPr>
        <p:spPr>
          <a:xfrm>
            <a:off x="395287" y="1113234"/>
            <a:ext cx="8424900" cy="14586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rmAutofit lnSpcReduction="10000"/>
          </a:bodyPr>
          <a:lstStyle/>
          <a:p>
            <a:pPr indent="-533400" lvl="0" marL="533400" rtl="0" algn="l">
              <a:lnSpc>
                <a:spcPct val="80000"/>
              </a:lnSpc>
              <a:spcBef>
                <a:spcPts val="0"/>
              </a:spcBef>
              <a:spcAft>
                <a:spcPts val="0"/>
              </a:spcAft>
              <a:buClr>
                <a:srgbClr val="000000"/>
              </a:buClr>
              <a:buSzPts val="1800"/>
              <a:buFont typeface="Arial"/>
              <a:buNone/>
            </a:pPr>
            <a:r>
              <a:rPr b="1" lang="ca" sz="1800"/>
              <a:t>if</a:t>
            </a:r>
            <a:r>
              <a:rPr lang="ca" sz="1800"/>
              <a:t> (expressió booleana)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per executar si l'expressió l'avalua a true (cert) - Bloc if</a:t>
            </a:r>
            <a:endParaRPr/>
          </a:p>
          <a:p>
            <a:pPr indent="-533400" lvl="0" marL="533400" rtl="0" algn="l">
              <a:lnSpc>
                <a:spcPct val="80000"/>
              </a:lnSpc>
              <a:spcBef>
                <a:spcPts val="400"/>
              </a:spcBef>
              <a:spcAft>
                <a:spcPts val="0"/>
              </a:spcAft>
              <a:buClr>
                <a:srgbClr val="000000"/>
              </a:buClr>
              <a:buSzPts val="1800"/>
              <a:buFont typeface="Arial"/>
              <a:buNone/>
            </a:pPr>
            <a:r>
              <a:rPr lang="ca" sz="1800"/>
              <a:t>} </a:t>
            </a:r>
            <a:r>
              <a:rPr b="1" lang="ca" sz="1800"/>
              <a:t>else</a:t>
            </a:r>
            <a:r>
              <a:rPr lang="ca" sz="1800"/>
              <a:t>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alternatives per executar si l'expressió l'avalua a false (fals) - Bloc else</a:t>
            </a:r>
            <a:endParaRPr/>
          </a:p>
          <a:p>
            <a:pPr indent="-533400" lvl="0" marL="533400" rtl="0" algn="l">
              <a:lnSpc>
                <a:spcPct val="80000"/>
              </a:lnSpc>
              <a:spcBef>
                <a:spcPts val="400"/>
              </a:spcBef>
              <a:spcAft>
                <a:spcPts val="0"/>
              </a:spcAft>
              <a:buClr>
                <a:srgbClr val="000000"/>
              </a:buClr>
              <a:buSzPts val="1800"/>
              <a:buFont typeface="Arial"/>
              <a:buNone/>
            </a:pPr>
            <a:r>
              <a:rPr lang="ca" sz="1800"/>
              <a:t>}</a:t>
            </a:r>
            <a:endParaRPr/>
          </a:p>
        </p:txBody>
      </p:sp>
      <p:sp>
        <p:nvSpPr>
          <p:cNvPr id="151" name="Google Shape;151;p12"/>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52" name="Google Shape;152;p12"/>
          <p:cNvSpPr txBox="1"/>
          <p:nvPr/>
        </p:nvSpPr>
        <p:spPr>
          <a:xfrm>
            <a:off x="334962"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a:t>
            </a:r>
            <a:endParaRPr b="0" i="0" sz="1400" u="none" cap="none" strike="noStrike">
              <a:solidFill>
                <a:srgbClr val="000000"/>
              </a:solidFill>
              <a:latin typeface="Arial"/>
              <a:ea typeface="Arial"/>
              <a:cs typeface="Arial"/>
              <a:sym typeface="Arial"/>
            </a:endParaRPr>
          </a:p>
        </p:txBody>
      </p:sp>
      <p:pic>
        <p:nvPicPr>
          <p:cNvPr descr="if-else.png" id="153" name="Google Shape;153;p12"/>
          <p:cNvPicPr preferRelativeResize="0"/>
          <p:nvPr/>
        </p:nvPicPr>
        <p:blipFill rotWithShape="1">
          <a:blip r:embed="rId3">
            <a:alphaModFix/>
          </a:blip>
          <a:srcRect b="0" l="0" r="0" t="0"/>
          <a:stretch/>
        </p:blipFill>
        <p:spPr>
          <a:xfrm>
            <a:off x="468312" y="2625328"/>
            <a:ext cx="8280402" cy="22145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idx="1" type="body"/>
          </p:nvPr>
        </p:nvSpPr>
        <p:spPr>
          <a:xfrm>
            <a:off x="395287" y="1006078"/>
            <a:ext cx="8424900" cy="26457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nom de la sentència if/else if/else significa bàsicament: “</a:t>
            </a:r>
            <a:r>
              <a:rPr b="1" lang="ca"/>
              <a:t>Si es compleix certa condició, fes això… Si no, mira si es compleix això altre… I si no, això altre…</a:t>
            </a:r>
            <a:r>
              <a:rPr b="0" i="0" lang="ca" sz="2000" u="none" cap="none" strike="noStrike">
                <a:solidFill>
                  <a:srgbClr val="000000"/>
                </a:solidFill>
                <a:latin typeface="Arial"/>
                <a:ea typeface="Arial"/>
                <a:cs typeface="Arial"/>
                <a:sym typeface="Arial"/>
              </a:rPr>
              <a:t>”.</a:t>
            </a:r>
            <a:endParaRPr/>
          </a:p>
          <a:p>
            <a:pPr indent="-533400" lvl="0" marL="533400" rtl="0" algn="l">
              <a:lnSpc>
                <a:spcPct val="80000"/>
              </a:lnSpc>
              <a:spcBef>
                <a:spcPts val="7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533400" lvl="0" marL="5334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Cada condició es va avaluant ordenadament, des de la primera fins a la darrera, i s’executarà el codi del primer cas en què l’expressió avaluï com a cert. Un cop fet això, ja no es torna a avaluar cap altra condició restant i s’ignora la resta de blocs. Si en aquest procés es dóna el cas que cap de les expressions avalua a cert, s’executaran les instruccions del bloc else.</a:t>
            </a:r>
            <a:endParaRPr/>
          </a:p>
        </p:txBody>
      </p:sp>
      <p:sp>
        <p:nvSpPr>
          <p:cNvPr id="159" name="Google Shape;159;p13"/>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60" name="Google Shape;160;p13"/>
          <p:cNvSpPr txBox="1"/>
          <p:nvPr/>
        </p:nvSpPr>
        <p:spPr>
          <a:xfrm>
            <a:off x="334962"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 if / else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idx="1" type="body"/>
          </p:nvPr>
        </p:nvSpPr>
        <p:spPr>
          <a:xfrm>
            <a:off x="395287" y="1006078"/>
            <a:ext cx="8424900" cy="2645700"/>
          </a:xfrm>
          <a:prstGeom prst="rect">
            <a:avLst/>
          </a:prstGeom>
          <a:noFill/>
          <a:ln>
            <a:noFill/>
          </a:ln>
        </p:spPr>
        <p:txBody>
          <a:bodyPr anchorCtr="0" anchor="t" bIns="45700" lIns="45700" spcFirstLastPara="1" rIns="45700" wrap="square" tIns="45700">
            <a:normAutofit/>
          </a:bodyPr>
          <a:lstStyle/>
          <a:p>
            <a:pPr indent="-533400" lvl="0" marL="5334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punt important d’aquesta sentència és que només </a:t>
            </a:r>
            <a:r>
              <a:rPr b="1" lang="ca"/>
              <a:t>s’executarà un únic bloc de tots els possibles</a:t>
            </a:r>
            <a:r>
              <a:rPr b="0" i="0" lang="ca" sz="2000" u="none" cap="none" strike="noStrike">
                <a:solidFill>
                  <a:srgbClr val="000000"/>
                </a:solidFill>
                <a:latin typeface="Arial"/>
                <a:ea typeface="Arial"/>
                <a:cs typeface="Arial"/>
                <a:sym typeface="Arial"/>
              </a:rPr>
              <a:t>. Fins i tot en el cas que més d’una de les expressions booleanes pugui avaluar a cert, només s’executarà el bloc associat a la primera d’aquestes expressions dins de l’ordre establert en la sentència.</a:t>
            </a:r>
            <a:endParaRPr/>
          </a:p>
          <a:p>
            <a:pPr indent="-533400" lvl="0" marL="533400" rtl="0" algn="l">
              <a:lnSpc>
                <a:spcPct val="80000"/>
              </a:lnSpc>
              <a:spcBef>
                <a:spcPts val="7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533400" lvl="0" marL="5334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També és destacable el fet que </a:t>
            </a:r>
            <a:r>
              <a:rPr b="1" lang="ca"/>
              <a:t>el bloc else és opcional</a:t>
            </a:r>
            <a:r>
              <a:rPr b="0" i="0" lang="ca" sz="2000" u="none" cap="none" strike="noStrike">
                <a:solidFill>
                  <a:srgbClr val="000000"/>
                </a:solidFill>
                <a:latin typeface="Arial"/>
                <a:ea typeface="Arial"/>
                <a:cs typeface="Arial"/>
                <a:sym typeface="Arial"/>
              </a:rPr>
              <a:t>. Si no volem, no cal posar-lo. En aquest cas, si no es compleix cap de les condicions, no s’executa cap instrucció entre les incloses dins de la sentència.</a:t>
            </a:r>
            <a:endParaRPr/>
          </a:p>
        </p:txBody>
      </p:sp>
      <p:sp>
        <p:nvSpPr>
          <p:cNvPr id="166" name="Google Shape;166;p14"/>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67" name="Google Shape;167;p14"/>
          <p:cNvSpPr txBox="1"/>
          <p:nvPr/>
        </p:nvSpPr>
        <p:spPr>
          <a:xfrm>
            <a:off x="334962"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 if / else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idx="1" type="body"/>
          </p:nvPr>
        </p:nvSpPr>
        <p:spPr>
          <a:xfrm>
            <a:off x="395287" y="1277540"/>
            <a:ext cx="8353500" cy="30231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normAutofit lnSpcReduction="10000"/>
          </a:bodyPr>
          <a:lstStyle/>
          <a:p>
            <a:pPr indent="-533400" lvl="0" marL="533400" rtl="0" algn="l">
              <a:lnSpc>
                <a:spcPct val="80000"/>
              </a:lnSpc>
              <a:spcBef>
                <a:spcPts val="0"/>
              </a:spcBef>
              <a:spcAft>
                <a:spcPts val="0"/>
              </a:spcAft>
              <a:buClr>
                <a:srgbClr val="000000"/>
              </a:buClr>
              <a:buSzPts val="1800"/>
              <a:buFont typeface="Arial"/>
              <a:buNone/>
            </a:pPr>
            <a:r>
              <a:rPr lang="ca" sz="1800"/>
              <a:t>if (expressió booleana 1)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per executar si l'expressió 1 l'avalua a true - Bloc if</a:t>
            </a:r>
            <a:endParaRPr/>
          </a:p>
          <a:p>
            <a:pPr indent="-533400" lvl="0" marL="533400" rtl="0" algn="l">
              <a:lnSpc>
                <a:spcPct val="80000"/>
              </a:lnSpc>
              <a:spcBef>
                <a:spcPts val="400"/>
              </a:spcBef>
              <a:spcAft>
                <a:spcPts val="0"/>
              </a:spcAft>
              <a:buClr>
                <a:srgbClr val="000000"/>
              </a:buClr>
              <a:buSzPts val="1800"/>
              <a:buFont typeface="Arial"/>
              <a:buNone/>
            </a:pPr>
            <a:r>
              <a:rPr lang="ca" sz="1800"/>
              <a:t>} else if (expressió booleana 2)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si l'expressió 2 l'avalua a true - Bloc else if</a:t>
            </a:r>
            <a:endParaRPr/>
          </a:p>
          <a:p>
            <a:pPr indent="-533400" lvl="0" marL="533400" rtl="0" algn="l">
              <a:lnSpc>
                <a:spcPct val="80000"/>
              </a:lnSpc>
              <a:spcBef>
                <a:spcPts val="400"/>
              </a:spcBef>
              <a:spcAft>
                <a:spcPts val="0"/>
              </a:spcAft>
              <a:buClr>
                <a:srgbClr val="000000"/>
              </a:buClr>
              <a:buSzPts val="1800"/>
              <a:buFont typeface="Arial"/>
              <a:buNone/>
            </a:pPr>
            <a:r>
              <a:rPr lang="ca" sz="1800"/>
              <a:t>} else if (expressió booleana 3)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si l'expressió 3 l'avalua a true - Bloc else if</a:t>
            </a:r>
            <a:endParaRPr/>
          </a:p>
          <a:p>
            <a:pPr indent="-533400" lvl="0" marL="533400" rtl="0" algn="l">
              <a:lnSpc>
                <a:spcPct val="80000"/>
              </a:lnSpc>
              <a:spcBef>
                <a:spcPts val="700"/>
              </a:spcBef>
              <a:spcAft>
                <a:spcPts val="0"/>
              </a:spcAft>
              <a:buClr>
                <a:srgbClr val="000000"/>
              </a:buClr>
              <a:buSzPts val="1800"/>
              <a:buFont typeface="Arial"/>
              <a:buNone/>
            </a:pPr>
            <a:r>
              <a:t/>
            </a:r>
            <a:endParaRPr sz="1800"/>
          </a:p>
          <a:p>
            <a:pPr indent="-533400" lvl="0" marL="533400" rtl="0" algn="l">
              <a:lnSpc>
                <a:spcPct val="80000"/>
              </a:lnSpc>
              <a:spcBef>
                <a:spcPts val="400"/>
              </a:spcBef>
              <a:spcAft>
                <a:spcPts val="0"/>
              </a:spcAft>
              <a:buClr>
                <a:srgbClr val="000000"/>
              </a:buClr>
              <a:buSzPts val="1800"/>
              <a:buFont typeface="Arial"/>
              <a:buNone/>
            </a:pPr>
            <a:r>
              <a:rPr lang="ca" sz="1800"/>
              <a:t>} else if (expressió booleana N)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si l'expressió N avalua a true - Bloc else if</a:t>
            </a:r>
            <a:endParaRPr/>
          </a:p>
          <a:p>
            <a:pPr indent="-533400" lvl="0" marL="533400" rtl="0" algn="l">
              <a:lnSpc>
                <a:spcPct val="80000"/>
              </a:lnSpc>
              <a:spcBef>
                <a:spcPts val="400"/>
              </a:spcBef>
              <a:spcAft>
                <a:spcPts val="0"/>
              </a:spcAft>
              <a:buClr>
                <a:srgbClr val="000000"/>
              </a:buClr>
              <a:buSzPts val="1800"/>
              <a:buFont typeface="Arial"/>
              <a:buNone/>
            </a:pPr>
            <a:r>
              <a:rPr lang="ca" sz="1800"/>
              <a:t>} else {</a:t>
            </a:r>
            <a:endParaRPr/>
          </a:p>
          <a:p>
            <a:pPr indent="-533400" lvl="0" marL="533400" rtl="0" algn="l">
              <a:lnSpc>
                <a:spcPct val="80000"/>
              </a:lnSpc>
              <a:spcBef>
                <a:spcPts val="400"/>
              </a:spcBef>
              <a:spcAft>
                <a:spcPts val="0"/>
              </a:spcAft>
              <a:buClr>
                <a:srgbClr val="000000"/>
              </a:buClr>
              <a:buSzPts val="1800"/>
              <a:buFont typeface="Arial"/>
              <a:buNone/>
            </a:pPr>
            <a:r>
              <a:rPr lang="ca" sz="1800"/>
              <a:t>	//Instruccions: si totes les expressions 1...N avaluen a false - Bloc else</a:t>
            </a:r>
            <a:endParaRPr/>
          </a:p>
          <a:p>
            <a:pPr indent="-533400" lvl="0" marL="533400" rtl="0" algn="l">
              <a:lnSpc>
                <a:spcPct val="80000"/>
              </a:lnSpc>
              <a:spcBef>
                <a:spcPts val="400"/>
              </a:spcBef>
              <a:spcAft>
                <a:spcPts val="0"/>
              </a:spcAft>
              <a:buClr>
                <a:srgbClr val="000000"/>
              </a:buClr>
              <a:buSzPts val="1800"/>
              <a:buFont typeface="Arial"/>
              <a:buNone/>
            </a:pPr>
            <a:r>
              <a:rPr lang="ca" sz="1800"/>
              <a:t>}</a:t>
            </a:r>
            <a:endParaRPr/>
          </a:p>
        </p:txBody>
      </p:sp>
      <p:sp>
        <p:nvSpPr>
          <p:cNvPr id="173" name="Google Shape;173;p15"/>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74" name="Google Shape;174;p15"/>
          <p:cNvSpPr txBox="1"/>
          <p:nvPr/>
        </p:nvSpPr>
        <p:spPr>
          <a:xfrm>
            <a:off x="334962"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 if / else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80" name="Google Shape;180;p16"/>
          <p:cNvSpPr txBox="1"/>
          <p:nvPr/>
        </p:nvSpPr>
        <p:spPr>
          <a:xfrm>
            <a:off x="334962" y="416584"/>
            <a:ext cx="35289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if / else if / else</a:t>
            </a:r>
            <a:endParaRPr b="0" i="0" sz="1400" u="none" cap="none" strike="noStrike">
              <a:solidFill>
                <a:srgbClr val="000000"/>
              </a:solidFill>
              <a:latin typeface="Arial"/>
              <a:ea typeface="Arial"/>
              <a:cs typeface="Arial"/>
              <a:sym typeface="Arial"/>
            </a:endParaRPr>
          </a:p>
        </p:txBody>
      </p:sp>
      <p:pic>
        <p:nvPicPr>
          <p:cNvPr descr="IF_ELSEIF_ELSE.png" id="181" name="Google Shape;181;p16"/>
          <p:cNvPicPr preferRelativeResize="0"/>
          <p:nvPr/>
        </p:nvPicPr>
        <p:blipFill rotWithShape="1">
          <a:blip r:embed="rId3">
            <a:alphaModFix/>
          </a:blip>
          <a:srcRect b="0" l="0" r="0" t="0"/>
          <a:stretch/>
        </p:blipFill>
        <p:spPr>
          <a:xfrm>
            <a:off x="827087" y="1221581"/>
            <a:ext cx="7632700" cy="34659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idx="1" type="body"/>
          </p:nvPr>
        </p:nvSpPr>
        <p:spPr>
          <a:xfrm>
            <a:off x="337957" y="1446458"/>
            <a:ext cx="3351300" cy="3797400"/>
          </a:xfrm>
          <a:prstGeom prst="rect">
            <a:avLst/>
          </a:prstGeom>
          <a:noFill/>
          <a:ln>
            <a:noFill/>
          </a:ln>
        </p:spPr>
        <p:txBody>
          <a:bodyPr anchorCtr="0" anchor="t" bIns="45700" lIns="45700" spcFirstLastPara="1" rIns="45700" wrap="square" tIns="45700">
            <a:normAutofit/>
          </a:bodyPr>
          <a:lstStyle/>
          <a:p>
            <a:pPr indent="-533400" lvl="0" marL="533400" marR="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Les sentències que defineixen estructures de selecció són instruccions com qualssevol altres dins d’un programa. Per tant, res no impedeix que tornin a aparèixer dins de blocs d’instruccions d’altres estructures de selecció. </a:t>
            </a:r>
            <a:endParaRPr/>
          </a:p>
        </p:txBody>
      </p:sp>
      <p:sp>
        <p:nvSpPr>
          <p:cNvPr id="187" name="Google Shape;187;p17"/>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188" name="Google Shape;188;p17"/>
          <p:cNvSpPr txBox="1"/>
          <p:nvPr/>
        </p:nvSpPr>
        <p:spPr>
          <a:xfrm>
            <a:off x="250825" y="186793"/>
            <a:ext cx="6337200" cy="10773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Combinació d'estructures de selecció</a:t>
            </a:r>
            <a:endParaRPr b="0" i="0" sz="1400" u="none" cap="none" strike="noStrike">
              <a:solidFill>
                <a:srgbClr val="000000"/>
              </a:solidFill>
              <a:latin typeface="Arial"/>
              <a:ea typeface="Arial"/>
              <a:cs typeface="Arial"/>
              <a:sym typeface="Arial"/>
            </a:endParaRPr>
          </a:p>
        </p:txBody>
      </p:sp>
      <p:sp>
        <p:nvSpPr>
          <p:cNvPr id="189" name="Google Shape;189;p17"/>
          <p:cNvSpPr txBox="1"/>
          <p:nvPr/>
        </p:nvSpPr>
        <p:spPr>
          <a:xfrm>
            <a:off x="4716500" y="1537799"/>
            <a:ext cx="3220800" cy="29553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If (...)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	if (...)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	}else if ()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		if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ca"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lang="ca" sz="3600">
                <a:solidFill>
                  <a:srgbClr val="339933"/>
                </a:solidFill>
                <a:latin typeface="Arial"/>
                <a:ea typeface="Arial"/>
                <a:cs typeface="Arial"/>
                <a:sym typeface="Arial"/>
              </a:rPr>
              <a:t>2</a:t>
            </a:r>
            <a:r>
              <a:rPr b="1" i="0" lang="ca" sz="3600" u="none" cap="none" strike="noStrike">
                <a:solidFill>
                  <a:srgbClr val="339933"/>
                </a:solidFill>
                <a:latin typeface="Arial"/>
                <a:ea typeface="Arial"/>
                <a:cs typeface="Arial"/>
                <a:sym typeface="Arial"/>
              </a:rPr>
              <a:t>. switch</a:t>
            </a:r>
            <a:endParaRPr/>
          </a:p>
        </p:txBody>
      </p:sp>
      <p:sp>
        <p:nvSpPr>
          <p:cNvPr id="195" name="Google Shape;195;p18"/>
          <p:cNvSpPr txBox="1"/>
          <p:nvPr>
            <p:ph idx="1" type="body"/>
          </p:nvPr>
        </p:nvSpPr>
        <p:spPr>
          <a:xfrm>
            <a:off x="312737" y="1038224"/>
            <a:ext cx="8507400" cy="36933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L’estructura de </a:t>
            </a:r>
            <a:r>
              <a:rPr b="1" lang="ca"/>
              <a:t>selecció switch</a:t>
            </a:r>
            <a:r>
              <a:rPr b="0" i="0" lang="ca" sz="2000" u="none" cap="none" strike="noStrike">
                <a:solidFill>
                  <a:srgbClr val="000000"/>
                </a:solidFill>
                <a:latin typeface="Arial"/>
                <a:ea typeface="Arial"/>
                <a:cs typeface="Arial"/>
                <a:sym typeface="Arial"/>
              </a:rPr>
              <a:t> estableix el flux de control a partir de </a:t>
            </a:r>
            <a:r>
              <a:rPr b="1" lang="ca"/>
              <a:t>l’avaluació</a:t>
            </a:r>
            <a:r>
              <a:rPr b="0" i="0" lang="ca" sz="2000" u="none" cap="none" strike="noStrike">
                <a:solidFill>
                  <a:srgbClr val="000000"/>
                </a:solidFill>
                <a:latin typeface="Arial"/>
                <a:ea typeface="Arial"/>
                <a:cs typeface="Arial"/>
                <a:sym typeface="Arial"/>
              </a:rPr>
              <a:t> d’una expressió.</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nom de la sentència switch vol dir bàsicament: “</a:t>
            </a:r>
            <a:r>
              <a:rPr b="1" lang="ca"/>
              <a:t>commuta entre aquestes accions d’acord amb un valor seleccionat</a:t>
            </a:r>
            <a:r>
              <a:rPr b="0" i="0" lang="ca" sz="2000" u="none" cap="none" strike="noStrike">
                <a:solidFill>
                  <a:srgbClr val="000000"/>
                </a:solidFill>
                <a:latin typeface="Arial"/>
                <a:ea typeface="Arial"/>
                <a:cs typeface="Arial"/>
                <a:sym typeface="Arial"/>
              </a:rPr>
              <a:t>”.</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Els </a:t>
            </a:r>
            <a:r>
              <a:rPr b="1" lang="ca"/>
              <a:t>conjunts d’instruccions</a:t>
            </a:r>
            <a:r>
              <a:rPr b="0" i="0" lang="ca" sz="2000" u="none" cap="none" strike="noStrike">
                <a:solidFill>
                  <a:srgbClr val="000000"/>
                </a:solidFill>
                <a:latin typeface="Arial"/>
                <a:ea typeface="Arial"/>
                <a:cs typeface="Arial"/>
                <a:sym typeface="Arial"/>
              </a:rPr>
              <a:t> assignats a cada cas independent </a:t>
            </a:r>
            <a:r>
              <a:rPr b="1" lang="ca"/>
              <a:t>no es distingeixen entre si per claus</a:t>
            </a:r>
            <a:r>
              <a:rPr b="0" i="0" lang="ca" sz="2000" u="none" cap="none" strike="noStrike">
                <a:solidFill>
                  <a:srgbClr val="000000"/>
                </a:solidFill>
                <a:latin typeface="Arial"/>
                <a:ea typeface="Arial"/>
                <a:cs typeface="Arial"/>
                <a:sym typeface="Arial"/>
              </a:rPr>
              <a:t>.</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Aquests es van enumerant com un conjunt d’apartats etiquetats per la paraula clau </a:t>
            </a:r>
            <a:r>
              <a:rPr b="1" lang="ca"/>
              <a:t>case</a:t>
            </a:r>
            <a:r>
              <a:rPr b="0" i="0" lang="ca" sz="2000" u="none" cap="none" strike="noStrike">
                <a:solidFill>
                  <a:srgbClr val="000000"/>
                </a:solidFill>
                <a:latin typeface="Arial"/>
                <a:ea typeface="Arial"/>
                <a:cs typeface="Arial"/>
                <a:sym typeface="Arial"/>
              </a:rPr>
              <a:t>, seguida del </a:t>
            </a:r>
            <a:r>
              <a:rPr b="1" lang="ca"/>
              <a:t>valor que es vol tractar i de dos punts</a:t>
            </a:r>
            <a:r>
              <a:rPr b="0" i="0" lang="ca" sz="2000" u="none" cap="none" strike="noStrike">
                <a:solidFill>
                  <a:srgbClr val="000000"/>
                </a:solidFill>
                <a:latin typeface="Arial"/>
                <a:ea typeface="Arial"/>
                <a:cs typeface="Arial"/>
                <a:sym typeface="Arial"/>
              </a:rPr>
              <a:t>. De manera </a:t>
            </a:r>
            <a:r>
              <a:rPr b="1" lang="ca"/>
              <a:t>opcional</a:t>
            </a:r>
            <a:r>
              <a:rPr b="0" i="0" lang="ca" sz="2000" u="none" cap="none" strike="noStrike">
                <a:solidFill>
                  <a:srgbClr val="000000"/>
                </a:solidFill>
                <a:latin typeface="Arial"/>
                <a:ea typeface="Arial"/>
                <a:cs typeface="Arial"/>
                <a:sym typeface="Arial"/>
              </a:rPr>
              <a:t>, es pot posar</a:t>
            </a:r>
            <a:r>
              <a:rPr b="1" lang="ca"/>
              <a:t> break </a:t>
            </a:r>
            <a:r>
              <a:rPr b="0" i="0" lang="ca" sz="2000" u="none" cap="none" strike="noStrike">
                <a:solidFill>
                  <a:srgbClr val="000000"/>
                </a:solidFill>
                <a:latin typeface="Arial"/>
                <a:ea typeface="Arial"/>
                <a:cs typeface="Arial"/>
                <a:sym typeface="Arial"/>
              </a:rPr>
              <a:t>per delimitar el</a:t>
            </a:r>
            <a:r>
              <a:rPr b="1" lang="ca"/>
              <a:t> final d’apartat</a:t>
            </a:r>
            <a:r>
              <a:rPr b="0" i="0" lang="ca" sz="2000" u="none" cap="none" strike="noStrike">
                <a:solidFill>
                  <a:srgbClr val="000000"/>
                </a:solidFill>
                <a:latin typeface="Arial"/>
                <a:ea typeface="Arial"/>
                <a:cs typeface="Arial"/>
                <a:sym typeface="Arial"/>
              </a:rPr>
              <a:t>. Si no es posa break també s’executaran les opcions posteriors .</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 </a:t>
            </a:r>
            <a:r>
              <a:rPr b="1" lang="ca"/>
              <a:t>Al final</a:t>
            </a:r>
            <a:r>
              <a:rPr b="0" i="0" lang="ca" sz="2000" u="none" cap="none" strike="noStrike">
                <a:solidFill>
                  <a:srgbClr val="000000"/>
                </a:solidFill>
                <a:latin typeface="Arial"/>
                <a:ea typeface="Arial"/>
                <a:cs typeface="Arial"/>
                <a:sym typeface="Arial"/>
              </a:rPr>
              <a:t> de tots els apartats se’n posa un d’especial, anomenat </a:t>
            </a:r>
            <a:r>
              <a:rPr b="1" lang="ca"/>
              <a:t>default</a:t>
            </a:r>
            <a:r>
              <a:rPr b="0" i="0" lang="ca" sz="2000" u="none" cap="none" strike="noStrike">
                <a:solidFill>
                  <a:srgbClr val="000000"/>
                </a:solidFill>
                <a:latin typeface="Arial"/>
                <a:ea typeface="Arial"/>
                <a:cs typeface="Arial"/>
                <a:sym typeface="Arial"/>
              </a:rPr>
              <a:t>, que </a:t>
            </a:r>
            <a:r>
              <a:rPr b="1" lang="ca"/>
              <a:t>no</a:t>
            </a:r>
            <a:r>
              <a:rPr b="0" i="0" lang="ca" sz="2000" u="none" cap="none" strike="noStrike">
                <a:solidFill>
                  <a:srgbClr val="000000"/>
                </a:solidFill>
                <a:latin typeface="Arial"/>
                <a:ea typeface="Arial"/>
                <a:cs typeface="Arial"/>
                <a:sym typeface="Arial"/>
              </a:rPr>
              <a:t> ha d’acabar mai en </a:t>
            </a:r>
            <a:r>
              <a:rPr b="1" lang="ca"/>
              <a:t>break</a:t>
            </a:r>
            <a:r>
              <a:rPr b="0" i="0" lang="ca" sz="2000" u="none" cap="none" strike="noStrike">
                <a:solidFill>
                  <a:srgbClr val="000000"/>
                </a:solidFill>
                <a:latin typeface="Arial"/>
                <a:ea typeface="Arial"/>
                <a:cs typeface="Arial"/>
                <a:sym typeface="Arial"/>
              </a:rPr>
              <a:t>. </a:t>
            </a:r>
            <a:endParaRPr/>
          </a:p>
        </p:txBody>
      </p:sp>
      <p:sp>
        <p:nvSpPr>
          <p:cNvPr id="196" name="Google Shape;196;p18"/>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02" name="Google Shape;202;p19"/>
          <p:cNvSpPr txBox="1"/>
          <p:nvPr/>
        </p:nvSpPr>
        <p:spPr>
          <a:xfrm>
            <a:off x="250825" y="235656"/>
            <a:ext cx="63372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p:txBody>
      </p:sp>
      <p:sp>
        <p:nvSpPr>
          <p:cNvPr id="203" name="Google Shape;203;p19"/>
          <p:cNvSpPr txBox="1"/>
          <p:nvPr/>
        </p:nvSpPr>
        <p:spPr>
          <a:xfrm>
            <a:off x="467550" y="744699"/>
            <a:ext cx="7212000" cy="41304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switch(expressió) {</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case valor1:</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instruccions si l'expressió avalua a valor1</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break;</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case valor2:</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instruccions si l'expressió avalua a valor2</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break;</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case valorN:</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instruccions si l'expressió avalua a valorN</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break;</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default:</a:t>
            </a:r>
            <a:endParaRPr b="0" i="0" sz="11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instruccions si l'expressió no és valor1...valorN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09" name="Google Shape;209;p20"/>
          <p:cNvSpPr txBox="1"/>
          <p:nvPr/>
        </p:nvSpPr>
        <p:spPr>
          <a:xfrm>
            <a:off x="250825" y="363006"/>
            <a:ext cx="6337200" cy="5850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339933"/>
              </a:buClr>
              <a:buSzPts val="3200"/>
              <a:buFont typeface="Arial"/>
              <a:buNone/>
            </a:pPr>
            <a:r>
              <a:rPr b="1" i="0" lang="ca" sz="3200" u="none" cap="none" strike="noStrike">
                <a:solidFill>
                  <a:srgbClr val="339933"/>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p:txBody>
      </p:sp>
      <p:pic>
        <p:nvPicPr>
          <p:cNvPr descr="switch.png" id="210" name="Google Shape;210;p20"/>
          <p:cNvPicPr preferRelativeResize="0"/>
          <p:nvPr/>
        </p:nvPicPr>
        <p:blipFill rotWithShape="1">
          <a:blip r:embed="rId3">
            <a:alphaModFix/>
          </a:blip>
          <a:srcRect b="0" l="0" r="0" t="0"/>
          <a:stretch/>
        </p:blipFill>
        <p:spPr>
          <a:xfrm>
            <a:off x="611187" y="1113234"/>
            <a:ext cx="7848600" cy="36683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lang="ca" sz="3600">
                <a:solidFill>
                  <a:srgbClr val="339933"/>
                </a:solidFill>
                <a:latin typeface="Arial"/>
                <a:ea typeface="Arial"/>
                <a:cs typeface="Arial"/>
                <a:sym typeface="Arial"/>
              </a:rPr>
              <a:t>3</a:t>
            </a:r>
            <a:r>
              <a:rPr b="1" i="0" lang="ca" sz="3600" u="none" cap="none" strike="noStrike">
                <a:solidFill>
                  <a:srgbClr val="339933"/>
                </a:solidFill>
                <a:latin typeface="Arial"/>
                <a:ea typeface="Arial"/>
                <a:cs typeface="Arial"/>
                <a:sym typeface="Arial"/>
              </a:rPr>
              <a:t>. </a:t>
            </a:r>
            <a:r>
              <a:rPr b="1" lang="ca" sz="3600">
                <a:solidFill>
                  <a:srgbClr val="339933"/>
                </a:solidFill>
                <a:latin typeface="Arial"/>
                <a:ea typeface="Arial"/>
                <a:cs typeface="Arial"/>
                <a:sym typeface="Arial"/>
              </a:rPr>
              <a:t>Estructures de repetició</a:t>
            </a:r>
            <a:endParaRPr/>
          </a:p>
        </p:txBody>
      </p:sp>
      <p:sp>
        <p:nvSpPr>
          <p:cNvPr id="216" name="Google Shape;216;p21"/>
          <p:cNvSpPr txBox="1"/>
          <p:nvPr>
            <p:ph idx="1" type="body"/>
          </p:nvPr>
        </p:nvSpPr>
        <p:spPr>
          <a:xfrm>
            <a:off x="312737" y="1092993"/>
            <a:ext cx="8507400" cy="36933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Les </a:t>
            </a:r>
            <a:r>
              <a:rPr b="1" lang="ca"/>
              <a:t>estructures de repetició</a:t>
            </a:r>
            <a:r>
              <a:rPr b="0" i="0" lang="ca" sz="2000" u="none" cap="none" strike="noStrike">
                <a:solidFill>
                  <a:srgbClr val="000000"/>
                </a:solidFill>
                <a:latin typeface="Arial"/>
                <a:ea typeface="Arial"/>
                <a:cs typeface="Arial"/>
                <a:sym typeface="Arial"/>
              </a:rPr>
              <a:t> o iteratives permeten repetir una mateixa seqüència d’instruccions diverses vegades, mentre es compleixi una certa condició.</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Anomenem </a:t>
            </a:r>
            <a:r>
              <a:rPr b="1" lang="ca"/>
              <a:t>bucle</a:t>
            </a:r>
            <a:r>
              <a:rPr b="0" i="0" lang="ca" sz="2000" u="none" cap="none" strike="noStrike">
                <a:solidFill>
                  <a:srgbClr val="000000"/>
                </a:solidFill>
                <a:latin typeface="Arial"/>
                <a:ea typeface="Arial"/>
                <a:cs typeface="Arial"/>
                <a:sym typeface="Arial"/>
              </a:rPr>
              <a:t> o cicle el conjunt d’instruccions que s’ha de repetir un cert nombre de vegades, i anomenem </a:t>
            </a:r>
            <a:r>
              <a:rPr b="1" lang="ca"/>
              <a:t>iteració</a:t>
            </a:r>
            <a:r>
              <a:rPr b="0" i="0" lang="ca" sz="2000" u="none" cap="none" strike="noStrike">
                <a:solidFill>
                  <a:srgbClr val="000000"/>
                </a:solidFill>
                <a:latin typeface="Arial"/>
                <a:ea typeface="Arial"/>
                <a:cs typeface="Arial"/>
                <a:sym typeface="Arial"/>
              </a:rPr>
              <a:t> cada execució individual del bucle.</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La </a:t>
            </a:r>
            <a:r>
              <a:rPr b="1" lang="ca"/>
              <a:t>utilitat</a:t>
            </a:r>
            <a:r>
              <a:rPr b="0" i="0" lang="ca" sz="2000" u="none" cap="none" strike="noStrike">
                <a:solidFill>
                  <a:srgbClr val="000000"/>
                </a:solidFill>
                <a:latin typeface="Arial"/>
                <a:ea typeface="Arial"/>
                <a:cs typeface="Arial"/>
                <a:sym typeface="Arial"/>
              </a:rPr>
              <a:t> més directa d’una estructura de repetició és que, en cas que vulgueu executar exactament les mateixes instruccions moltes vegades, no les hàgiu d’escriure una pila de cops. </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Un </a:t>
            </a:r>
            <a:r>
              <a:rPr b="1" lang="ca"/>
              <a:t>bucle infinit</a:t>
            </a:r>
            <a:r>
              <a:rPr b="0" i="0" lang="ca" sz="2000" u="none" cap="none" strike="noStrike">
                <a:solidFill>
                  <a:srgbClr val="000000"/>
                </a:solidFill>
                <a:latin typeface="Arial"/>
                <a:ea typeface="Arial"/>
                <a:cs typeface="Arial"/>
                <a:sym typeface="Arial"/>
              </a:rPr>
              <a:t> és una seqüència d’instruccions dins d’un programa que itera indefinidament, normalment perquè s’espera que s’assoleixi una condició que mai no s’arriba a produir. </a:t>
            </a:r>
            <a:endParaRPr/>
          </a:p>
        </p:txBody>
      </p:sp>
      <p:sp>
        <p:nvSpPr>
          <p:cNvPr id="217" name="Google Shape;217;p21"/>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200">
                <a:solidFill>
                  <a:srgbClr val="339933"/>
                </a:solidFill>
                <a:latin typeface="Arial"/>
                <a:ea typeface="Arial"/>
                <a:cs typeface="Arial"/>
                <a:sym typeface="Arial"/>
              </a:rPr>
              <a:t>while</a:t>
            </a:r>
            <a:endParaRPr b="1" sz="3200">
              <a:solidFill>
                <a:srgbClr val="339933"/>
              </a:solidFill>
              <a:latin typeface="Arial"/>
              <a:ea typeface="Arial"/>
              <a:cs typeface="Arial"/>
              <a:sym typeface="Arial"/>
            </a:endParaRPr>
          </a:p>
        </p:txBody>
      </p:sp>
      <p:sp>
        <p:nvSpPr>
          <p:cNvPr id="223" name="Google Shape;223;p22"/>
          <p:cNvSpPr txBox="1"/>
          <p:nvPr>
            <p:ph idx="1" type="body"/>
          </p:nvPr>
        </p:nvSpPr>
        <p:spPr>
          <a:xfrm>
            <a:off x="312737" y="1092993"/>
            <a:ext cx="8831400" cy="2396700"/>
          </a:xfrm>
          <a:prstGeom prst="rect">
            <a:avLst/>
          </a:prstGeom>
          <a:noFill/>
          <a:ln>
            <a:noFill/>
          </a:ln>
        </p:spPr>
        <p:txBody>
          <a:bodyPr anchorCtr="0" anchor="t" bIns="45700" lIns="45700" spcFirstLastPara="1" rIns="45700" wrap="square" tIns="45700">
            <a:normAutofit lnSpcReduction="10000"/>
          </a:bodyPr>
          <a:lstStyle/>
          <a:p>
            <a:pPr indent="-342900" lvl="0" marL="342900" rtl="0" algn="l">
              <a:lnSpc>
                <a:spcPct val="80000"/>
              </a:lnSpc>
              <a:spcBef>
                <a:spcPts val="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La sentència </a:t>
            </a:r>
            <a:r>
              <a:rPr b="1" lang="ca"/>
              <a:t>while</a:t>
            </a:r>
            <a:r>
              <a:rPr b="0" i="0" lang="ca" sz="2000" u="none" cap="none" strike="noStrike">
                <a:solidFill>
                  <a:srgbClr val="000000"/>
                </a:solidFill>
                <a:latin typeface="Arial"/>
                <a:ea typeface="Arial"/>
                <a:cs typeface="Arial"/>
                <a:sym typeface="Arial"/>
              </a:rPr>
              <a:t> permet repetir l’execució del bucle mentre es verifiqui la condició lògica. Aquesta condició es verifica al principi de cada iteració. Si la primera vegada, tot just quan s’executa la sentència per primer cop, ja no es compleix, no s’executa cap iteració.</a:t>
            </a:r>
            <a:endParaRPr/>
          </a:p>
          <a:p>
            <a:pPr indent="-342900" lvl="0" marL="342900" rtl="0" algn="l">
              <a:lnSpc>
                <a:spcPct val="80000"/>
              </a:lnSpc>
              <a:spcBef>
                <a:spcPts val="7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nom de la sentència while bàsicament significa: “</a:t>
            </a:r>
            <a:r>
              <a:rPr b="1" lang="ca"/>
              <a:t>Mentre això es compleixi, fes això altre…</a:t>
            </a:r>
            <a:r>
              <a:rPr b="0" i="0" lang="ca" sz="2000" u="none" cap="none" strike="noStrike">
                <a:solidFill>
                  <a:srgbClr val="000000"/>
                </a:solidFill>
                <a:latin typeface="Arial"/>
                <a:ea typeface="Arial"/>
                <a:cs typeface="Arial"/>
                <a:sym typeface="Arial"/>
              </a:rPr>
              <a:t>”.</a:t>
            </a:r>
            <a:endParaRPr/>
          </a:p>
          <a:p>
            <a:pPr indent="-342900" lvl="0" marL="342900" rtl="0" algn="l">
              <a:lnSpc>
                <a:spcPct val="80000"/>
              </a:lnSpc>
              <a:spcBef>
                <a:spcPts val="4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El seu format és molt semblant a la sentència if, simplement canviant la paraula clau per while</a:t>
            </a:r>
            <a:endParaRPr/>
          </a:p>
        </p:txBody>
      </p:sp>
      <p:sp>
        <p:nvSpPr>
          <p:cNvPr id="224" name="Google Shape;224;p22"/>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25" name="Google Shape;225;p22"/>
          <p:cNvSpPr txBox="1"/>
          <p:nvPr/>
        </p:nvSpPr>
        <p:spPr>
          <a:xfrm>
            <a:off x="1916225" y="3692821"/>
            <a:ext cx="5183100" cy="11799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while (expressió booleana)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    Instruccions per executar dins del bucle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200">
                <a:solidFill>
                  <a:srgbClr val="339933"/>
                </a:solidFill>
                <a:latin typeface="Arial"/>
                <a:ea typeface="Arial"/>
                <a:cs typeface="Arial"/>
                <a:sym typeface="Arial"/>
              </a:rPr>
              <a:t>while</a:t>
            </a:r>
            <a:endParaRPr b="1" sz="3200">
              <a:solidFill>
                <a:srgbClr val="339933"/>
              </a:solidFill>
              <a:latin typeface="Arial"/>
              <a:ea typeface="Arial"/>
              <a:cs typeface="Arial"/>
              <a:sym typeface="Arial"/>
            </a:endParaRPr>
          </a:p>
        </p:txBody>
      </p:sp>
      <p:sp>
        <p:nvSpPr>
          <p:cNvPr id="231" name="Google Shape;231;p23"/>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pic>
        <p:nvPicPr>
          <p:cNvPr descr="ic10mu2_22.png" id="232" name="Google Shape;232;p23"/>
          <p:cNvPicPr preferRelativeResize="0"/>
          <p:nvPr/>
        </p:nvPicPr>
        <p:blipFill rotWithShape="1">
          <a:blip r:embed="rId3">
            <a:alphaModFix/>
          </a:blip>
          <a:srcRect b="0" l="0" r="0" t="0"/>
          <a:stretch/>
        </p:blipFill>
        <p:spPr>
          <a:xfrm>
            <a:off x="1187450" y="1113234"/>
            <a:ext cx="6553199" cy="35325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4"/>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200">
                <a:solidFill>
                  <a:srgbClr val="339933"/>
                </a:solidFill>
                <a:latin typeface="Arial"/>
                <a:ea typeface="Arial"/>
                <a:cs typeface="Arial"/>
                <a:sym typeface="Arial"/>
              </a:rPr>
              <a:t>while</a:t>
            </a:r>
            <a:endParaRPr/>
          </a:p>
        </p:txBody>
      </p:sp>
      <p:sp>
        <p:nvSpPr>
          <p:cNvPr id="238" name="Google Shape;238;p24"/>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39" name="Google Shape;239;p24"/>
          <p:cNvSpPr txBox="1"/>
          <p:nvPr/>
        </p:nvSpPr>
        <p:spPr>
          <a:xfrm>
            <a:off x="1187450" y="1113234"/>
            <a:ext cx="6913500" cy="3401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//Un programa que escriu els números del 1 al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public static void main (</a:t>
            </a:r>
            <a:r>
              <a:rPr b="0" i="0" lang="ca" sz="1400" u="sng" cap="none" strike="noStrike">
                <a:solidFill>
                  <a:schemeClr val="hlink"/>
                </a:solidFill>
                <a:latin typeface="Arial"/>
                <a:ea typeface="Arial"/>
                <a:cs typeface="Arial"/>
                <a:sym typeface="Arial"/>
                <a:hlinkClick r:id="rId3"/>
              </a:rPr>
              <a:t>String</a:t>
            </a:r>
            <a:r>
              <a:rPr b="0" i="0" lang="ca" sz="1400" u="none" cap="none" strike="noStrike">
                <a:solidFill>
                  <a:srgbClr val="000000"/>
                </a:solidFill>
                <a:latin typeface="Arial"/>
                <a:ea typeface="Arial"/>
                <a:cs typeface="Arial"/>
                <a:sym typeface="Arial"/>
              </a:rPr>
              <a:t>[]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//Inicialitzem un comptador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int i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while (i &lt;= 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a:t>
            </a:r>
            <a:r>
              <a:rPr b="0" i="0" lang="ca" sz="1400" u="sng" cap="none" strike="noStrike">
                <a:solidFill>
                  <a:schemeClr val="hlink"/>
                </a:solidFill>
                <a:latin typeface="Arial"/>
                <a:ea typeface="Arial"/>
                <a:cs typeface="Arial"/>
                <a:sym typeface="Arial"/>
                <a:hlinkClick r:id="rId4"/>
              </a:rPr>
              <a:t>System</a:t>
            </a:r>
            <a:r>
              <a:rPr b="0" i="0" lang="ca" sz="1400" u="none" cap="none" strike="noStrike">
                <a:solidFill>
                  <a:srgbClr val="000000"/>
                </a:solidFill>
                <a:latin typeface="Arial"/>
                <a:ea typeface="Arial"/>
                <a:cs typeface="Arial"/>
                <a:sym typeface="Arial"/>
              </a:rPr>
              <a:t>.out.print(i);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//Ho hem fet un cop, sumem 1 al comptador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i = i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457200" lvl="0" marL="2286000" rtl="0" algn="l">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 do while</a:t>
            </a:r>
            <a:endParaRPr/>
          </a:p>
        </p:txBody>
      </p:sp>
      <p:sp>
        <p:nvSpPr>
          <p:cNvPr id="245" name="Google Shape;245;p25"/>
          <p:cNvSpPr txBox="1"/>
          <p:nvPr>
            <p:ph idx="1" type="body"/>
          </p:nvPr>
        </p:nvSpPr>
        <p:spPr>
          <a:xfrm>
            <a:off x="312737" y="1092994"/>
            <a:ext cx="8507400" cy="1749000"/>
          </a:xfrm>
          <a:prstGeom prst="rect">
            <a:avLst/>
          </a:prstGeom>
          <a:noFill/>
          <a:ln>
            <a:noFill/>
          </a:ln>
        </p:spPr>
        <p:txBody>
          <a:bodyPr anchorCtr="0" anchor="t" bIns="45700" lIns="45700" spcFirstLastPara="1" rIns="45700" wrap="square" tIns="45700">
            <a:normAutofit fontScale="85000" lnSpcReduction="20000"/>
          </a:bodyPr>
          <a:lstStyle/>
          <a:p>
            <a:pPr indent="-342900" lvl="0" marL="342900" rtl="0" algn="l">
              <a:lnSpc>
                <a:spcPct val="100000"/>
              </a:lnSpc>
              <a:spcBef>
                <a:spcPts val="0"/>
              </a:spcBef>
              <a:spcAft>
                <a:spcPts val="0"/>
              </a:spcAft>
              <a:buClr>
                <a:srgbClr val="000000"/>
              </a:buClr>
              <a:buSzPct val="100000"/>
              <a:buFont typeface="Arial"/>
              <a:buNone/>
            </a:pPr>
            <a:r>
              <a:rPr b="0" i="0" lang="ca" sz="2000" u="none" cap="none" strike="noStrike">
                <a:solidFill>
                  <a:srgbClr val="000000"/>
                </a:solidFill>
                <a:latin typeface="Arial"/>
                <a:ea typeface="Arial"/>
                <a:cs typeface="Arial"/>
                <a:sym typeface="Arial"/>
              </a:rPr>
              <a:t>La sentència </a:t>
            </a:r>
            <a:r>
              <a:rPr b="1" lang="ca"/>
              <a:t>do/while</a:t>
            </a:r>
            <a:r>
              <a:rPr b="0" i="0" lang="ca" sz="2000" u="none" cap="none" strike="noStrike">
                <a:solidFill>
                  <a:srgbClr val="000000"/>
                </a:solidFill>
                <a:latin typeface="Arial"/>
                <a:ea typeface="Arial"/>
                <a:cs typeface="Arial"/>
                <a:sym typeface="Arial"/>
              </a:rPr>
              <a:t> permet repetir l’execució del bucle mentre es verifiqui la condició lògica</a:t>
            </a:r>
            <a:r>
              <a:rPr b="1" lang="ca"/>
              <a:t>. A diferència de la sentència while, la condició es verifica al final de cada iteració.</a:t>
            </a:r>
            <a:r>
              <a:rPr b="0" i="0" lang="ca" sz="2000" u="none" cap="none" strike="noStrike">
                <a:solidFill>
                  <a:srgbClr val="000000"/>
                </a:solidFill>
                <a:latin typeface="Arial"/>
                <a:ea typeface="Arial"/>
                <a:cs typeface="Arial"/>
                <a:sym typeface="Arial"/>
              </a:rPr>
              <a:t> Per tant, independentment de com avaluï la condició, </a:t>
            </a:r>
            <a:r>
              <a:rPr b="1" lang="ca"/>
              <a:t>com a mínim sempre es durà a terme la primera iteració.</a:t>
            </a:r>
            <a:endParaRPr b="1"/>
          </a:p>
          <a:p>
            <a:pPr indent="-342900" lvl="0" marL="342900" rtl="0" algn="l">
              <a:lnSpc>
                <a:spcPct val="100000"/>
              </a:lnSpc>
              <a:spcBef>
                <a:spcPts val="700"/>
              </a:spcBef>
              <a:spcAft>
                <a:spcPts val="0"/>
              </a:spcAft>
              <a:buClr>
                <a:srgbClr val="000000"/>
              </a:buClr>
              <a:buSzPct val="111111"/>
              <a:buFont typeface="Arial"/>
              <a:buNone/>
            </a:pPr>
            <a:r>
              <a:t/>
            </a:r>
            <a:endParaRPr b="1"/>
          </a:p>
          <a:p>
            <a:pPr indent="-342900" lvl="0" marL="342900" rtl="0" algn="l">
              <a:lnSpc>
                <a:spcPct val="100000"/>
              </a:lnSpc>
              <a:spcBef>
                <a:spcPts val="400"/>
              </a:spcBef>
              <a:spcAft>
                <a:spcPts val="0"/>
              </a:spcAft>
              <a:buClr>
                <a:srgbClr val="000000"/>
              </a:buClr>
              <a:buSzPct val="100000"/>
              <a:buFont typeface="Arial"/>
              <a:buNone/>
            </a:pPr>
            <a:r>
              <a:rPr b="0" i="0" lang="ca" sz="2000" u="none" cap="none" strike="noStrike">
                <a:solidFill>
                  <a:srgbClr val="000000"/>
                </a:solidFill>
                <a:latin typeface="Arial"/>
                <a:ea typeface="Arial"/>
                <a:cs typeface="Arial"/>
                <a:sym typeface="Arial"/>
              </a:rPr>
              <a:t>El nom de la sentència do/while vol dir: “</a:t>
            </a:r>
            <a:r>
              <a:rPr b="1" lang="ca"/>
              <a:t>Fes això, i continua fent-ho mentre es compleixi aquesta condició</a:t>
            </a:r>
            <a:r>
              <a:rPr b="0" i="0" lang="ca" sz="2000" u="none" cap="none" strike="noStrike">
                <a:solidFill>
                  <a:srgbClr val="000000"/>
                </a:solidFill>
                <a:latin typeface="Arial"/>
                <a:ea typeface="Arial"/>
                <a:cs typeface="Arial"/>
                <a:sym typeface="Arial"/>
              </a:rPr>
              <a:t>”.</a:t>
            </a:r>
            <a:endParaRPr/>
          </a:p>
        </p:txBody>
      </p:sp>
      <p:sp>
        <p:nvSpPr>
          <p:cNvPr id="246" name="Google Shape;246;p25"/>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47" name="Google Shape;247;p25"/>
          <p:cNvSpPr txBox="1"/>
          <p:nvPr/>
        </p:nvSpPr>
        <p:spPr>
          <a:xfrm>
            <a:off x="1979612" y="3057525"/>
            <a:ext cx="5183100" cy="11799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do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	Instruccions per executar dins del bucle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 while (expressió booleana);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323850" y="195263"/>
            <a:ext cx="7488300" cy="7026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do while</a:t>
            </a:r>
            <a:endParaRPr b="1" sz="3600">
              <a:solidFill>
                <a:srgbClr val="339933"/>
              </a:solidFill>
              <a:latin typeface="Arial"/>
              <a:ea typeface="Arial"/>
              <a:cs typeface="Arial"/>
              <a:sym typeface="Arial"/>
            </a:endParaRPr>
          </a:p>
        </p:txBody>
      </p:sp>
      <p:sp>
        <p:nvSpPr>
          <p:cNvPr id="253" name="Google Shape;253;p26"/>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pic>
        <p:nvPicPr>
          <p:cNvPr descr="ic10mu2_26.png" id="254" name="Google Shape;254;p26"/>
          <p:cNvPicPr preferRelativeResize="0"/>
          <p:nvPr/>
        </p:nvPicPr>
        <p:blipFill rotWithShape="1">
          <a:blip r:embed="rId3">
            <a:alphaModFix/>
          </a:blip>
          <a:srcRect b="0" l="0" r="0" t="0"/>
          <a:stretch/>
        </p:blipFill>
        <p:spPr>
          <a:xfrm>
            <a:off x="827087" y="1113234"/>
            <a:ext cx="7345362" cy="378737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do</a:t>
            </a:r>
            <a:r>
              <a:rPr lang="ca" sz="3200"/>
              <a:t> </a:t>
            </a:r>
            <a:r>
              <a:rPr b="1" lang="ca" sz="3600">
                <a:solidFill>
                  <a:srgbClr val="339933"/>
                </a:solidFill>
                <a:latin typeface="Arial"/>
                <a:ea typeface="Arial"/>
                <a:cs typeface="Arial"/>
                <a:sym typeface="Arial"/>
              </a:rPr>
              <a:t>while</a:t>
            </a:r>
            <a:endParaRPr/>
          </a:p>
        </p:txBody>
      </p:sp>
      <p:sp>
        <p:nvSpPr>
          <p:cNvPr id="260" name="Google Shape;260;p27"/>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61" name="Google Shape;261;p27"/>
          <p:cNvSpPr txBox="1"/>
          <p:nvPr/>
        </p:nvSpPr>
        <p:spPr>
          <a:xfrm>
            <a:off x="395275" y="897800"/>
            <a:ext cx="8394600" cy="41304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//Comprovar que s’introdueix un nombre entre 0 i 10.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public static void main (</a:t>
            </a:r>
            <a:r>
              <a:rPr b="0" i="0" lang="ca" sz="1100" u="sng" cap="none" strike="noStrike">
                <a:solidFill>
                  <a:schemeClr val="hlink"/>
                </a:solidFill>
                <a:latin typeface="Arial"/>
                <a:ea typeface="Arial"/>
                <a:cs typeface="Arial"/>
                <a:sym typeface="Arial"/>
                <a:hlinkClick r:id="rId3"/>
              </a:rPr>
              <a:t>String</a:t>
            </a:r>
            <a:r>
              <a:rPr b="0" i="0" lang="ca" sz="1100" u="none" cap="none" strike="noStrike">
                <a:solidFill>
                  <a:srgbClr val="000000"/>
                </a:solidFill>
                <a:latin typeface="Arial"/>
                <a:ea typeface="Arial"/>
                <a:cs typeface="Arial"/>
                <a:sym typeface="Arial"/>
              </a:rPr>
              <a:t>[] args)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Scanner lector = new Scanner(</a:t>
            </a:r>
            <a:r>
              <a:rPr b="0" i="0" lang="ca" sz="1100" u="sng" cap="none" strike="noStrike">
                <a:solidFill>
                  <a:schemeClr val="hlink"/>
                </a:solidFill>
                <a:latin typeface="Arial"/>
                <a:ea typeface="Arial"/>
                <a:cs typeface="Arial"/>
                <a:sym typeface="Arial"/>
                <a:hlinkClick r:id="rId4"/>
              </a:rPr>
              <a:t>System</a:t>
            </a:r>
            <a:r>
              <a:rPr b="0" i="0" lang="ca" sz="1100" u="none" cap="none" strike="noStrike">
                <a:solidFill>
                  <a:srgbClr val="000000"/>
                </a:solidFill>
                <a:latin typeface="Arial"/>
                <a:ea typeface="Arial"/>
                <a:cs typeface="Arial"/>
                <a:sym typeface="Arial"/>
              </a:rPr>
              <a:t>.in);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int valorUsuari;</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do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//Com a mínim, segur que es pregunta un cop.</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a:t>
            </a:r>
            <a:r>
              <a:rPr b="0" i="0" lang="ca" sz="1100" u="sng" cap="none" strike="noStrike">
                <a:solidFill>
                  <a:schemeClr val="hlink"/>
                </a:solidFill>
                <a:latin typeface="Arial"/>
                <a:ea typeface="Arial"/>
                <a:cs typeface="Arial"/>
                <a:sym typeface="Arial"/>
                <a:hlinkClick r:id="rId5"/>
              </a:rPr>
              <a:t>System</a:t>
            </a:r>
            <a:r>
              <a:rPr b="0" i="0" lang="ca" sz="1100" u="none" cap="none" strike="noStrike">
                <a:solidFill>
                  <a:srgbClr val="000000"/>
                </a:solidFill>
                <a:latin typeface="Arial"/>
                <a:ea typeface="Arial"/>
                <a:cs typeface="Arial"/>
                <a:sym typeface="Arial"/>
              </a:rPr>
              <a:t>.out.print("Introdueix un valor enter entre 0 i 10: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valorUsuari = lector.nextInt();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lector.nextLine();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//Només té sentit avaluar si 'valor' és vàlid un cop s'ha llegit.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 while ((valorUsuari &lt; 0)||(valorUsuari &gt; 10));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//Tot correcte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a:t>
            </a:r>
            <a:r>
              <a:rPr b="0" i="0" lang="ca" sz="1100" u="sng" cap="none" strike="noStrike">
                <a:solidFill>
                  <a:schemeClr val="hlink"/>
                </a:solidFill>
                <a:latin typeface="Arial"/>
                <a:ea typeface="Arial"/>
                <a:cs typeface="Arial"/>
                <a:sym typeface="Arial"/>
                <a:hlinkClick r:id="rId6"/>
              </a:rPr>
              <a:t>System</a:t>
            </a:r>
            <a:r>
              <a:rPr b="0" i="0" lang="ca" sz="1100" u="none" cap="none" strike="noStrike">
                <a:solidFill>
                  <a:srgbClr val="000000"/>
                </a:solidFill>
                <a:latin typeface="Arial"/>
                <a:ea typeface="Arial"/>
                <a:cs typeface="Arial"/>
                <a:sym typeface="Arial"/>
              </a:rPr>
              <a:t>.out.println("Dada correcta. Has escrit " + valorUsuari);</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9"/>
          <p:cNvSpPr txBox="1"/>
          <p:nvPr>
            <p:ph type="title"/>
          </p:nvPr>
        </p:nvSpPr>
        <p:spPr>
          <a:xfrm>
            <a:off x="457200" y="205978"/>
            <a:ext cx="7137300" cy="857400"/>
          </a:xfrm>
          <a:prstGeom prst="rect">
            <a:avLst/>
          </a:prstGeom>
          <a:noFill/>
          <a:ln>
            <a:noFill/>
          </a:ln>
        </p:spPr>
        <p:txBody>
          <a:bodyPr anchorCtr="0" anchor="ctr" bIns="45700" lIns="45700" spcFirstLastPara="1" rIns="45700" wrap="square" tIns="45700">
            <a:normAutofit fontScale="90000"/>
          </a:bodyPr>
          <a:lstStyle/>
          <a:p>
            <a:pPr indent="0" lvl="0" marL="0" rtl="0" algn="ctr">
              <a:lnSpc>
                <a:spcPct val="100000"/>
              </a:lnSpc>
              <a:spcBef>
                <a:spcPts val="0"/>
              </a:spcBef>
              <a:spcAft>
                <a:spcPts val="0"/>
              </a:spcAft>
              <a:buClr>
                <a:srgbClr val="339933"/>
              </a:buClr>
              <a:buSzPct val="100000"/>
              <a:buFont typeface="Arial"/>
              <a:buNone/>
            </a:pPr>
            <a:r>
              <a:rPr b="1" i="0" lang="ca" sz="3600" u="none" cap="none" strike="noStrike">
                <a:solidFill>
                  <a:srgbClr val="339933"/>
                </a:solidFill>
                <a:latin typeface="Arial"/>
                <a:ea typeface="Arial"/>
                <a:cs typeface="Arial"/>
                <a:sym typeface="Arial"/>
              </a:rPr>
              <a:t>Tipus de dades compostes (arrays)</a:t>
            </a:r>
            <a:endParaRPr/>
          </a:p>
        </p:txBody>
      </p:sp>
      <p:sp>
        <p:nvSpPr>
          <p:cNvPr id="267" name="Google Shape;267;p49"/>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a:bodyPr>
          <a:lstStyle/>
          <a:p>
            <a:pPr indent="0" lvl="0" marL="0" marR="0" rtl="0" algn="ctr">
              <a:lnSpc>
                <a:spcPct val="100000"/>
              </a:lnSpc>
              <a:spcBef>
                <a:spcPts val="0"/>
              </a:spcBef>
              <a:spcAft>
                <a:spcPts val="0"/>
              </a:spcAft>
              <a:buClr>
                <a:srgbClr val="000000"/>
              </a:buClr>
              <a:buSzPts val="1800"/>
              <a:buFont typeface="Arial"/>
              <a:buNone/>
            </a:pPr>
            <a:r>
              <a:rPr lang="ca" sz="1600"/>
              <a:t>Un tipus de dada compost és aquell que permet emmagatzemar més d’un valor dins d’una única variable. En el cas de l’array, aquest permet emmagatzemar, en forma de seqüència, una quantitat predeterminada de valors pertanyents al mateix tipus de dades</a:t>
            </a:r>
            <a:endParaRPr sz="1600"/>
          </a:p>
        </p:txBody>
      </p:sp>
      <p:sp>
        <p:nvSpPr>
          <p:cNvPr id="268" name="Google Shape;268;p49"/>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pic>
        <p:nvPicPr>
          <p:cNvPr descr="image.png" id="269" name="Google Shape;269;p49"/>
          <p:cNvPicPr preferRelativeResize="0"/>
          <p:nvPr/>
        </p:nvPicPr>
        <p:blipFill rotWithShape="1">
          <a:blip r:embed="rId3">
            <a:alphaModFix/>
          </a:blip>
          <a:srcRect b="0" l="0" r="0" t="0"/>
          <a:stretch/>
        </p:blipFill>
        <p:spPr>
          <a:xfrm>
            <a:off x="1559800" y="2236075"/>
            <a:ext cx="5848350" cy="2343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0"/>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lnSpcReduction="10000"/>
          </a:bodyPr>
          <a:lstStyle/>
          <a:p>
            <a:pPr indent="0" lvl="0" marL="0" rtl="0" algn="just">
              <a:lnSpc>
                <a:spcPct val="80000"/>
              </a:lnSpc>
              <a:spcBef>
                <a:spcPts val="0"/>
              </a:spcBef>
              <a:spcAft>
                <a:spcPts val="0"/>
              </a:spcAft>
              <a:buClr>
                <a:srgbClr val="000000"/>
              </a:buClr>
              <a:buSzPts val="2000"/>
              <a:buFont typeface="Arial"/>
              <a:buNone/>
            </a:pPr>
            <a:r>
              <a:rPr b="1" lang="ca" u="sng"/>
              <a:t>Declaració i inicialització d’"arrays"</a:t>
            </a:r>
            <a:endParaRPr/>
          </a:p>
          <a:p>
            <a:pPr indent="0" lvl="0" marL="0" rtl="0" algn="just">
              <a:lnSpc>
                <a:spcPct val="80000"/>
              </a:lnSpc>
              <a:spcBef>
                <a:spcPts val="1200"/>
              </a:spcBef>
              <a:spcAft>
                <a:spcPts val="0"/>
              </a:spcAft>
              <a:buClr>
                <a:srgbClr val="000000"/>
              </a:buClr>
              <a:buSzPts val="2000"/>
              <a:buFont typeface="Arial"/>
              <a:buNone/>
            </a:pPr>
            <a:r>
              <a:rPr b="0" i="0" lang="ca" sz="2000" u="none" cap="none" strike="noStrike">
                <a:solidFill>
                  <a:srgbClr val="000000"/>
                </a:solidFill>
                <a:latin typeface="Arial"/>
                <a:ea typeface="Arial"/>
                <a:cs typeface="Arial"/>
                <a:sym typeface="Arial"/>
              </a:rPr>
              <a:t>Com passa amb dades de qualsevol altre tipus, abans de poder fer ús d’una variable de tipus array, cal declarar-la i atorgar-li un valor inicial correctament. La sintaxi per declarar un array és força semblant a la d’altres tipus, però la inicialització té unes particularitats especials a causa de les seves característiques pròpies:</a:t>
            </a:r>
            <a:endParaRPr/>
          </a:p>
          <a:p>
            <a:pPr indent="-200526" lvl="0" marL="200526" rtl="0" algn="just">
              <a:lnSpc>
                <a:spcPct val="80000"/>
              </a:lnSpc>
              <a:spcBef>
                <a:spcPts val="12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En el moment de la inicialització d’un array, la seva mida ha de ser coneguda.</a:t>
            </a:r>
            <a:endParaRPr/>
          </a:p>
          <a:p>
            <a:pPr indent="-200526" lvl="0" marL="200526" rtl="0" algn="just">
              <a:lnSpc>
                <a:spcPct val="80000"/>
              </a:lnSpc>
              <a:spcBef>
                <a:spcPts val="12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Un cop ha estat inicialitzat amb un nombre de posicions concretes, aquesta ja no pot canviar.</a:t>
            </a:r>
            <a:endParaRPr/>
          </a:p>
          <a:p>
            <a:pPr indent="-200526" lvl="0" marL="200526" rtl="0" algn="just">
              <a:lnSpc>
                <a:spcPct val="80000"/>
              </a:lnSpc>
              <a:spcBef>
                <a:spcPts val="1200"/>
              </a:spcBef>
              <a:spcAft>
                <a:spcPts val="0"/>
              </a:spcAft>
              <a:buClr>
                <a:srgbClr val="000000"/>
              </a:buClr>
              <a:buSzPts val="2000"/>
              <a:buFont typeface="Arial"/>
              <a:buChar char="•"/>
            </a:pPr>
            <a:r>
              <a:rPr b="0" i="0" lang="ca" sz="2000" u="none" cap="none" strike="noStrike">
                <a:solidFill>
                  <a:srgbClr val="000000"/>
                </a:solidFill>
                <a:latin typeface="Arial"/>
                <a:ea typeface="Arial"/>
                <a:cs typeface="Arial"/>
                <a:sym typeface="Arial"/>
              </a:rPr>
              <a:t>Abans de poder usar un array és obligatori inicialitzar-lo, Java donarà un error de compilació en cas contrari.</a:t>
            </a:r>
            <a:endParaRPr/>
          </a:p>
        </p:txBody>
      </p:sp>
      <p:sp>
        <p:nvSpPr>
          <p:cNvPr id="275" name="Google Shape;275;p50"/>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76" name="Google Shape;276;p50"/>
          <p:cNvSpPr txBox="1"/>
          <p:nvPr>
            <p:ph type="title"/>
          </p:nvPr>
        </p:nvSpPr>
        <p:spPr>
          <a:xfrm>
            <a:off x="457200" y="205978"/>
            <a:ext cx="7137300" cy="857400"/>
          </a:xfrm>
          <a:prstGeom prst="rect">
            <a:avLst/>
          </a:prstGeom>
          <a:noFill/>
          <a:ln>
            <a:noFill/>
          </a:ln>
        </p:spPr>
        <p:txBody>
          <a:bodyPr anchorCtr="0" anchor="ctr" bIns="45700" lIns="45700" spcFirstLastPara="1" rIns="45700" wrap="square" tIns="45700">
            <a:normAutofit fontScale="90000"/>
          </a:bodyPr>
          <a:lstStyle/>
          <a:p>
            <a:pPr indent="0" lvl="0" marL="0" rtl="0" algn="ctr">
              <a:lnSpc>
                <a:spcPct val="100000"/>
              </a:lnSpc>
              <a:spcBef>
                <a:spcPts val="0"/>
              </a:spcBef>
              <a:spcAft>
                <a:spcPts val="0"/>
              </a:spcAft>
              <a:buClr>
                <a:srgbClr val="339933"/>
              </a:buClr>
              <a:buSzPct val="100000"/>
              <a:buFont typeface="Arial"/>
              <a:buNone/>
            </a:pPr>
            <a:r>
              <a:rPr b="1" i="0" lang="ca" sz="3600" u="none" cap="none" strike="noStrike">
                <a:solidFill>
                  <a:srgbClr val="339933"/>
                </a:solidFill>
                <a:latin typeface="Arial"/>
                <a:ea typeface="Arial"/>
                <a:cs typeface="Arial"/>
                <a:sym typeface="Arial"/>
              </a:rPr>
              <a:t>Tipus de dades compostes (arrays)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1"/>
          <p:cNvSpPr txBox="1"/>
          <p:nvPr>
            <p:ph idx="1" type="body"/>
          </p:nvPr>
        </p:nvSpPr>
        <p:spPr>
          <a:xfrm>
            <a:off x="311700" y="1186300"/>
            <a:ext cx="8520600" cy="3354000"/>
          </a:xfrm>
          <a:prstGeom prst="rect">
            <a:avLst/>
          </a:prstGeom>
          <a:noFill/>
          <a:ln>
            <a:noFill/>
          </a:ln>
        </p:spPr>
        <p:txBody>
          <a:bodyPr anchorCtr="0" anchor="t" bIns="45700" lIns="45700" spcFirstLastPara="1" rIns="45700" wrap="square" tIns="45700">
            <a:normAutofit/>
          </a:bodyPr>
          <a:lstStyle/>
          <a:p>
            <a:pPr indent="0" lvl="0" marL="0" rtl="0" algn="l">
              <a:lnSpc>
                <a:spcPct val="100000"/>
              </a:lnSpc>
              <a:spcBef>
                <a:spcPts val="0"/>
              </a:spcBef>
              <a:spcAft>
                <a:spcPts val="0"/>
              </a:spcAft>
              <a:buClr>
                <a:srgbClr val="000000"/>
              </a:buClr>
              <a:buSzPts val="1800"/>
              <a:buFont typeface="Arial"/>
              <a:buNone/>
            </a:pPr>
            <a:r>
              <a:rPr lang="ca" sz="1800"/>
              <a:t>Per exemple, per declarar un array de 5 posicions en què es poden emmagatzemar valors de tipus enter, cadascuna amb els valors inicials 10, 20, 30, 40 i 50, respectivament, es faria de la manera següent. La mida d’aquest array seria 5.</a:t>
            </a:r>
            <a:endParaRPr/>
          </a:p>
          <a:p>
            <a:pPr indent="0" lvl="0" marL="0" rtl="0" algn="l">
              <a:lnSpc>
                <a:spcPct val="100000"/>
              </a:lnSpc>
              <a:spcBef>
                <a:spcPts val="1000"/>
              </a:spcBef>
              <a:spcAft>
                <a:spcPts val="0"/>
              </a:spcAft>
              <a:buClr>
                <a:srgbClr val="000000"/>
              </a:buClr>
              <a:buSzPts val="1800"/>
              <a:buFont typeface="Arial"/>
              <a:buNone/>
            </a:pPr>
            <a:r>
              <a:rPr i="1" lang="ca" sz="1800"/>
              <a:t>int[] arrayEnters = {10, 20, 30, 40, 50};</a:t>
            </a:r>
            <a:endParaRPr/>
          </a:p>
        </p:txBody>
      </p:sp>
      <p:sp>
        <p:nvSpPr>
          <p:cNvPr id="282" name="Google Shape;282;p51"/>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283" name="Google Shape;283;p51"/>
          <p:cNvSpPr txBox="1"/>
          <p:nvPr/>
        </p:nvSpPr>
        <p:spPr>
          <a:xfrm>
            <a:off x="457200" y="205978"/>
            <a:ext cx="7137300" cy="857400"/>
          </a:xfrm>
          <a:prstGeom prst="rect">
            <a:avLst/>
          </a:prstGeom>
          <a:noFill/>
          <a:ln>
            <a:noFill/>
          </a:ln>
        </p:spPr>
        <p:txBody>
          <a:bodyPr anchorCtr="0" anchor="ctr" bIns="45700" lIns="45700" spcFirstLastPara="1" rIns="45700" wrap="square" tIns="45700">
            <a:normAutofit fontScale="85000"/>
          </a:bodyPr>
          <a:lstStyle/>
          <a:p>
            <a:pPr indent="0" lvl="0" marL="0" marR="0" rtl="0" algn="ctr">
              <a:lnSpc>
                <a:spcPct val="100000"/>
              </a:lnSpc>
              <a:spcBef>
                <a:spcPts val="0"/>
              </a:spcBef>
              <a:spcAft>
                <a:spcPts val="0"/>
              </a:spcAft>
              <a:buClr>
                <a:srgbClr val="339933"/>
              </a:buClr>
              <a:buSzPct val="100000"/>
              <a:buFont typeface="Arial"/>
              <a:buNone/>
            </a:pPr>
            <a:r>
              <a:rPr b="1" i="0" lang="ca" sz="3600" u="none" cap="none" strike="noStrike">
                <a:solidFill>
                  <a:srgbClr val="339933"/>
                </a:solidFill>
                <a:latin typeface="Arial"/>
                <a:ea typeface="Arial"/>
                <a:cs typeface="Arial"/>
                <a:sym typeface="Arial"/>
              </a:rPr>
              <a:t>Tipus de dades compostes (arrays)</a:t>
            </a:r>
            <a:endParaRPr b="0" i="0" sz="1400" u="none" cap="none" strike="noStrike">
              <a:solidFill>
                <a:srgbClr val="000000"/>
              </a:solidFill>
              <a:latin typeface="Arial"/>
              <a:ea typeface="Arial"/>
              <a:cs typeface="Arial"/>
              <a:sym typeface="Arial"/>
            </a:endParaRPr>
          </a:p>
        </p:txBody>
      </p:sp>
      <p:pic>
        <p:nvPicPr>
          <p:cNvPr descr="image.png" id="284" name="Google Shape;284;p51"/>
          <p:cNvPicPr preferRelativeResize="0"/>
          <p:nvPr/>
        </p:nvPicPr>
        <p:blipFill rotWithShape="1">
          <a:blip r:embed="rId3">
            <a:alphaModFix/>
          </a:blip>
          <a:srcRect b="0" l="0" r="0" t="0"/>
          <a:stretch/>
        </p:blipFill>
        <p:spPr>
          <a:xfrm>
            <a:off x="4517525" y="2623117"/>
            <a:ext cx="4143375" cy="218503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2"/>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a:bodyPr>
          <a:lstStyle/>
          <a:p>
            <a:pPr indent="0" lvl="0" marL="0" rtl="0" algn="l">
              <a:lnSpc>
                <a:spcPct val="100000"/>
              </a:lnSpc>
              <a:spcBef>
                <a:spcPts val="0"/>
              </a:spcBef>
              <a:spcAft>
                <a:spcPts val="0"/>
              </a:spcAft>
              <a:buClr>
                <a:srgbClr val="000000"/>
              </a:buClr>
              <a:buSzPts val="1800"/>
              <a:buFont typeface="Arial"/>
              <a:buNone/>
            </a:pPr>
            <a:r>
              <a:rPr b="1" lang="ca" sz="1800" u="sng"/>
              <a:t>Inicialització a un valor per defecte</a:t>
            </a:r>
            <a:endParaRPr/>
          </a:p>
          <a:p>
            <a:pPr indent="0" lvl="0" marL="0" rtl="0" algn="l">
              <a:lnSpc>
                <a:spcPct val="100000"/>
              </a:lnSpc>
              <a:spcBef>
                <a:spcPts val="1000"/>
              </a:spcBef>
              <a:spcAft>
                <a:spcPts val="0"/>
              </a:spcAft>
              <a:buClr>
                <a:srgbClr val="000000"/>
              </a:buClr>
              <a:buSzPts val="1800"/>
              <a:buFont typeface="Arial"/>
              <a:buNone/>
            </a:pPr>
            <a:r>
              <a:rPr lang="ca" sz="1800"/>
              <a:t>Moltes vegades les dades que es volen emmagatzemar depenen de la lectura d’una entrada (per exemple, per teclat), o bé són resultat de càlculs. En aquest cas, no hi ha un valor inicial concret que calgui assignar a les posicions de l’array, ja que els valors s’emmagatzemaran a posteriori.</a:t>
            </a:r>
            <a:endParaRPr/>
          </a:p>
        </p:txBody>
      </p:sp>
      <p:sp>
        <p:nvSpPr>
          <p:cNvPr id="290" name="Google Shape;290;p52"/>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pic>
        <p:nvPicPr>
          <p:cNvPr descr="image.png" id="291" name="Google Shape;291;p52"/>
          <p:cNvPicPr preferRelativeResize="0"/>
          <p:nvPr/>
        </p:nvPicPr>
        <p:blipFill rotWithShape="1">
          <a:blip r:embed="rId3">
            <a:alphaModFix/>
          </a:blip>
          <a:srcRect b="0" l="0" r="0" t="0"/>
          <a:stretch/>
        </p:blipFill>
        <p:spPr>
          <a:xfrm>
            <a:off x="2379050" y="3139225"/>
            <a:ext cx="4638675" cy="1524000"/>
          </a:xfrm>
          <a:prstGeom prst="rect">
            <a:avLst/>
          </a:prstGeom>
          <a:noFill/>
          <a:ln>
            <a:noFill/>
          </a:ln>
        </p:spPr>
      </p:pic>
      <p:sp>
        <p:nvSpPr>
          <p:cNvPr id="292" name="Google Shape;292;p52"/>
          <p:cNvSpPr txBox="1"/>
          <p:nvPr/>
        </p:nvSpPr>
        <p:spPr>
          <a:xfrm>
            <a:off x="457200" y="205978"/>
            <a:ext cx="7137300" cy="857400"/>
          </a:xfrm>
          <a:prstGeom prst="rect">
            <a:avLst/>
          </a:prstGeom>
          <a:noFill/>
          <a:ln>
            <a:noFill/>
          </a:ln>
        </p:spPr>
        <p:txBody>
          <a:bodyPr anchorCtr="0" anchor="ctr" bIns="45700" lIns="45700" spcFirstLastPara="1" rIns="45700" wrap="square" tIns="45700">
            <a:normAutofit fontScale="85000"/>
          </a:bodyPr>
          <a:lstStyle/>
          <a:p>
            <a:pPr indent="0" lvl="0" marL="0" marR="0" rtl="0" algn="ctr">
              <a:lnSpc>
                <a:spcPct val="100000"/>
              </a:lnSpc>
              <a:spcBef>
                <a:spcPts val="0"/>
              </a:spcBef>
              <a:spcAft>
                <a:spcPts val="0"/>
              </a:spcAft>
              <a:buClr>
                <a:srgbClr val="339933"/>
              </a:buClr>
              <a:buSzPct val="100000"/>
              <a:buFont typeface="Arial"/>
              <a:buNone/>
            </a:pPr>
            <a:r>
              <a:rPr b="1" i="0" lang="ca" sz="3600" u="none" cap="none" strike="noStrike">
                <a:solidFill>
                  <a:srgbClr val="339933"/>
                </a:solidFill>
                <a:latin typeface="Arial"/>
                <a:ea typeface="Arial"/>
                <a:cs typeface="Arial"/>
                <a:sym typeface="Arial"/>
              </a:rPr>
              <a:t>Tipus de dades compostes (arrays)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for</a:t>
            </a:r>
            <a:endParaRPr/>
          </a:p>
        </p:txBody>
      </p:sp>
      <p:sp>
        <p:nvSpPr>
          <p:cNvPr id="298" name="Google Shape;298;p28"/>
          <p:cNvSpPr txBox="1"/>
          <p:nvPr>
            <p:ph idx="1" type="body"/>
          </p:nvPr>
        </p:nvSpPr>
        <p:spPr>
          <a:xfrm>
            <a:off x="312737" y="1092994"/>
            <a:ext cx="8507400" cy="2613300"/>
          </a:xfrm>
          <a:prstGeom prst="rect">
            <a:avLst/>
          </a:prstGeom>
          <a:noFill/>
          <a:ln>
            <a:noFill/>
          </a:ln>
        </p:spPr>
        <p:txBody>
          <a:bodyPr anchorCtr="0" anchor="t" bIns="45700" lIns="45700" spcFirstLastPara="1" rIns="45700" wrap="square" tIns="45700">
            <a:noAutofit/>
          </a:bodyPr>
          <a:lstStyle/>
          <a:p>
            <a:pPr indent="-342900" lvl="0" marL="342900" rtl="0" algn="l">
              <a:lnSpc>
                <a:spcPct val="100000"/>
              </a:lnSpc>
              <a:spcBef>
                <a:spcPts val="0"/>
              </a:spcBef>
              <a:spcAft>
                <a:spcPts val="0"/>
              </a:spcAft>
              <a:buClr>
                <a:srgbClr val="000000"/>
              </a:buClr>
              <a:buSzPts val="1550"/>
              <a:buFont typeface="Arial"/>
              <a:buNone/>
            </a:pPr>
            <a:r>
              <a:rPr b="0" i="0" lang="ca" sz="1850" u="none" cap="none" strike="noStrike">
                <a:solidFill>
                  <a:srgbClr val="000000"/>
                </a:solidFill>
                <a:latin typeface="Arial"/>
                <a:ea typeface="Arial"/>
                <a:cs typeface="Arial"/>
                <a:sym typeface="Arial"/>
              </a:rPr>
              <a:t>La sentència </a:t>
            </a:r>
            <a:r>
              <a:rPr b="1" lang="ca" sz="1695"/>
              <a:t>for</a:t>
            </a:r>
            <a:r>
              <a:rPr b="0" i="0" lang="ca" sz="1850" u="none" cap="none" strike="noStrike">
                <a:solidFill>
                  <a:srgbClr val="000000"/>
                </a:solidFill>
                <a:latin typeface="Arial"/>
                <a:ea typeface="Arial"/>
                <a:cs typeface="Arial"/>
                <a:sym typeface="Arial"/>
              </a:rPr>
              <a:t> permet </a:t>
            </a:r>
            <a:r>
              <a:rPr b="1" lang="ca" sz="1695"/>
              <a:t>repetir un nombre determinat de vegades un conjunt d’instruccions.</a:t>
            </a:r>
            <a:endParaRPr b="1" sz="1695"/>
          </a:p>
          <a:p>
            <a:pPr indent="-342900" lvl="0" marL="342900" rtl="0" algn="l">
              <a:lnSpc>
                <a:spcPct val="100000"/>
              </a:lnSpc>
              <a:spcBef>
                <a:spcPts val="700"/>
              </a:spcBef>
              <a:spcAft>
                <a:spcPts val="0"/>
              </a:spcAft>
              <a:buClr>
                <a:srgbClr val="000000"/>
              </a:buClr>
              <a:buSzPts val="1550"/>
              <a:buFont typeface="Arial"/>
              <a:buNone/>
            </a:pPr>
            <a:r>
              <a:t/>
            </a:r>
            <a:endParaRPr b="1" sz="1695"/>
          </a:p>
          <a:p>
            <a:pPr indent="-342900" lvl="0" marL="342900" rtl="0" algn="l">
              <a:lnSpc>
                <a:spcPct val="100000"/>
              </a:lnSpc>
              <a:spcBef>
                <a:spcPts val="400"/>
              </a:spcBef>
              <a:spcAft>
                <a:spcPts val="0"/>
              </a:spcAft>
              <a:buClr>
                <a:srgbClr val="000000"/>
              </a:buClr>
              <a:buSzPts val="1550"/>
              <a:buFont typeface="Arial"/>
              <a:buNone/>
            </a:pPr>
            <a:r>
              <a:rPr b="0" i="0" lang="ca" sz="1850" u="none" cap="none" strike="noStrike">
                <a:solidFill>
                  <a:srgbClr val="000000"/>
                </a:solidFill>
                <a:latin typeface="Arial"/>
                <a:ea typeface="Arial"/>
                <a:cs typeface="Arial"/>
                <a:sym typeface="Arial"/>
              </a:rPr>
              <a:t>És útil en algunes situacions on ja es coneix </a:t>
            </a:r>
            <a:r>
              <a:rPr b="1" lang="ca" sz="1695"/>
              <a:t>la quantitat exacta de vegades que caldrà repetir el bucle</a:t>
            </a:r>
            <a:r>
              <a:rPr b="0" i="0" lang="ca" sz="1850" u="none" cap="none" strike="noStrike">
                <a:solidFill>
                  <a:srgbClr val="000000"/>
                </a:solidFill>
                <a:latin typeface="Arial"/>
                <a:ea typeface="Arial"/>
                <a:cs typeface="Arial"/>
                <a:sym typeface="Arial"/>
              </a:rPr>
              <a:t>.</a:t>
            </a:r>
            <a:endParaRPr sz="1695"/>
          </a:p>
          <a:p>
            <a:pPr indent="-342900" lvl="0" marL="342900" rtl="0" algn="l">
              <a:lnSpc>
                <a:spcPct val="100000"/>
              </a:lnSpc>
              <a:spcBef>
                <a:spcPts val="700"/>
              </a:spcBef>
              <a:spcAft>
                <a:spcPts val="0"/>
              </a:spcAft>
              <a:buClr>
                <a:srgbClr val="000000"/>
              </a:buClr>
              <a:buSzPts val="1550"/>
              <a:buFont typeface="Arial"/>
              <a:buNone/>
            </a:pPr>
            <a:r>
              <a:t/>
            </a:r>
            <a:endParaRPr b="0" i="0" sz="1850" u="none" cap="none" strike="noStrike">
              <a:solidFill>
                <a:srgbClr val="000000"/>
              </a:solidFill>
              <a:latin typeface="Arial"/>
              <a:ea typeface="Arial"/>
              <a:cs typeface="Arial"/>
              <a:sym typeface="Arial"/>
            </a:endParaRPr>
          </a:p>
          <a:p>
            <a:pPr indent="-342900" lvl="0" marL="342900" rtl="0" algn="l">
              <a:lnSpc>
                <a:spcPct val="100000"/>
              </a:lnSpc>
              <a:spcBef>
                <a:spcPts val="400"/>
              </a:spcBef>
              <a:spcAft>
                <a:spcPts val="0"/>
              </a:spcAft>
              <a:buClr>
                <a:srgbClr val="000000"/>
              </a:buClr>
              <a:buSzPts val="1550"/>
              <a:buFont typeface="Arial"/>
              <a:buNone/>
            </a:pPr>
            <a:r>
              <a:rPr b="0" i="0" lang="ca" sz="1850" u="none" cap="none" strike="noStrike">
                <a:solidFill>
                  <a:srgbClr val="000000"/>
                </a:solidFill>
                <a:latin typeface="Arial"/>
                <a:ea typeface="Arial"/>
                <a:cs typeface="Arial"/>
                <a:sym typeface="Arial"/>
              </a:rPr>
              <a:t>Incrementa o disminueix el valor del comptador de manera automàtica, evitant bucles infinits.</a:t>
            </a:r>
            <a:endParaRPr sz="1695"/>
          </a:p>
          <a:p>
            <a:pPr indent="-342900" lvl="0" marL="342900" rtl="0" algn="l">
              <a:lnSpc>
                <a:spcPct val="100000"/>
              </a:lnSpc>
              <a:spcBef>
                <a:spcPts val="700"/>
              </a:spcBef>
              <a:spcAft>
                <a:spcPts val="0"/>
              </a:spcAft>
              <a:buClr>
                <a:srgbClr val="000000"/>
              </a:buClr>
              <a:buSzPts val="1550"/>
              <a:buFont typeface="Arial"/>
              <a:buNone/>
            </a:pPr>
            <a:r>
              <a:t/>
            </a:r>
            <a:endParaRPr b="0" i="0" sz="1850" u="none" cap="none" strike="noStrike">
              <a:solidFill>
                <a:srgbClr val="000000"/>
              </a:solidFill>
              <a:latin typeface="Arial"/>
              <a:ea typeface="Arial"/>
              <a:cs typeface="Arial"/>
              <a:sym typeface="Arial"/>
            </a:endParaRPr>
          </a:p>
          <a:p>
            <a:pPr indent="-342900" lvl="0" marL="342900" rtl="0" algn="l">
              <a:lnSpc>
                <a:spcPct val="100000"/>
              </a:lnSpc>
              <a:spcBef>
                <a:spcPts val="400"/>
              </a:spcBef>
              <a:spcAft>
                <a:spcPts val="0"/>
              </a:spcAft>
              <a:buClr>
                <a:srgbClr val="000000"/>
              </a:buClr>
              <a:buSzPts val="1550"/>
              <a:buFont typeface="Arial"/>
              <a:buNone/>
            </a:pPr>
            <a:r>
              <a:rPr b="0" i="0" lang="ca" sz="1850" u="none" cap="none" strike="noStrike">
                <a:solidFill>
                  <a:srgbClr val="000000"/>
                </a:solidFill>
                <a:latin typeface="Arial"/>
                <a:ea typeface="Arial"/>
                <a:cs typeface="Arial"/>
                <a:sym typeface="Arial"/>
              </a:rPr>
              <a:t>El nom de la sentència for vol dir: “</a:t>
            </a:r>
            <a:r>
              <a:rPr b="1" lang="ca" sz="1695"/>
              <a:t>Per veure quantes vegades cal fer això, compta d’aquest valor a aquest altre</a:t>
            </a:r>
            <a:r>
              <a:rPr b="0" i="0" lang="ca" sz="1850" u="none" cap="none" strike="noStrike">
                <a:solidFill>
                  <a:srgbClr val="000000"/>
                </a:solidFill>
                <a:latin typeface="Arial"/>
                <a:ea typeface="Arial"/>
                <a:cs typeface="Arial"/>
                <a:sym typeface="Arial"/>
              </a:rPr>
              <a:t>”.</a:t>
            </a:r>
            <a:endParaRPr sz="1695"/>
          </a:p>
        </p:txBody>
      </p:sp>
      <p:sp>
        <p:nvSpPr>
          <p:cNvPr id="299" name="Google Shape;299;p28"/>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for</a:t>
            </a:r>
            <a:endParaRPr b="1" sz="3600">
              <a:solidFill>
                <a:srgbClr val="339933"/>
              </a:solidFill>
              <a:latin typeface="Arial"/>
              <a:ea typeface="Arial"/>
              <a:cs typeface="Arial"/>
              <a:sym typeface="Arial"/>
            </a:endParaRPr>
          </a:p>
        </p:txBody>
      </p:sp>
      <p:sp>
        <p:nvSpPr>
          <p:cNvPr id="305" name="Google Shape;305;p29"/>
          <p:cNvSpPr txBox="1"/>
          <p:nvPr>
            <p:ph idx="1" type="body"/>
          </p:nvPr>
        </p:nvSpPr>
        <p:spPr>
          <a:xfrm>
            <a:off x="319487" y="2461825"/>
            <a:ext cx="8424900" cy="2201400"/>
          </a:xfrm>
          <a:prstGeom prst="rect">
            <a:avLst/>
          </a:prstGeom>
          <a:noFill/>
          <a:ln>
            <a:noFill/>
          </a:ln>
        </p:spPr>
        <p:txBody>
          <a:bodyPr anchorCtr="0" anchor="t" bIns="45700" lIns="45700" spcFirstLastPara="1" rIns="45700" wrap="square" tIns="45700">
            <a:normAutofit lnSpcReduction="20000"/>
          </a:bodyPr>
          <a:lstStyle/>
          <a:p>
            <a:pPr indent="-342900" lvl="0" marL="342900" rtl="0" algn="l">
              <a:lnSpc>
                <a:spcPct val="100000"/>
              </a:lnSpc>
              <a:spcBef>
                <a:spcPts val="0"/>
              </a:spcBef>
              <a:spcAft>
                <a:spcPts val="0"/>
              </a:spcAft>
              <a:buClr>
                <a:srgbClr val="000000"/>
              </a:buClr>
              <a:buSzPts val="2000"/>
              <a:buFont typeface="Arial"/>
              <a:buChar char="•"/>
            </a:pPr>
            <a:r>
              <a:rPr b="1" lang="ca" u="sng"/>
              <a:t>Inicialització comptador</a:t>
            </a:r>
            <a:r>
              <a:rPr b="0" lang="ca" u="none"/>
              <a:t>: es tracta de la inicialització d’una variable de tipus numèric que servirà com a comptador. </a:t>
            </a:r>
            <a:endParaRPr/>
          </a:p>
          <a:p>
            <a:pPr indent="-342900" lvl="0" marL="342900" rtl="0" algn="l">
              <a:lnSpc>
                <a:spcPct val="100000"/>
              </a:lnSpc>
              <a:spcBef>
                <a:spcPts val="400"/>
              </a:spcBef>
              <a:spcAft>
                <a:spcPts val="0"/>
              </a:spcAft>
              <a:buClr>
                <a:srgbClr val="000000"/>
              </a:buClr>
              <a:buSzPts val="2000"/>
              <a:buFont typeface="Arial"/>
              <a:buChar char="•"/>
            </a:pPr>
            <a:r>
              <a:rPr b="1" lang="ca" u="sng"/>
              <a:t>Expressió booleana</a:t>
            </a:r>
            <a:r>
              <a:rPr b="0" lang="ca" u="none"/>
              <a:t>: es tracta de la condició lògica que indica si cal fer una nova iteració o no, igual que en la resta d’estructures de repetició.</a:t>
            </a:r>
            <a:endParaRPr/>
          </a:p>
          <a:p>
            <a:pPr indent="-342900" lvl="0" marL="342900" rtl="0" algn="l">
              <a:lnSpc>
                <a:spcPct val="100000"/>
              </a:lnSpc>
              <a:spcBef>
                <a:spcPts val="400"/>
              </a:spcBef>
              <a:spcAft>
                <a:spcPts val="0"/>
              </a:spcAft>
              <a:buClr>
                <a:srgbClr val="000000"/>
              </a:buClr>
              <a:buSzPts val="2000"/>
              <a:buFont typeface="Arial"/>
              <a:buChar char="•"/>
            </a:pPr>
            <a:r>
              <a:rPr b="1" lang="ca" u="sng"/>
              <a:t>Increment</a:t>
            </a:r>
            <a:r>
              <a:rPr b="0" lang="ca" u="none"/>
              <a:t>: es tracta d’una instrucció que modifica el valor del comptador, normalment una assignació. Aquesta instrucció </a:t>
            </a:r>
            <a:r>
              <a:rPr lang="ca" u="none"/>
              <a:t>s’executa automàticament al final de cada iteració</a:t>
            </a:r>
            <a:r>
              <a:rPr b="0" lang="ca" u="none"/>
              <a:t>. Tot i el seu nom, tant pot ser un increment com decrement del valor.</a:t>
            </a:r>
            <a:endParaRPr/>
          </a:p>
        </p:txBody>
      </p:sp>
      <p:sp>
        <p:nvSpPr>
          <p:cNvPr id="306" name="Google Shape;306;p29"/>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07" name="Google Shape;307;p29"/>
          <p:cNvSpPr txBox="1"/>
          <p:nvPr/>
        </p:nvSpPr>
        <p:spPr>
          <a:xfrm>
            <a:off x="283025" y="839559"/>
            <a:ext cx="8497800" cy="8568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for (inicialització comptador ; expressió booleana ; increment comptador)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	Instruccions per executar dins del bucle</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100" u="none" cap="none" strike="noStrike">
                <a:solidFill>
                  <a:srgbClr val="000000"/>
                </a:solidFill>
                <a:latin typeface="Arial"/>
                <a:ea typeface="Arial"/>
                <a:cs typeface="Arial"/>
                <a:sym typeface="Arial"/>
              </a:rPr>
              <a:t>}</a:t>
            </a:r>
            <a:endParaRPr b="0" i="0" sz="700" u="none" cap="none" strike="noStrike">
              <a:solidFill>
                <a:srgbClr val="000000"/>
              </a:solidFill>
              <a:latin typeface="Arial"/>
              <a:ea typeface="Arial"/>
              <a:cs typeface="Arial"/>
              <a:sym typeface="Arial"/>
            </a:endParaRPr>
          </a:p>
        </p:txBody>
      </p:sp>
      <p:sp>
        <p:nvSpPr>
          <p:cNvPr id="308" name="Google Shape;308;p29"/>
          <p:cNvSpPr txBox="1"/>
          <p:nvPr/>
        </p:nvSpPr>
        <p:spPr>
          <a:xfrm>
            <a:off x="3597725" y="1424900"/>
            <a:ext cx="5183100" cy="7746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//Exemple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800" u="none" cap="none" strike="noStrike">
                <a:solidFill>
                  <a:srgbClr val="000000"/>
                </a:solidFill>
                <a:latin typeface="Arial"/>
                <a:ea typeface="Arial"/>
                <a:cs typeface="Arial"/>
                <a:sym typeface="Arial"/>
              </a:rPr>
              <a:t>for (int i = 0; i &lt;= 10; i++) {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323850" y="195263"/>
            <a:ext cx="7488300" cy="7026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for</a:t>
            </a:r>
            <a:endParaRPr b="1" sz="3600">
              <a:solidFill>
                <a:srgbClr val="339933"/>
              </a:solidFill>
              <a:latin typeface="Arial"/>
              <a:ea typeface="Arial"/>
              <a:cs typeface="Arial"/>
              <a:sym typeface="Arial"/>
            </a:endParaRPr>
          </a:p>
        </p:txBody>
      </p:sp>
      <p:sp>
        <p:nvSpPr>
          <p:cNvPr id="314" name="Google Shape;314;p30"/>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pic>
        <p:nvPicPr>
          <p:cNvPr descr="ic10mu2_27.png" id="315" name="Google Shape;315;p30"/>
          <p:cNvPicPr preferRelativeResize="0"/>
          <p:nvPr/>
        </p:nvPicPr>
        <p:blipFill rotWithShape="1">
          <a:blip r:embed="rId3">
            <a:alphaModFix/>
          </a:blip>
          <a:srcRect b="0" l="0" r="0" t="0"/>
          <a:stretch/>
        </p:blipFill>
        <p:spPr>
          <a:xfrm>
            <a:off x="755650" y="1059656"/>
            <a:ext cx="7416799" cy="378023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1"/>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for</a:t>
            </a:r>
            <a:endParaRPr b="1" sz="3600">
              <a:solidFill>
                <a:srgbClr val="339933"/>
              </a:solidFill>
              <a:latin typeface="Arial"/>
              <a:ea typeface="Arial"/>
              <a:cs typeface="Arial"/>
              <a:sym typeface="Arial"/>
            </a:endParaRPr>
          </a:p>
        </p:txBody>
      </p:sp>
      <p:sp>
        <p:nvSpPr>
          <p:cNvPr id="321" name="Google Shape;321;p31"/>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22" name="Google Shape;322;p31"/>
          <p:cNvSpPr txBox="1"/>
          <p:nvPr/>
        </p:nvSpPr>
        <p:spPr>
          <a:xfrm>
            <a:off x="395287" y="1221581"/>
            <a:ext cx="8280300" cy="3719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//Taula de multiplicar</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public static void main (</a:t>
            </a:r>
            <a:r>
              <a:rPr b="0" i="0" lang="ca" sz="1200" u="sng" cap="none" strike="noStrike">
                <a:solidFill>
                  <a:schemeClr val="hlink"/>
                </a:solidFill>
                <a:latin typeface="Arial"/>
                <a:ea typeface="Arial"/>
                <a:cs typeface="Arial"/>
                <a:sym typeface="Arial"/>
                <a:hlinkClick r:id="rId3"/>
              </a:rPr>
              <a:t>String</a:t>
            </a:r>
            <a:r>
              <a:rPr b="0" i="0" lang="ca" sz="1200" u="none" cap="none" strike="noStrike">
                <a:solidFill>
                  <a:srgbClr val="000000"/>
                </a:solidFill>
                <a:latin typeface="Arial"/>
                <a:ea typeface="Arial"/>
                <a:cs typeface="Arial"/>
                <a:sym typeface="Arial"/>
              </a:rPr>
              <a:t>[] args)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Scanner lector = new Scanner(</a:t>
            </a:r>
            <a:r>
              <a:rPr b="0" i="0" lang="ca" sz="1200" u="sng" cap="none" strike="noStrike">
                <a:solidFill>
                  <a:schemeClr val="hlink"/>
                </a:solidFill>
                <a:latin typeface="Arial"/>
                <a:ea typeface="Arial"/>
                <a:cs typeface="Arial"/>
                <a:sym typeface="Arial"/>
                <a:hlinkClick r:id="rId4"/>
              </a:rPr>
              <a:t>System</a:t>
            </a:r>
            <a:r>
              <a:rPr b="0" i="0" lang="ca" sz="1200" u="none" cap="none" strike="noStrike">
                <a:solidFill>
                  <a:srgbClr val="000000"/>
                </a:solidFill>
                <a:latin typeface="Arial"/>
                <a:ea typeface="Arial"/>
                <a:cs typeface="Arial"/>
                <a:sym typeface="Arial"/>
              </a:rPr>
              <a:t>.in);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a:t>
            </a:r>
            <a:r>
              <a:rPr b="0" i="0" lang="ca" sz="1200" u="sng" cap="none" strike="noStrike">
                <a:solidFill>
                  <a:schemeClr val="hlink"/>
                </a:solidFill>
                <a:latin typeface="Arial"/>
                <a:ea typeface="Arial"/>
                <a:cs typeface="Arial"/>
                <a:sym typeface="Arial"/>
                <a:hlinkClick r:id="rId5"/>
              </a:rPr>
              <a:t>System</a:t>
            </a:r>
            <a:r>
              <a:rPr b="0" i="0" lang="ca" sz="1200" u="none" cap="none" strike="noStrike">
                <a:solidFill>
                  <a:srgbClr val="000000"/>
                </a:solidFill>
                <a:latin typeface="Arial"/>
                <a:ea typeface="Arial"/>
                <a:cs typeface="Arial"/>
                <a:sym typeface="Arial"/>
              </a:rPr>
              <a:t>.out.print("Quina taula de multiplicar vols?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int taula = lector.nextInt();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//El comptador servirà per fer càlculs.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//En lloc de 'i++' també es podria escriure 'i = i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for (int i = 0; i &lt;= 10; i++)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int resultat = taula*i;</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a:t>
            </a:r>
            <a:r>
              <a:rPr b="0" i="0" lang="ca" sz="1200" u="sng" cap="none" strike="noStrike">
                <a:solidFill>
                  <a:schemeClr val="hlink"/>
                </a:solidFill>
                <a:latin typeface="Arial"/>
                <a:ea typeface="Arial"/>
                <a:cs typeface="Arial"/>
                <a:sym typeface="Arial"/>
                <a:hlinkClick r:id="rId6"/>
              </a:rPr>
              <a:t>System</a:t>
            </a:r>
            <a:r>
              <a:rPr b="0" i="0" lang="ca" sz="1200" u="none" cap="none" strike="noStrike">
                <a:solidFill>
                  <a:srgbClr val="000000"/>
                </a:solidFill>
                <a:latin typeface="Arial"/>
                <a:ea typeface="Arial"/>
                <a:cs typeface="Arial"/>
                <a:sym typeface="Arial"/>
              </a:rPr>
              <a:t>.out.println(taula + " * " + i + " = " + resultat);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2"/>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4</a:t>
            </a:r>
            <a:r>
              <a:rPr b="1" i="0" lang="ca" sz="3600" u="none" cap="none" strike="noStrike">
                <a:solidFill>
                  <a:srgbClr val="339933"/>
                </a:solidFill>
                <a:latin typeface="Arial"/>
                <a:ea typeface="Arial"/>
                <a:cs typeface="Arial"/>
                <a:sym typeface="Arial"/>
              </a:rPr>
              <a:t>. </a:t>
            </a:r>
            <a:r>
              <a:rPr b="1" lang="ca" sz="3600">
                <a:solidFill>
                  <a:srgbClr val="339933"/>
                </a:solidFill>
                <a:latin typeface="Arial"/>
                <a:ea typeface="Arial"/>
                <a:cs typeface="Arial"/>
                <a:sym typeface="Arial"/>
              </a:rPr>
              <a:t>Estructures de bot</a:t>
            </a:r>
            <a:endParaRPr/>
          </a:p>
        </p:txBody>
      </p:sp>
      <p:sp>
        <p:nvSpPr>
          <p:cNvPr id="328" name="Google Shape;328;p32"/>
          <p:cNvSpPr txBox="1"/>
          <p:nvPr>
            <p:ph idx="1" type="body"/>
          </p:nvPr>
        </p:nvSpPr>
        <p:spPr>
          <a:xfrm>
            <a:off x="323850" y="1276350"/>
            <a:ext cx="8496300" cy="16740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000000"/>
              </a:buClr>
              <a:buSzPts val="1800"/>
              <a:buFont typeface="Arial"/>
              <a:buNone/>
            </a:pPr>
            <a:r>
              <a:rPr lang="ca" sz="1800"/>
              <a:t>La sentència </a:t>
            </a:r>
            <a:r>
              <a:rPr b="1" lang="ca"/>
              <a:t>break</a:t>
            </a:r>
            <a:r>
              <a:rPr lang="ca" sz="1800"/>
              <a:t>, aplicada en el context d’una estructura de repetició, </a:t>
            </a:r>
            <a:r>
              <a:rPr b="1" lang="ca"/>
              <a:t>interromp immediatament la iteració en curs i fa que el flux de control surti del bucle. </a:t>
            </a:r>
            <a:r>
              <a:rPr lang="ca" sz="1800"/>
              <a:t>En fer-ho, no s’avalua la condició lògica de nou.</a:t>
            </a:r>
            <a:endParaRPr/>
          </a:p>
        </p:txBody>
      </p:sp>
      <p:sp>
        <p:nvSpPr>
          <p:cNvPr id="329" name="Google Shape;329;p32"/>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3"/>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break</a:t>
            </a:r>
            <a:endParaRPr/>
          </a:p>
        </p:txBody>
      </p:sp>
      <p:sp>
        <p:nvSpPr>
          <p:cNvPr id="335" name="Google Shape;335;p33"/>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36" name="Google Shape;336;p33"/>
          <p:cNvSpPr txBox="1"/>
          <p:nvPr/>
        </p:nvSpPr>
        <p:spPr>
          <a:xfrm>
            <a:off x="114000" y="1168000"/>
            <a:ext cx="4339500" cy="3632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//Endevinar número secret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int intents = 0;</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//Com que ara només es controla el comptador d'intents, es pot usar 'for'.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for (intents = MAX_INTENTS; intents &gt; 0; intents--) {</a:t>
            </a:r>
            <a:endParaRPr b="0" i="0" sz="10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9999"/>
              </a:buClr>
              <a:buSzPts val="1800"/>
              <a:buFont typeface="Arial"/>
              <a:buNone/>
            </a:pPr>
            <a:r>
              <a:rPr b="0" i="0" lang="ca" sz="1000" u="sng" cap="none" strike="noStrike">
                <a:solidFill>
                  <a:schemeClr val="hlink"/>
                </a:solidFill>
                <a:latin typeface="Arial"/>
                <a:ea typeface="Arial"/>
                <a:cs typeface="Arial"/>
                <a:sym typeface="Arial"/>
                <a:hlinkClick r:id="rId3"/>
              </a:rPr>
              <a:t>System</a:t>
            </a:r>
            <a:r>
              <a:rPr b="0" i="0" lang="ca" sz="1000" u="none" cap="none" strike="noStrike">
                <a:solidFill>
                  <a:srgbClr val="000000"/>
                </a:solidFill>
                <a:latin typeface="Arial"/>
                <a:ea typeface="Arial"/>
                <a:cs typeface="Arial"/>
                <a:sym typeface="Arial"/>
              </a:rPr>
              <a:t>.out.print("Quin valor creus que és? ");</a:t>
            </a:r>
            <a:endParaRPr b="0" i="0" sz="10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int valorUsuari = lector.nextInt();</a:t>
            </a:r>
            <a:endParaRPr b="0" i="0" sz="10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lector.nextLine();</a:t>
            </a:r>
            <a:endParaRPr b="0" i="0" sz="10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if (valorUsuari == VALOR_SECRET) {</a:t>
            </a:r>
            <a:endParaRPr b="0" i="0" sz="1000" u="none" cap="none" strike="noStrike">
              <a:solidFill>
                <a:srgbClr val="000000"/>
              </a:solidFill>
              <a:latin typeface="Arial"/>
              <a:ea typeface="Arial"/>
              <a:cs typeface="Arial"/>
              <a:sym typeface="Arial"/>
            </a:endParaRPr>
          </a:p>
          <a:p>
            <a:pPr indent="914400" lvl="2"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//Valor encertat. Ja es pot felicitar l'usuari i deixar d'iterar.</a:t>
            </a:r>
            <a:endParaRPr b="0" i="0" sz="1000" u="none" cap="none" strike="noStrike">
              <a:solidFill>
                <a:srgbClr val="000000"/>
              </a:solidFill>
              <a:latin typeface="Arial"/>
              <a:ea typeface="Arial"/>
              <a:cs typeface="Arial"/>
              <a:sym typeface="Arial"/>
            </a:endParaRPr>
          </a:p>
          <a:p>
            <a:pPr indent="914400" lvl="2" marL="0" marR="0" rtl="0" algn="l">
              <a:lnSpc>
                <a:spcPct val="100000"/>
              </a:lnSpc>
              <a:spcBef>
                <a:spcPts val="1000"/>
              </a:spcBef>
              <a:spcAft>
                <a:spcPts val="0"/>
              </a:spcAft>
              <a:buClr>
                <a:srgbClr val="009999"/>
              </a:buClr>
              <a:buSzPts val="1800"/>
              <a:buFont typeface="Arial"/>
              <a:buNone/>
            </a:pPr>
            <a:r>
              <a:rPr b="0" i="0" lang="ca" sz="1000" u="sng" cap="none" strike="noStrike">
                <a:solidFill>
                  <a:schemeClr val="hlink"/>
                </a:solidFill>
                <a:latin typeface="Arial"/>
                <a:ea typeface="Arial"/>
                <a:cs typeface="Arial"/>
                <a:sym typeface="Arial"/>
                <a:hlinkClick r:id="rId4"/>
              </a:rPr>
              <a:t>System</a:t>
            </a:r>
            <a:r>
              <a:rPr b="0" i="0" lang="ca" sz="1000" u="none" cap="none" strike="noStrike">
                <a:solidFill>
                  <a:srgbClr val="000000"/>
                </a:solidFill>
                <a:latin typeface="Arial"/>
                <a:ea typeface="Arial"/>
                <a:cs typeface="Arial"/>
                <a:sym typeface="Arial"/>
              </a:rPr>
              <a:t>.out.println("Enhorabona. Has encertat!");</a:t>
            </a:r>
            <a:endParaRPr b="0" i="0" sz="1000" u="none" cap="none" strike="noStrike">
              <a:solidFill>
                <a:srgbClr val="000000"/>
              </a:solidFill>
              <a:latin typeface="Arial"/>
              <a:ea typeface="Arial"/>
              <a:cs typeface="Arial"/>
              <a:sym typeface="Arial"/>
            </a:endParaRPr>
          </a:p>
          <a:p>
            <a:pPr indent="914400" lvl="2"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break;</a:t>
            </a:r>
            <a:endParaRPr b="0" i="0" sz="10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337" name="Google Shape;337;p33"/>
          <p:cNvSpPr txBox="1"/>
          <p:nvPr/>
        </p:nvSpPr>
        <p:spPr>
          <a:xfrm>
            <a:off x="5054225" y="1168000"/>
            <a:ext cx="3924000" cy="13749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1000"/>
              </a:spcBef>
              <a:spcAft>
                <a:spcPts val="0"/>
              </a:spcAft>
              <a:buClr>
                <a:srgbClr val="000000"/>
              </a:buClr>
              <a:buSzPts val="18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//El bucle ha acabat a causa de l'esgotament del comptador?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if (intents &lt;= 0)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a:t>
            </a:r>
            <a:r>
              <a:rPr b="0" i="0" lang="ca" sz="1000" u="sng" cap="none" strike="noStrike">
                <a:solidFill>
                  <a:schemeClr val="hlink"/>
                </a:solidFill>
                <a:latin typeface="Arial"/>
                <a:ea typeface="Arial"/>
                <a:cs typeface="Arial"/>
                <a:sym typeface="Arial"/>
                <a:hlinkClick r:id="rId5"/>
              </a:rPr>
              <a:t>System</a:t>
            </a:r>
            <a:r>
              <a:rPr b="0" i="0" lang="ca" sz="1000" u="none" cap="none" strike="noStrike">
                <a:solidFill>
                  <a:srgbClr val="000000"/>
                </a:solidFill>
                <a:latin typeface="Arial"/>
                <a:ea typeface="Arial"/>
                <a:cs typeface="Arial"/>
                <a:sym typeface="Arial"/>
              </a:rPr>
              <a:t>.out.println("Intents esgotats. Has perdut!");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continue</a:t>
            </a:r>
            <a:endParaRPr/>
          </a:p>
        </p:txBody>
      </p:sp>
      <p:sp>
        <p:nvSpPr>
          <p:cNvPr id="343" name="Google Shape;343;p34"/>
          <p:cNvSpPr txBox="1"/>
          <p:nvPr>
            <p:ph idx="1" type="body"/>
          </p:nvPr>
        </p:nvSpPr>
        <p:spPr>
          <a:xfrm>
            <a:off x="323850" y="1276350"/>
            <a:ext cx="8496300" cy="3513000"/>
          </a:xfrm>
          <a:prstGeom prst="rect">
            <a:avLst/>
          </a:prstGeom>
          <a:noFill/>
          <a:ln>
            <a:noFill/>
          </a:ln>
        </p:spPr>
        <p:txBody>
          <a:bodyPr anchorCtr="0" anchor="t" bIns="45700" lIns="45700" spcFirstLastPara="1" rIns="45700" wrap="square" tIns="45700">
            <a:normAutofit/>
          </a:bodyPr>
          <a:lstStyle/>
          <a:p>
            <a:pPr indent="-342900" lvl="0" marL="342900" rtl="0" algn="l">
              <a:lnSpc>
                <a:spcPct val="80000"/>
              </a:lnSpc>
              <a:spcBef>
                <a:spcPts val="0"/>
              </a:spcBef>
              <a:spcAft>
                <a:spcPts val="0"/>
              </a:spcAft>
              <a:buClr>
                <a:srgbClr val="000000"/>
              </a:buClr>
              <a:buSzPts val="2000"/>
              <a:buFont typeface="Arial"/>
              <a:buNone/>
            </a:pPr>
            <a:r>
              <a:rPr b="0" i="0" lang="ca" sz="3400" u="none" cap="none" strike="noStrike">
                <a:solidFill>
                  <a:srgbClr val="000000"/>
                </a:solidFill>
                <a:latin typeface="Arial"/>
                <a:ea typeface="Arial"/>
                <a:cs typeface="Arial"/>
                <a:sym typeface="Arial"/>
              </a:rPr>
              <a:t>La sentència </a:t>
            </a:r>
            <a:r>
              <a:rPr b="1" lang="ca" sz="3200"/>
              <a:t>continue</a:t>
            </a:r>
            <a:r>
              <a:rPr b="0" i="0" lang="ca" sz="3400" u="none" cap="none" strike="noStrike">
                <a:solidFill>
                  <a:srgbClr val="000000"/>
                </a:solidFill>
                <a:latin typeface="Arial"/>
                <a:ea typeface="Arial"/>
                <a:cs typeface="Arial"/>
                <a:sym typeface="Arial"/>
              </a:rPr>
              <a:t> fa que </a:t>
            </a:r>
            <a:r>
              <a:rPr b="1" lang="ca" sz="3200"/>
              <a:t>la iteració en curs es consideri immediatament finalitzada i en comenci una de nova</a:t>
            </a:r>
            <a:r>
              <a:rPr b="0" i="0" lang="ca" sz="3400" u="none" cap="none" strike="noStrike">
                <a:solidFill>
                  <a:srgbClr val="000000"/>
                </a:solidFill>
                <a:latin typeface="Arial"/>
                <a:ea typeface="Arial"/>
                <a:cs typeface="Arial"/>
                <a:sym typeface="Arial"/>
              </a:rPr>
              <a:t> d’acord amb l’avaluació de la condició lògica. </a:t>
            </a:r>
            <a:r>
              <a:rPr b="1" lang="ca" sz="3200"/>
              <a:t>Només </a:t>
            </a:r>
            <a:r>
              <a:rPr b="0" i="0" lang="ca" sz="3400" u="none" cap="none" strike="noStrike">
                <a:solidFill>
                  <a:srgbClr val="000000"/>
                </a:solidFill>
                <a:latin typeface="Arial"/>
                <a:ea typeface="Arial"/>
                <a:cs typeface="Arial"/>
                <a:sym typeface="Arial"/>
              </a:rPr>
              <a:t>s’aplica en el context de les</a:t>
            </a:r>
            <a:r>
              <a:rPr b="1" lang="ca" sz="3200"/>
              <a:t> estructures de repetició</a:t>
            </a:r>
            <a:r>
              <a:rPr b="0" i="0" lang="ca" sz="3400" u="none" cap="none" strike="noStrike">
                <a:solidFill>
                  <a:srgbClr val="000000"/>
                </a:solidFill>
                <a:latin typeface="Arial"/>
                <a:ea typeface="Arial"/>
                <a:cs typeface="Arial"/>
                <a:sym typeface="Arial"/>
              </a:rPr>
              <a:t> (while, for…).</a:t>
            </a:r>
            <a:endParaRPr sz="3200"/>
          </a:p>
        </p:txBody>
      </p:sp>
      <p:sp>
        <p:nvSpPr>
          <p:cNvPr id="344" name="Google Shape;344;p34"/>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5"/>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600"/>
              <a:buFont typeface="Arial"/>
              <a:buNone/>
            </a:pPr>
            <a:r>
              <a:rPr b="1" lang="ca" sz="3600">
                <a:solidFill>
                  <a:srgbClr val="339933"/>
                </a:solidFill>
                <a:latin typeface="Arial"/>
                <a:ea typeface="Arial"/>
                <a:cs typeface="Arial"/>
                <a:sym typeface="Arial"/>
              </a:rPr>
              <a:t>continue</a:t>
            </a:r>
            <a:endParaRPr/>
          </a:p>
        </p:txBody>
      </p:sp>
      <p:sp>
        <p:nvSpPr>
          <p:cNvPr id="350" name="Google Shape;350;p35"/>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51" name="Google Shape;351;p35"/>
          <p:cNvSpPr txBox="1"/>
          <p:nvPr/>
        </p:nvSpPr>
        <p:spPr>
          <a:xfrm>
            <a:off x="250825" y="1168003"/>
            <a:ext cx="8569200" cy="37095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//Suma números entre inci i fi que NO siguin múltiples de 3</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int resultat =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for (int i = inici; i &lt;= fi; i++ )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       if (i%3 == 0) {</a:t>
            </a:r>
            <a:endParaRPr b="0" i="0" sz="12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	continue;</a:t>
            </a:r>
            <a:endParaRPr b="0" i="0" sz="12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resultat = resultat + i;</a:t>
            </a:r>
            <a:endParaRPr b="0" i="0" sz="1200" u="none" cap="none" strike="noStrike">
              <a:solidFill>
                <a:srgbClr val="000000"/>
              </a:solidFill>
              <a:latin typeface="Arial"/>
              <a:ea typeface="Arial"/>
              <a:cs typeface="Arial"/>
              <a:sym typeface="Arial"/>
            </a:endParaRPr>
          </a:p>
          <a:p>
            <a:pPr indent="457200" lvl="1"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System.out.println("S'ha sumat el valor " + i);</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600" u="none" cap="none" strike="noStrike">
                <a:solidFill>
                  <a:srgbClr val="000000"/>
                </a:solidFill>
                <a:latin typeface="Arial"/>
                <a:ea typeface="Arial"/>
                <a:cs typeface="Arial"/>
                <a:sym typeface="Arial"/>
              </a:rPr>
              <a:t>System.out.println("El resultat final és " + resultat +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6"/>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720"/>
              <a:buFont typeface="Arial"/>
              <a:buNone/>
            </a:pPr>
            <a:r>
              <a:rPr b="1" lang="ca" sz="3600">
                <a:solidFill>
                  <a:srgbClr val="339933"/>
                </a:solidFill>
                <a:latin typeface="Arial"/>
                <a:ea typeface="Arial"/>
                <a:cs typeface="Arial"/>
                <a:sym typeface="Arial"/>
              </a:rPr>
              <a:t>Break y continue amb etiqueta</a:t>
            </a:r>
            <a:endParaRPr b="1" sz="3600">
              <a:solidFill>
                <a:srgbClr val="339933"/>
              </a:solidFill>
              <a:latin typeface="Arial"/>
              <a:ea typeface="Arial"/>
              <a:cs typeface="Arial"/>
              <a:sym typeface="Arial"/>
            </a:endParaRPr>
          </a:p>
        </p:txBody>
      </p:sp>
      <p:sp>
        <p:nvSpPr>
          <p:cNvPr id="357" name="Google Shape;357;p36"/>
          <p:cNvSpPr txBox="1"/>
          <p:nvPr>
            <p:ph idx="1" type="body"/>
          </p:nvPr>
        </p:nvSpPr>
        <p:spPr>
          <a:xfrm>
            <a:off x="323850" y="1276350"/>
            <a:ext cx="8496300" cy="3387000"/>
          </a:xfrm>
          <a:prstGeom prst="rect">
            <a:avLst/>
          </a:prstGeom>
          <a:noFill/>
          <a:ln>
            <a:noFill/>
          </a:ln>
        </p:spPr>
        <p:txBody>
          <a:bodyPr anchorCtr="0" anchor="t" bIns="45700" lIns="45700" spcFirstLastPara="1" rIns="45700" wrap="square" tIns="45700">
            <a:normAutofit fontScale="40000" lnSpcReduction="20000"/>
          </a:bodyPr>
          <a:lstStyle/>
          <a:p>
            <a:pPr indent="-342900" lvl="0" marL="342900" rtl="0" algn="l">
              <a:lnSpc>
                <a:spcPct val="100000"/>
              </a:lnSpc>
              <a:spcBef>
                <a:spcPts val="0"/>
              </a:spcBef>
              <a:spcAft>
                <a:spcPts val="0"/>
              </a:spcAft>
              <a:buClr>
                <a:srgbClr val="000000"/>
              </a:buClr>
              <a:buSzPct val="33333"/>
              <a:buFont typeface="Arial"/>
              <a:buNone/>
            </a:pPr>
            <a:r>
              <a:rPr b="1" lang="ca" sz="6000"/>
              <a:t>L'etiqueta es col·loca abans de la sentència a etiquetar seguida de ‘:’.</a:t>
            </a:r>
            <a:r>
              <a:rPr b="0" lang="ca" sz="6000"/>
              <a:t> Són útils quan tenim </a:t>
            </a:r>
            <a:r>
              <a:rPr b="1" lang="ca" sz="6000"/>
              <a:t>bucles niats i volem especificar en quin d'ells volem fer un break o continue</a:t>
            </a:r>
            <a:r>
              <a:rPr b="0" lang="ca" sz="6000"/>
              <a:t>.</a:t>
            </a:r>
            <a:endParaRPr sz="6000"/>
          </a:p>
          <a:p>
            <a:pPr indent="-342900" lvl="0" marL="342900" rtl="0" algn="l">
              <a:lnSpc>
                <a:spcPct val="100000"/>
              </a:lnSpc>
              <a:spcBef>
                <a:spcPts val="700"/>
              </a:spcBef>
              <a:spcAft>
                <a:spcPts val="0"/>
              </a:spcAft>
              <a:buClr>
                <a:srgbClr val="000000"/>
              </a:buClr>
              <a:buSzPct val="33333"/>
              <a:buFont typeface="Arial"/>
              <a:buNone/>
            </a:pPr>
            <a:r>
              <a:t/>
            </a:r>
            <a:endParaRPr b="0" sz="6000"/>
          </a:p>
          <a:p>
            <a:pPr indent="-342900" lvl="0" marL="342900" rtl="0" algn="l">
              <a:lnSpc>
                <a:spcPct val="100000"/>
              </a:lnSpc>
              <a:spcBef>
                <a:spcPts val="400"/>
              </a:spcBef>
              <a:spcAft>
                <a:spcPts val="0"/>
              </a:spcAft>
              <a:buClr>
                <a:srgbClr val="000000"/>
              </a:buClr>
              <a:buSzPct val="33333"/>
              <a:buFont typeface="Arial"/>
              <a:buNone/>
            </a:pPr>
            <a:r>
              <a:rPr b="0" i="0" lang="ca" sz="6000" u="none" cap="none" strike="noStrike">
                <a:solidFill>
                  <a:srgbClr val="000000"/>
                </a:solidFill>
                <a:latin typeface="Arial"/>
                <a:ea typeface="Arial"/>
                <a:cs typeface="Arial"/>
                <a:sym typeface="Arial"/>
              </a:rPr>
              <a:t>El funcionament normal del break seria sortir del bucle més intern, No obstant això, el </a:t>
            </a:r>
            <a:r>
              <a:rPr b="1" lang="ca" sz="6000"/>
              <a:t>break amb etiqueta fa que trenqui el bucle etiquetat</a:t>
            </a:r>
            <a:r>
              <a:rPr b="0" i="0" lang="ca" sz="6000" u="none" cap="none" strike="noStrike">
                <a:solidFill>
                  <a:srgbClr val="000000"/>
                </a:solidFill>
                <a:latin typeface="Arial"/>
                <a:ea typeface="Arial"/>
                <a:cs typeface="Arial"/>
                <a:sym typeface="Arial"/>
              </a:rPr>
              <a:t>. Les sentències break i continue amb etiquetes </a:t>
            </a:r>
            <a:r>
              <a:rPr b="1" lang="ca" sz="6000"/>
              <a:t>han d'estar dins d'un bucle amb la mateixa etiqueta</a:t>
            </a:r>
            <a:r>
              <a:rPr b="0" i="0" lang="ca" sz="2000" u="none" cap="none" strike="noStrike">
                <a:solidFill>
                  <a:srgbClr val="000000"/>
                </a:solidFill>
                <a:latin typeface="Arial"/>
                <a:ea typeface="Arial"/>
                <a:cs typeface="Arial"/>
                <a:sym typeface="Arial"/>
              </a:rPr>
              <a:t> </a:t>
            </a:r>
            <a:endParaRPr/>
          </a:p>
        </p:txBody>
      </p:sp>
      <p:sp>
        <p:nvSpPr>
          <p:cNvPr id="358" name="Google Shape;358;p36"/>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7"/>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Break y continue amb etiqueta</a:t>
            </a:r>
            <a:endParaRPr/>
          </a:p>
        </p:txBody>
      </p:sp>
      <p:sp>
        <p:nvSpPr>
          <p:cNvPr id="364" name="Google Shape;364;p37"/>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65" name="Google Shape;365;p37"/>
          <p:cNvSpPr txBox="1"/>
          <p:nvPr/>
        </p:nvSpPr>
        <p:spPr>
          <a:xfrm>
            <a:off x="250825" y="1168003"/>
            <a:ext cx="8569200" cy="3719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//Feim feina 2 hores els dies senars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descansar:</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for (int i = 1; i &lt; 8; i++)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for (int j = 1; j &lt; 3; j++) {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if (i % 2 ==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System.out.println("Dia "+ i + ": Descansa");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continue descansar;</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System.out.println("Dia "+ i + ": Fa feina " + j + " hores");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200" u="none" cap="none" strike="noStrike">
                <a:solidFill>
                  <a:srgbClr val="000000"/>
                </a:solidFill>
                <a:latin typeface="Arial"/>
                <a:ea typeface="Arial"/>
                <a:cs typeface="Arial"/>
                <a:sym typeface="Arial"/>
              </a:rPr>
              <a:t>System.out.println(“Surt del bucle...");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8"/>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5. Exceptions</a:t>
            </a:r>
            <a:endParaRPr b="1" sz="3600">
              <a:solidFill>
                <a:srgbClr val="339933"/>
              </a:solidFill>
              <a:latin typeface="Arial"/>
              <a:ea typeface="Arial"/>
              <a:cs typeface="Arial"/>
              <a:sym typeface="Arial"/>
            </a:endParaRPr>
          </a:p>
        </p:txBody>
      </p:sp>
      <p:sp>
        <p:nvSpPr>
          <p:cNvPr id="371" name="Google Shape;371;p38"/>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72" name="Google Shape;372;p38"/>
          <p:cNvSpPr txBox="1"/>
          <p:nvPr/>
        </p:nvSpPr>
        <p:spPr>
          <a:xfrm>
            <a:off x="491050" y="1052650"/>
            <a:ext cx="8295900" cy="34890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ca" sz="1700" u="none" cap="none" strike="noStrike">
                <a:solidFill>
                  <a:srgbClr val="000000"/>
                </a:solidFill>
                <a:latin typeface="Arial"/>
                <a:ea typeface="Arial"/>
                <a:cs typeface="Arial"/>
                <a:sym typeface="Arial"/>
              </a:rPr>
              <a:t>La </a:t>
            </a:r>
            <a:r>
              <a:rPr b="1" i="0" lang="ca" sz="1700" u="none" cap="none" strike="noStrike">
                <a:solidFill>
                  <a:srgbClr val="000000"/>
                </a:solidFill>
                <a:latin typeface="Arial"/>
                <a:ea typeface="Arial"/>
                <a:cs typeface="Arial"/>
                <a:sym typeface="Arial"/>
              </a:rPr>
              <a:t>gestió d’excepcions </a:t>
            </a:r>
            <a:r>
              <a:rPr b="0" i="0" lang="ca" sz="1700" u="none" cap="none" strike="noStrike">
                <a:solidFill>
                  <a:srgbClr val="000000"/>
                </a:solidFill>
                <a:latin typeface="Arial"/>
                <a:ea typeface="Arial"/>
                <a:cs typeface="Arial"/>
                <a:sym typeface="Arial"/>
              </a:rPr>
              <a:t>és el conjunt de mecanismes que un llenguatge de programació proporciona per </a:t>
            </a:r>
            <a:r>
              <a:rPr b="0" i="0" lang="ca" sz="1700" u="sng" cap="none" strike="noStrike">
                <a:solidFill>
                  <a:srgbClr val="000000"/>
                </a:solidFill>
                <a:latin typeface="Arial"/>
                <a:ea typeface="Arial"/>
                <a:cs typeface="Arial"/>
                <a:sym typeface="Arial"/>
              </a:rPr>
              <a:t>detectar i gestionar els errors que es puguin produir en temps d’execució</a:t>
            </a:r>
            <a:r>
              <a:rPr b="0" i="0" lang="ca" sz="1700" u="none" cap="none" strike="noStrike">
                <a:solidFill>
                  <a:srgbClr val="000000"/>
                </a:solidFill>
                <a:latin typeface="Arial"/>
                <a:ea typeface="Arial"/>
                <a:cs typeface="Arial"/>
                <a:sym typeface="Arial"/>
              </a:rPr>
              <a:t>. Les excepcions corresponen a situacions excepcionals que els programes es poden trobar en temps d’execució, incloent-hi, fins i tot, els errors de programació.</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700" u="none" cap="none" strike="noStrike">
                <a:solidFill>
                  <a:srgbClr val="000000"/>
                </a:solidFill>
                <a:latin typeface="Arial"/>
                <a:ea typeface="Arial"/>
                <a:cs typeface="Arial"/>
                <a:sym typeface="Arial"/>
              </a:rPr>
              <a:t>El programador pot preveure cada tipus d’excepció i escriure el codi adequat per a la seva gestió. (p.ex: quan demanam un enter a l’usuari i introdueix una lletra)</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700" u="none" cap="none" strike="noStrike">
                <a:solidFill>
                  <a:srgbClr val="000000"/>
                </a:solidFill>
                <a:latin typeface="Arial"/>
                <a:ea typeface="Arial"/>
                <a:cs typeface="Arial"/>
                <a:sym typeface="Arial"/>
              </a:rPr>
              <a:t>El llenguatge Java proporciona el mecanisme </a:t>
            </a:r>
            <a:r>
              <a:rPr b="1" i="0" lang="ca" sz="1700" u="none" cap="none" strike="noStrike">
                <a:solidFill>
                  <a:srgbClr val="000000"/>
                </a:solidFill>
                <a:latin typeface="Arial"/>
                <a:ea typeface="Arial"/>
                <a:cs typeface="Arial"/>
                <a:sym typeface="Arial"/>
              </a:rPr>
              <a:t>try – catch</a:t>
            </a:r>
            <a:r>
              <a:rPr b="0" i="0" lang="ca" sz="1700" u="none" cap="none" strike="noStrike">
                <a:solidFill>
                  <a:srgbClr val="000000"/>
                </a:solidFill>
                <a:latin typeface="Arial"/>
                <a:ea typeface="Arial"/>
                <a:cs typeface="Arial"/>
                <a:sym typeface="Arial"/>
              </a:rPr>
              <a:t> per capturar una excepció i definir l’actuació que correspongui, que consisteix a col·locar el codi susceptible de generar (llançar) l’excepció que es vol capturar dins un bloc de codi precedit per la paraula reservada try i seguit de tants blocs de codi </a:t>
            </a:r>
            <a:r>
              <a:rPr b="1" i="0" lang="ca" sz="1700" u="none" cap="none" strike="noStrike">
                <a:solidFill>
                  <a:srgbClr val="000000"/>
                </a:solidFill>
                <a:latin typeface="Arial"/>
                <a:ea typeface="Arial"/>
                <a:cs typeface="Arial"/>
                <a:sym typeface="Arial"/>
              </a:rPr>
              <a:t>catch</a:t>
            </a:r>
            <a:r>
              <a:rPr b="0" i="0" lang="ca" sz="1700" u="none" cap="none" strike="noStrike">
                <a:solidFill>
                  <a:srgbClr val="000000"/>
                </a:solidFill>
                <a:latin typeface="Arial"/>
                <a:ea typeface="Arial"/>
                <a:cs typeface="Arial"/>
                <a:sym typeface="Arial"/>
              </a:rPr>
              <a:t> com excepcions diferents es volen capturar, segons la sintaxi següent: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323850" y="195262"/>
            <a:ext cx="7488300" cy="8574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Exceptions</a:t>
            </a:r>
            <a:endParaRPr b="1" sz="3600">
              <a:solidFill>
                <a:srgbClr val="339933"/>
              </a:solidFill>
              <a:latin typeface="Arial"/>
              <a:ea typeface="Arial"/>
              <a:cs typeface="Arial"/>
              <a:sym typeface="Arial"/>
            </a:endParaRPr>
          </a:p>
        </p:txBody>
      </p:sp>
      <p:sp>
        <p:nvSpPr>
          <p:cNvPr id="378" name="Google Shape;378;p39"/>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79" name="Google Shape;379;p39"/>
          <p:cNvSpPr txBox="1"/>
          <p:nvPr/>
        </p:nvSpPr>
        <p:spPr>
          <a:xfrm>
            <a:off x="190750" y="994828"/>
            <a:ext cx="8569200" cy="39147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ca" sz="1000" u="none" cap="none" strike="noStrike">
                <a:solidFill>
                  <a:srgbClr val="000000"/>
                </a:solidFill>
                <a:latin typeface="Arial"/>
                <a:ea typeface="Arial"/>
                <a:cs typeface="Arial"/>
                <a:sym typeface="Arial"/>
              </a:rPr>
              <a:t>try</a:t>
            </a:r>
            <a:r>
              <a:rPr b="0" i="0" lang="ca" sz="1000" u="none" cap="none" strike="noStrike">
                <a:solidFill>
                  <a:srgbClr val="000000"/>
                </a:solidFill>
                <a:latin typeface="Arial"/>
                <a:ea typeface="Arial"/>
                <a:cs typeface="Arial"/>
                <a:sym typeface="Arial"/>
              </a:rPr>
              <a:t> {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 Bloc de codi susceptible de llançar excepció</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ca" sz="1000" u="none" cap="none" strike="noStrike">
                <a:solidFill>
                  <a:srgbClr val="000000"/>
                </a:solidFill>
                <a:latin typeface="Arial"/>
                <a:ea typeface="Arial"/>
                <a:cs typeface="Arial"/>
                <a:sym typeface="Arial"/>
              </a:rPr>
              <a:t>catch</a:t>
            </a:r>
            <a:r>
              <a:rPr b="0" i="0" lang="ca" sz="1000" u="none" cap="none" strike="noStrike">
                <a:solidFill>
                  <a:srgbClr val="000000"/>
                </a:solidFill>
                <a:latin typeface="Arial"/>
                <a:ea typeface="Arial"/>
                <a:cs typeface="Arial"/>
                <a:sym typeface="Arial"/>
              </a:rPr>
              <a:t> (nomClasseExcepció1 e1)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 Codi si ocorr exepció nomClasseExcepció1</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ca" sz="1000" u="none" cap="none" strike="noStrike">
                <a:solidFill>
                  <a:srgbClr val="000000"/>
                </a:solidFill>
                <a:latin typeface="Arial"/>
                <a:ea typeface="Arial"/>
                <a:cs typeface="Arial"/>
                <a:sym typeface="Arial"/>
              </a:rPr>
              <a:t>catch</a:t>
            </a:r>
            <a:r>
              <a:rPr b="0" i="0" lang="ca" sz="1000" u="none" cap="none" strike="noStrike">
                <a:solidFill>
                  <a:srgbClr val="000000"/>
                </a:solidFill>
                <a:latin typeface="Arial"/>
                <a:ea typeface="Arial"/>
                <a:cs typeface="Arial"/>
                <a:sym typeface="Arial"/>
              </a:rPr>
              <a:t> (nomClasseExcepció2 e2) {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//Codi si ocorr exepció nomClasseExcepció2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//Es opcional</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r>
              <a:rPr b="1" i="0" lang="ca" sz="1000" u="none" cap="none" strike="noStrike">
                <a:solidFill>
                  <a:srgbClr val="000000"/>
                </a:solidFill>
                <a:latin typeface="Arial"/>
                <a:ea typeface="Arial"/>
                <a:cs typeface="Arial"/>
                <a:sym typeface="Arial"/>
              </a:rPr>
              <a:t>finally</a:t>
            </a: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//executa sempre, hagi o no hagi excepció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0"/>
          <p:cNvSpPr txBox="1"/>
          <p:nvPr>
            <p:ph type="title"/>
          </p:nvPr>
        </p:nvSpPr>
        <p:spPr>
          <a:xfrm>
            <a:off x="323850" y="195263"/>
            <a:ext cx="7488300" cy="7026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Exceptions</a:t>
            </a:r>
            <a:endParaRPr b="1" sz="3600">
              <a:solidFill>
                <a:srgbClr val="339933"/>
              </a:solidFill>
              <a:latin typeface="Arial"/>
              <a:ea typeface="Arial"/>
              <a:cs typeface="Arial"/>
              <a:sym typeface="Arial"/>
            </a:endParaRPr>
          </a:p>
        </p:txBody>
      </p:sp>
      <p:sp>
        <p:nvSpPr>
          <p:cNvPr id="385" name="Google Shape;385;p40"/>
          <p:cNvSpPr txBox="1"/>
          <p:nvPr>
            <p:ph idx="1" type="body"/>
          </p:nvPr>
        </p:nvSpPr>
        <p:spPr>
          <a:xfrm>
            <a:off x="468312" y="951309"/>
            <a:ext cx="8424900" cy="2538300"/>
          </a:xfrm>
          <a:prstGeom prst="rect">
            <a:avLst/>
          </a:prstGeom>
          <a:noFill/>
          <a:ln>
            <a:noFill/>
          </a:ln>
        </p:spPr>
        <p:txBody>
          <a:bodyPr anchorCtr="0" anchor="t" bIns="45700" lIns="45700" spcFirstLastPara="1" rIns="45700" wrap="square" tIns="45700">
            <a:normAutofit fontScale="85000"/>
          </a:bodyPr>
          <a:lstStyle/>
          <a:p>
            <a:pPr indent="0" lvl="0" marL="0" rtl="0" algn="l">
              <a:lnSpc>
                <a:spcPct val="100000"/>
              </a:lnSpc>
              <a:spcBef>
                <a:spcPts val="0"/>
              </a:spcBef>
              <a:spcAft>
                <a:spcPts val="0"/>
              </a:spcAft>
              <a:buClr>
                <a:srgbClr val="000000"/>
              </a:buClr>
              <a:buSzPct val="100000"/>
              <a:buFont typeface="Arial"/>
              <a:buNone/>
            </a:pPr>
            <a:r>
              <a:rPr lang="ca" sz="1800"/>
              <a:t>En produir-se un error/excepció dins el bloc try, la màquina virtual inicia un recorregut pels diferents blocs </a:t>
            </a:r>
            <a:r>
              <a:rPr b="1" lang="ca"/>
              <a:t>catch</a:t>
            </a:r>
            <a:r>
              <a:rPr lang="ca" sz="1800"/>
              <a:t> a la cerca del primer que cobreixi l’error produït i executa el codi que conté el bloc </a:t>
            </a:r>
            <a:r>
              <a:rPr b="1" lang="ca"/>
              <a:t>catch</a:t>
            </a:r>
            <a:r>
              <a:rPr lang="ca" sz="1800"/>
              <a:t>. Si no hi ha cap bloc </a:t>
            </a:r>
            <a:r>
              <a:rPr b="1" lang="ca"/>
              <a:t>catch</a:t>
            </a:r>
            <a:r>
              <a:rPr lang="ca" sz="1800"/>
              <a:t> que cobreixi l’error/excepció produït, la màquina virtual avorta el mètode llançant l’error/excepció al mètode que havia cridat el mètode actual. El bloc opcional finally s’executa sempre, s’hagi produït una excepció o no, i si s’ha produït, hagi estat capturada o no. Dins el bloc </a:t>
            </a:r>
            <a:r>
              <a:rPr b="1" lang="ca"/>
              <a:t>catch</a:t>
            </a:r>
            <a:r>
              <a:rPr lang="ca" sz="1800"/>
              <a:t> es té accés a l’objecte que la màquina virtual ha generat, corresponent a l’excepció produïda, i es disposa de mètodes per visualitzar la informació corresponent a l’error/excepció produïda.</a:t>
            </a:r>
            <a:endParaRPr/>
          </a:p>
          <a:p>
            <a:pPr indent="-342900" lvl="0" marL="342900" rtl="0" algn="l">
              <a:lnSpc>
                <a:spcPct val="100000"/>
              </a:lnSpc>
              <a:spcBef>
                <a:spcPts val="400"/>
              </a:spcBef>
              <a:spcAft>
                <a:spcPts val="0"/>
              </a:spcAft>
              <a:buClr>
                <a:srgbClr val="000000"/>
              </a:buClr>
              <a:buSzPct val="100000"/>
              <a:buFont typeface="Arial"/>
              <a:buNone/>
            </a:pPr>
            <a:r>
              <a:rPr lang="ca" sz="1800"/>
              <a:t>Java contempla un llistat d'excepcions, també tenim la possibilitat de crear-ne de noves.</a:t>
            </a:r>
            <a:endParaRPr/>
          </a:p>
        </p:txBody>
      </p:sp>
      <p:sp>
        <p:nvSpPr>
          <p:cNvPr id="386" name="Google Shape;386;p40"/>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87" name="Google Shape;387;p40"/>
          <p:cNvSpPr txBox="1"/>
          <p:nvPr/>
        </p:nvSpPr>
        <p:spPr>
          <a:xfrm>
            <a:off x="1962600" y="3252325"/>
            <a:ext cx="4210800" cy="16572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ca" sz="1000" u="none" cap="none" strike="noStrike">
                <a:solidFill>
                  <a:srgbClr val="000000"/>
                </a:solidFill>
                <a:latin typeface="Arial"/>
                <a:ea typeface="Arial"/>
                <a:cs typeface="Arial"/>
                <a:sym typeface="Arial"/>
              </a:rPr>
              <a:t>try</a:t>
            </a:r>
            <a:r>
              <a:rPr b="0" i="0" lang="ca" sz="1000" u="none" cap="none" strike="noStrike">
                <a:solidFill>
                  <a:srgbClr val="000000"/>
                </a:solidFill>
                <a:latin typeface="Arial"/>
                <a:ea typeface="Arial"/>
                <a:cs typeface="Arial"/>
                <a:sym typeface="Arial"/>
              </a:rPr>
              <a:t> {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 Bloc de codi susceptible de llançar excepció</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1" i="0" lang="ca" sz="1000" u="none" cap="none" strike="noStrike">
                <a:solidFill>
                  <a:srgbClr val="000000"/>
                </a:solidFill>
                <a:latin typeface="Arial"/>
                <a:ea typeface="Arial"/>
                <a:cs typeface="Arial"/>
                <a:sym typeface="Arial"/>
              </a:rPr>
              <a:t>catch</a:t>
            </a:r>
            <a:r>
              <a:rPr b="0" i="0" lang="ca" sz="1000" u="none" cap="none" strike="noStrike">
                <a:solidFill>
                  <a:srgbClr val="000000"/>
                </a:solidFill>
                <a:latin typeface="Arial"/>
                <a:ea typeface="Arial"/>
                <a:cs typeface="Arial"/>
                <a:sym typeface="Arial"/>
              </a:rPr>
              <a:t> (Exception e)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 Si ocorr </a:t>
            </a:r>
            <a:r>
              <a:rPr b="1" i="0" lang="ca" sz="1000" u="none" cap="none" strike="noStrike">
                <a:solidFill>
                  <a:srgbClr val="000000"/>
                </a:solidFill>
                <a:latin typeface="Arial"/>
                <a:ea typeface="Arial"/>
                <a:cs typeface="Arial"/>
                <a:sym typeface="Arial"/>
              </a:rPr>
              <a:t>qualsevol exepció</a:t>
            </a:r>
            <a:endParaRPr b="1"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1"/>
          <p:cNvSpPr txBox="1"/>
          <p:nvPr>
            <p:ph type="title"/>
          </p:nvPr>
        </p:nvSpPr>
        <p:spPr>
          <a:xfrm>
            <a:off x="323850" y="195263"/>
            <a:ext cx="7488300" cy="7026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Exceptions</a:t>
            </a:r>
            <a:endParaRPr/>
          </a:p>
        </p:txBody>
      </p:sp>
      <p:sp>
        <p:nvSpPr>
          <p:cNvPr id="393" name="Google Shape;393;p41"/>
          <p:cNvSpPr txBox="1"/>
          <p:nvPr>
            <p:ph idx="1" type="body"/>
          </p:nvPr>
        </p:nvSpPr>
        <p:spPr>
          <a:xfrm>
            <a:off x="468312" y="951309"/>
            <a:ext cx="8424900" cy="270300"/>
          </a:xfrm>
          <a:prstGeom prst="rect">
            <a:avLst/>
          </a:prstGeom>
          <a:noFill/>
          <a:ln>
            <a:noFill/>
          </a:ln>
        </p:spPr>
        <p:txBody>
          <a:bodyPr anchorCtr="0" anchor="t" bIns="45700" lIns="45700" spcFirstLastPara="1" rIns="45700" wrap="square" tIns="45700">
            <a:normAutofit lnSpcReduction="20000"/>
          </a:bodyPr>
          <a:lstStyle/>
          <a:p>
            <a:pPr indent="-342900" lvl="0" marL="342900" marR="0" rtl="0" algn="l">
              <a:lnSpc>
                <a:spcPct val="80000"/>
              </a:lnSpc>
              <a:spcBef>
                <a:spcPts val="0"/>
              </a:spcBef>
              <a:spcAft>
                <a:spcPts val="0"/>
              </a:spcAft>
              <a:buClr>
                <a:srgbClr val="000000"/>
              </a:buClr>
              <a:buSzPts val="1800"/>
              <a:buFont typeface="Arial"/>
              <a:buNone/>
            </a:pPr>
            <a:r>
              <a:rPr lang="ca" sz="1800"/>
              <a:t>Exemple:</a:t>
            </a:r>
            <a:endParaRPr/>
          </a:p>
        </p:txBody>
      </p:sp>
      <p:sp>
        <p:nvSpPr>
          <p:cNvPr id="394" name="Google Shape;394;p41"/>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
        <p:nvSpPr>
          <p:cNvPr id="395" name="Google Shape;395;p41"/>
          <p:cNvSpPr txBox="1"/>
          <p:nvPr/>
        </p:nvSpPr>
        <p:spPr>
          <a:xfrm>
            <a:off x="642862" y="1191906"/>
            <a:ext cx="7526400" cy="3504300"/>
          </a:xfrm>
          <a:prstGeom prst="rect">
            <a:avLst/>
          </a:prstGeom>
          <a:solidFill>
            <a:srgbClr val="C0C0C0"/>
          </a:solid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rtl="0" algn="l">
              <a:spcBef>
                <a:spcPts val="1000"/>
              </a:spcBef>
              <a:spcAft>
                <a:spcPts val="0"/>
              </a:spcAft>
              <a:buClr>
                <a:srgbClr val="000000"/>
              </a:buClr>
              <a:buSzPts val="1800"/>
              <a:buFont typeface="Arial"/>
              <a:buNone/>
            </a:pPr>
            <a:r>
              <a:t/>
            </a:r>
            <a:endParaRPr sz="1000"/>
          </a:p>
          <a:p>
            <a:pPr indent="0" lvl="0" marL="0" marR="0" rtl="0" algn="l">
              <a:lnSpc>
                <a:spcPct val="100000"/>
              </a:lnSpc>
              <a:spcBef>
                <a:spcPts val="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int num1, num2;</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try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num1 = 0;</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num2 = 62 / num1;</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System.out.println(“Final Try");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catch (ArithmeticException e)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//Imprimeix per consola el missatge de l’exepció</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ex.printStackTrace();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System.out.println("Error: No es pot dividir entre 0");</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finally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	System.out.println(“Bloc finally");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ca"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2"/>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marR="0" rtl="0" algn="ctr">
              <a:lnSpc>
                <a:spcPct val="100000"/>
              </a:lnSpc>
              <a:spcBef>
                <a:spcPts val="0"/>
              </a:spcBef>
              <a:spcAft>
                <a:spcPts val="0"/>
              </a:spcAft>
              <a:buClr>
                <a:srgbClr val="339933"/>
              </a:buClr>
              <a:buSzPts val="3200"/>
              <a:buFont typeface="Arial"/>
              <a:buNone/>
            </a:pPr>
            <a:r>
              <a:rPr b="1" lang="ca" sz="3600">
                <a:solidFill>
                  <a:srgbClr val="339933"/>
                </a:solidFill>
                <a:latin typeface="Arial"/>
                <a:ea typeface="Arial"/>
                <a:cs typeface="Arial"/>
                <a:sym typeface="Arial"/>
              </a:rPr>
              <a:t>6. Prova i depuració</a:t>
            </a:r>
            <a:endParaRPr b="1" sz="3600">
              <a:solidFill>
                <a:srgbClr val="339933"/>
              </a:solidFill>
              <a:latin typeface="Arial"/>
              <a:ea typeface="Arial"/>
              <a:cs typeface="Arial"/>
              <a:sym typeface="Arial"/>
            </a:endParaRPr>
          </a:p>
        </p:txBody>
      </p:sp>
      <p:sp>
        <p:nvSpPr>
          <p:cNvPr id="401" name="Google Shape;401;p42"/>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a:bodyPr>
          <a:lstStyle/>
          <a:p>
            <a:pPr indent="0" lvl="0" marL="0" rtl="0" algn="ctr">
              <a:lnSpc>
                <a:spcPct val="80000"/>
              </a:lnSpc>
              <a:spcBef>
                <a:spcPts val="0"/>
              </a:spcBef>
              <a:spcAft>
                <a:spcPts val="0"/>
              </a:spcAft>
              <a:buClr>
                <a:srgbClr val="000000"/>
              </a:buClr>
              <a:buSzPts val="1800"/>
              <a:buFont typeface="Arial"/>
              <a:buNone/>
            </a:pPr>
            <a:r>
              <a:rPr lang="ca" sz="1700"/>
              <a:t>Les </a:t>
            </a:r>
            <a:r>
              <a:rPr b="1" lang="ca" sz="1700"/>
              <a:t>proves de software o testing</a:t>
            </a:r>
            <a:r>
              <a:rPr lang="ca" sz="1700"/>
              <a:t> són aquell conjunt de processos que permeten </a:t>
            </a:r>
            <a:r>
              <a:rPr b="1" lang="ca" sz="1700"/>
              <a:t>verificar i validar la qualitat </a:t>
            </a:r>
            <a:r>
              <a:rPr lang="ca" sz="1700"/>
              <a:t>d’un producte software identificant errors de disseny i implementació.</a:t>
            </a:r>
            <a:endParaRPr sz="1700"/>
          </a:p>
          <a:p>
            <a:pPr indent="0" lvl="0" marL="0" rtl="0" algn="ctr">
              <a:lnSpc>
                <a:spcPct val="80000"/>
              </a:lnSpc>
              <a:spcBef>
                <a:spcPts val="1000"/>
              </a:spcBef>
              <a:spcAft>
                <a:spcPts val="0"/>
              </a:spcAft>
              <a:buClr>
                <a:srgbClr val="000000"/>
              </a:buClr>
              <a:buSzPts val="1800"/>
              <a:buFont typeface="Arial"/>
              <a:buNone/>
            </a:pPr>
            <a:r>
              <a:rPr lang="ca" sz="1700"/>
              <a:t>Formen part del cicle de software i habitualment s’inicien quan comença el desenvolupament i duren fins que aquest acaba.</a:t>
            </a:r>
            <a:endParaRPr sz="1700"/>
          </a:p>
          <a:p>
            <a:pPr indent="0" lvl="0" marL="0" rtl="0" algn="ctr">
              <a:lnSpc>
                <a:spcPct val="80000"/>
              </a:lnSpc>
              <a:spcBef>
                <a:spcPts val="1000"/>
              </a:spcBef>
              <a:spcAft>
                <a:spcPts val="0"/>
              </a:spcAft>
              <a:buClr>
                <a:srgbClr val="000000"/>
              </a:buClr>
              <a:buSzPts val="1800"/>
              <a:buFont typeface="Arial"/>
              <a:buNone/>
            </a:pPr>
            <a:r>
              <a:rPr lang="ca" sz="1700"/>
              <a:t>Idealment les proves s’han de planificar a través del plan de proves que detallarà totes i cada una de les proves que s’ha de realitzar sobre els diferents components o elements que formen el software. Aquest pla contindrà la descripció de cada prova i quin resultat s’espera.</a:t>
            </a:r>
            <a:endParaRPr sz="1700"/>
          </a:p>
          <a:p>
            <a:pPr indent="0" lvl="0" marL="0" rtl="0" algn="ctr">
              <a:lnSpc>
                <a:spcPct val="80000"/>
              </a:lnSpc>
              <a:spcBef>
                <a:spcPts val="1000"/>
              </a:spcBef>
              <a:spcAft>
                <a:spcPts val="0"/>
              </a:spcAft>
              <a:buClr>
                <a:srgbClr val="000000"/>
              </a:buClr>
              <a:buSzPts val="1800"/>
              <a:buFont typeface="Arial"/>
              <a:buNone/>
            </a:pPr>
            <a:r>
              <a:rPr lang="ca" sz="1700"/>
              <a:t>D’aquesta manera se podran detectar tant els </a:t>
            </a:r>
            <a:r>
              <a:rPr b="1" lang="ca" sz="1700"/>
              <a:t>error de programació o bugs</a:t>
            </a:r>
            <a:r>
              <a:rPr lang="ca" sz="1700"/>
              <a:t> (errors en la semàntica del codi de l’aplicació en el llenguatge que se programa) com els denominats </a:t>
            </a:r>
            <a:r>
              <a:rPr b="1" lang="ca" sz="1700"/>
              <a:t>defectes de forma </a:t>
            </a:r>
            <a:r>
              <a:rPr lang="ca" sz="1700"/>
              <a:t>(que el programa o elements en qüestió no realitza la funció esperada).</a:t>
            </a:r>
            <a:endParaRPr sz="1700"/>
          </a:p>
        </p:txBody>
      </p:sp>
      <p:sp>
        <p:nvSpPr>
          <p:cNvPr id="402" name="Google Shape;402;p42"/>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3"/>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Prova i depuració</a:t>
            </a:r>
            <a:endParaRPr/>
          </a:p>
        </p:txBody>
      </p:sp>
      <p:sp>
        <p:nvSpPr>
          <p:cNvPr id="408" name="Google Shape;408;p43"/>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100000"/>
              </a:lnSpc>
              <a:spcBef>
                <a:spcPts val="0"/>
              </a:spcBef>
              <a:spcAft>
                <a:spcPts val="0"/>
              </a:spcAft>
              <a:buClr>
                <a:srgbClr val="000000"/>
              </a:buClr>
              <a:buSzPts val="1800"/>
              <a:buFont typeface="Arial"/>
              <a:buNone/>
            </a:pPr>
            <a:r>
              <a:rPr b="1" lang="ca" sz="1800" u="sng"/>
              <a:t>Principals motius dels errors en el software:</a:t>
            </a:r>
            <a:endParaRPr/>
          </a:p>
          <a:p>
            <a:pPr indent="-180473" lvl="0" marL="180473" rtl="0" algn="l">
              <a:lnSpc>
                <a:spcPct val="100000"/>
              </a:lnSpc>
              <a:spcBef>
                <a:spcPts val="1000"/>
              </a:spcBef>
              <a:spcAft>
                <a:spcPts val="0"/>
              </a:spcAft>
              <a:buClr>
                <a:srgbClr val="000000"/>
              </a:buClr>
              <a:buSzPts val="1800"/>
              <a:buFont typeface="Arial"/>
              <a:buChar char="•"/>
            </a:pPr>
            <a:r>
              <a:rPr lang="ca" sz="1800"/>
              <a:t>Falta de comunicació entre l’equip de desenvolupament (client, analistes, dissenyadors, programadors, etc.)</a:t>
            </a:r>
            <a:endParaRPr/>
          </a:p>
          <a:p>
            <a:pPr indent="-180473" lvl="0" marL="180473" rtl="0" algn="l">
              <a:lnSpc>
                <a:spcPct val="100000"/>
              </a:lnSpc>
              <a:spcBef>
                <a:spcPts val="1000"/>
              </a:spcBef>
              <a:spcAft>
                <a:spcPts val="0"/>
              </a:spcAft>
              <a:buClr>
                <a:srgbClr val="000000"/>
              </a:buClr>
              <a:buSzPts val="1800"/>
              <a:buFont typeface="Arial"/>
              <a:buChar char="•"/>
            </a:pPr>
            <a:r>
              <a:rPr lang="ca" sz="1800"/>
              <a:t>Complexitat del software, amb poca reutilització de codi.</a:t>
            </a:r>
            <a:endParaRPr/>
          </a:p>
          <a:p>
            <a:pPr indent="-180473" lvl="0" marL="180473" rtl="0" algn="l">
              <a:lnSpc>
                <a:spcPct val="100000"/>
              </a:lnSpc>
              <a:spcBef>
                <a:spcPts val="1000"/>
              </a:spcBef>
              <a:spcAft>
                <a:spcPts val="0"/>
              </a:spcAft>
              <a:buClr>
                <a:srgbClr val="000000"/>
              </a:buClr>
              <a:buSzPts val="1800"/>
              <a:buFont typeface="Arial"/>
              <a:buChar char="•"/>
            </a:pPr>
            <a:r>
              <a:rPr lang="ca" sz="1800"/>
              <a:t>Errors de programació. Normalment provocats per un excés de confiança dels programadors o per la trivialització del problema a resoldre.</a:t>
            </a:r>
            <a:endParaRPr/>
          </a:p>
          <a:p>
            <a:pPr indent="-180473" lvl="0" marL="180473" rtl="0" algn="l">
              <a:lnSpc>
                <a:spcPct val="100000"/>
              </a:lnSpc>
              <a:spcBef>
                <a:spcPts val="1000"/>
              </a:spcBef>
              <a:spcAft>
                <a:spcPts val="0"/>
              </a:spcAft>
              <a:buClr>
                <a:srgbClr val="000000"/>
              </a:buClr>
              <a:buSzPts val="1800"/>
              <a:buFont typeface="Arial"/>
              <a:buChar char="•"/>
            </a:pPr>
            <a:r>
              <a:rPr lang="ca" sz="1800"/>
              <a:t>Canvis continus dels requeriments durant el desenvolupament.</a:t>
            </a:r>
            <a:endParaRPr/>
          </a:p>
          <a:p>
            <a:pPr indent="-180473" lvl="0" marL="180473" rtl="0" algn="l">
              <a:lnSpc>
                <a:spcPct val="100000"/>
              </a:lnSpc>
              <a:spcBef>
                <a:spcPts val="1000"/>
              </a:spcBef>
              <a:spcAft>
                <a:spcPts val="0"/>
              </a:spcAft>
              <a:buClr>
                <a:srgbClr val="000000"/>
              </a:buClr>
              <a:buSzPts val="1800"/>
              <a:buFont typeface="Arial"/>
              <a:buChar char="•"/>
            </a:pPr>
            <a:r>
              <a:rPr lang="ca" sz="1800"/>
              <a:t>Pressió per assolir fites de temps. Normalment </a:t>
            </a:r>
            <a:r>
              <a:rPr lang="ca"/>
              <a:t>es</a:t>
            </a:r>
            <a:r>
              <a:rPr lang="ca" sz="1800"/>
              <a:t> retalla la fase de proves.</a:t>
            </a:r>
            <a:endParaRPr/>
          </a:p>
          <a:p>
            <a:pPr indent="-180473" lvl="0" marL="180473" rtl="0" algn="l">
              <a:lnSpc>
                <a:spcPct val="100000"/>
              </a:lnSpc>
              <a:spcBef>
                <a:spcPts val="1000"/>
              </a:spcBef>
              <a:spcAft>
                <a:spcPts val="0"/>
              </a:spcAft>
              <a:buClr>
                <a:srgbClr val="000000"/>
              </a:buClr>
              <a:buSzPts val="1800"/>
              <a:buFont typeface="Arial"/>
              <a:buChar char="•"/>
            </a:pPr>
            <a:r>
              <a:rPr lang="ca" sz="1800"/>
              <a:t>Pobre i deficient documentació del codi que provoca una dificultat molt gran en la motificació del codi.</a:t>
            </a:r>
            <a:endParaRPr/>
          </a:p>
        </p:txBody>
      </p:sp>
      <p:sp>
        <p:nvSpPr>
          <p:cNvPr id="409" name="Google Shape;409;p43"/>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4"/>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Prova i depuració</a:t>
            </a:r>
            <a:endParaRPr/>
          </a:p>
        </p:txBody>
      </p:sp>
      <p:sp>
        <p:nvSpPr>
          <p:cNvPr id="415" name="Google Shape;415;p44"/>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fontScale="85000" lnSpcReduction="10000"/>
          </a:bodyPr>
          <a:lstStyle/>
          <a:p>
            <a:pPr indent="0" lvl="0" marL="0" rtl="0" algn="l">
              <a:lnSpc>
                <a:spcPct val="100000"/>
              </a:lnSpc>
              <a:spcBef>
                <a:spcPts val="0"/>
              </a:spcBef>
              <a:spcAft>
                <a:spcPts val="0"/>
              </a:spcAft>
              <a:buClr>
                <a:srgbClr val="000000"/>
              </a:buClr>
              <a:buSzPct val="100000"/>
              <a:buFont typeface="Arial"/>
              <a:buNone/>
            </a:pPr>
            <a:r>
              <a:rPr lang="ca" sz="1800"/>
              <a:t>Les proves </a:t>
            </a:r>
            <a:r>
              <a:rPr lang="ca" sz="1800" u="sng"/>
              <a:t>mai han de ser executades en un entorn d’explotació (o producció)</a:t>
            </a:r>
            <a:r>
              <a:rPr lang="ca" sz="1800"/>
              <a:t>.</a:t>
            </a:r>
            <a:endParaRPr/>
          </a:p>
          <a:p>
            <a:pPr indent="0" lvl="0" marL="0" rtl="0" algn="l">
              <a:lnSpc>
                <a:spcPct val="100000"/>
              </a:lnSpc>
              <a:spcBef>
                <a:spcPts val="1000"/>
              </a:spcBef>
              <a:spcAft>
                <a:spcPts val="0"/>
              </a:spcAft>
              <a:buClr>
                <a:srgbClr val="000000"/>
              </a:buClr>
              <a:buSzPct val="100000"/>
              <a:buFont typeface="Arial"/>
              <a:buNone/>
            </a:pPr>
            <a:r>
              <a:rPr lang="ca" sz="1800"/>
              <a:t>Habitualment en tot desenvolupament de software hi han d’haver tres entorns:</a:t>
            </a:r>
            <a:endParaRPr/>
          </a:p>
          <a:p>
            <a:pPr indent="-163327" lvl="0" marL="180473" rtl="0" algn="l">
              <a:lnSpc>
                <a:spcPct val="100000"/>
              </a:lnSpc>
              <a:spcBef>
                <a:spcPts val="1000"/>
              </a:spcBef>
              <a:spcAft>
                <a:spcPts val="0"/>
              </a:spcAft>
              <a:buClr>
                <a:srgbClr val="000000"/>
              </a:buClr>
              <a:buSzPct val="100000"/>
              <a:buFont typeface="Arial"/>
              <a:buChar char="•"/>
            </a:pPr>
            <a:r>
              <a:rPr lang="ca" sz="1800"/>
              <a:t>Entorn de </a:t>
            </a:r>
            <a:r>
              <a:rPr b="1" lang="ca" sz="1800"/>
              <a:t>desenvolupament</a:t>
            </a:r>
            <a:endParaRPr b="1"/>
          </a:p>
          <a:p>
            <a:pPr indent="-163327" lvl="0" marL="180473" rtl="0" algn="l">
              <a:lnSpc>
                <a:spcPct val="100000"/>
              </a:lnSpc>
              <a:spcBef>
                <a:spcPts val="1000"/>
              </a:spcBef>
              <a:spcAft>
                <a:spcPts val="0"/>
              </a:spcAft>
              <a:buClr>
                <a:srgbClr val="000000"/>
              </a:buClr>
              <a:buSzPct val="100000"/>
              <a:buFont typeface="Arial"/>
              <a:buChar char="•"/>
            </a:pPr>
            <a:r>
              <a:rPr lang="ca" sz="1800"/>
              <a:t>Entorn </a:t>
            </a:r>
            <a:r>
              <a:rPr b="1" lang="ca" sz="1800"/>
              <a:t>d’integració o test</a:t>
            </a:r>
            <a:endParaRPr b="1"/>
          </a:p>
          <a:p>
            <a:pPr indent="-163327" lvl="0" marL="180473" rtl="0" algn="l">
              <a:lnSpc>
                <a:spcPct val="100000"/>
              </a:lnSpc>
              <a:spcBef>
                <a:spcPts val="1000"/>
              </a:spcBef>
              <a:spcAft>
                <a:spcPts val="0"/>
              </a:spcAft>
              <a:buClr>
                <a:srgbClr val="000000"/>
              </a:buClr>
              <a:buSzPct val="100000"/>
              <a:buFont typeface="Arial"/>
              <a:buChar char="•"/>
            </a:pPr>
            <a:r>
              <a:rPr lang="ca" sz="1800"/>
              <a:t>Entorn de </a:t>
            </a:r>
            <a:r>
              <a:rPr b="1" lang="ca" sz="1800"/>
              <a:t>producció o explotació</a:t>
            </a:r>
            <a:endParaRPr b="1"/>
          </a:p>
          <a:p>
            <a:pPr indent="0" lvl="0" marL="0" rtl="0" algn="l">
              <a:lnSpc>
                <a:spcPct val="100000"/>
              </a:lnSpc>
              <a:spcBef>
                <a:spcPts val="1000"/>
              </a:spcBef>
              <a:spcAft>
                <a:spcPts val="0"/>
              </a:spcAft>
              <a:buClr>
                <a:srgbClr val="000000"/>
              </a:buClr>
              <a:buSzPct val="100000"/>
              <a:buFont typeface="Arial"/>
              <a:buNone/>
            </a:pPr>
            <a:r>
              <a:rPr lang="ca" sz="1800"/>
              <a:t>L’entorn de desenvolupament és el lloc on es realitzen els desenvolupaments de forma aïllada sobre el conjunt de tot el producte. S’hi realitzen proves unitàries.</a:t>
            </a:r>
            <a:endParaRPr/>
          </a:p>
          <a:p>
            <a:pPr indent="0" lvl="0" marL="0" rtl="0" algn="l">
              <a:lnSpc>
                <a:spcPct val="100000"/>
              </a:lnSpc>
              <a:spcBef>
                <a:spcPts val="1000"/>
              </a:spcBef>
              <a:spcAft>
                <a:spcPts val="0"/>
              </a:spcAft>
              <a:buClr>
                <a:srgbClr val="000000"/>
              </a:buClr>
              <a:buSzPct val="100000"/>
              <a:buFont typeface="Arial"/>
              <a:buNone/>
            </a:pPr>
            <a:r>
              <a:rPr lang="ca" sz="1800"/>
              <a:t>A l’entorn d’integració és allà on es junten totes les “peces” per poder realitzar les proves completes. Aquest entorn sol ser de característiques idèntiques a l’entorn de producció però sense dades reals.</a:t>
            </a:r>
            <a:endParaRPr/>
          </a:p>
          <a:p>
            <a:pPr indent="0" lvl="0" marL="0" rtl="0" algn="l">
              <a:lnSpc>
                <a:spcPct val="100000"/>
              </a:lnSpc>
              <a:spcBef>
                <a:spcPts val="1000"/>
              </a:spcBef>
              <a:spcAft>
                <a:spcPts val="0"/>
              </a:spcAft>
              <a:buClr>
                <a:srgbClr val="000000"/>
              </a:buClr>
              <a:buSzPct val="100000"/>
              <a:buFont typeface="Arial"/>
              <a:buNone/>
            </a:pPr>
            <a:r>
              <a:rPr lang="ca" sz="1800"/>
              <a:t>L’entorn de producció és allà on el software complet se posa en funcionament (o explotació). </a:t>
            </a:r>
            <a:endParaRPr/>
          </a:p>
        </p:txBody>
      </p:sp>
      <p:sp>
        <p:nvSpPr>
          <p:cNvPr id="416" name="Google Shape;416;p44"/>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5"/>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Prova i depuració</a:t>
            </a:r>
            <a:endParaRPr/>
          </a:p>
        </p:txBody>
      </p:sp>
      <p:sp>
        <p:nvSpPr>
          <p:cNvPr id="422" name="Google Shape;422;p45"/>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100000"/>
              </a:lnSpc>
              <a:spcBef>
                <a:spcPts val="0"/>
              </a:spcBef>
              <a:spcAft>
                <a:spcPts val="0"/>
              </a:spcAft>
              <a:buClr>
                <a:srgbClr val="000000"/>
              </a:buClr>
              <a:buSzPts val="1800"/>
              <a:buFont typeface="Arial"/>
              <a:buNone/>
            </a:pPr>
            <a:r>
              <a:rPr b="1" lang="ca" sz="1800" u="sng"/>
              <a:t>Tipus de proves:</a:t>
            </a:r>
            <a:endParaRPr/>
          </a:p>
          <a:p>
            <a:pPr indent="-180473" lvl="0" marL="180473" rtl="0" algn="l">
              <a:lnSpc>
                <a:spcPct val="100000"/>
              </a:lnSpc>
              <a:spcBef>
                <a:spcPts val="1000"/>
              </a:spcBef>
              <a:spcAft>
                <a:spcPts val="0"/>
              </a:spcAft>
              <a:buClr>
                <a:srgbClr val="000000"/>
              </a:buClr>
              <a:buSzPts val="1800"/>
              <a:buFont typeface="Arial"/>
              <a:buChar char="•"/>
            </a:pPr>
            <a:r>
              <a:rPr b="1" lang="ca" sz="1800"/>
              <a:t>Verificació</a:t>
            </a:r>
            <a:r>
              <a:rPr b="0" lang="ca"/>
              <a:t>: consisteixen en provar o demostrar que el programa compleix les seves especificacions. Tracta de donar resposta a la pregunta: </a:t>
            </a:r>
            <a:r>
              <a:rPr b="0" i="1" lang="ca" u="sng"/>
              <a:t>Està el producte correctament construït?</a:t>
            </a:r>
            <a:endParaRPr b="0" i="1" u="sng"/>
          </a:p>
          <a:p>
            <a:pPr indent="228600" lvl="1" marL="0" rtl="0" algn="ctr">
              <a:lnSpc>
                <a:spcPct val="100000"/>
              </a:lnSpc>
              <a:spcBef>
                <a:spcPts val="1000"/>
              </a:spcBef>
              <a:spcAft>
                <a:spcPts val="0"/>
              </a:spcAft>
              <a:buClr>
                <a:srgbClr val="000000"/>
              </a:buClr>
              <a:buSzPts val="1800"/>
              <a:buFont typeface="Arial"/>
              <a:buNone/>
            </a:pPr>
            <a:r>
              <a:rPr b="0" lang="ca"/>
              <a:t>Normalment es realitzen entrevistes amb els usuaris per a revisar i avaluar els requeriments i especificacions fixades.</a:t>
            </a:r>
            <a:endParaRPr b="0"/>
          </a:p>
          <a:p>
            <a:pPr indent="228600" lvl="1" marL="0" rtl="0" algn="ctr">
              <a:lnSpc>
                <a:spcPct val="100000"/>
              </a:lnSpc>
              <a:spcBef>
                <a:spcPts val="1000"/>
              </a:spcBef>
              <a:spcAft>
                <a:spcPts val="0"/>
              </a:spcAft>
              <a:buClr>
                <a:srgbClr val="000000"/>
              </a:buClr>
              <a:buSzPts val="1800"/>
              <a:buFont typeface="Arial"/>
              <a:buNone/>
            </a:pPr>
            <a:r>
              <a:t/>
            </a:r>
            <a:endParaRPr/>
          </a:p>
          <a:p>
            <a:pPr indent="-180473" lvl="0" marL="180473" rtl="0" algn="l">
              <a:lnSpc>
                <a:spcPct val="100000"/>
              </a:lnSpc>
              <a:spcBef>
                <a:spcPts val="1000"/>
              </a:spcBef>
              <a:spcAft>
                <a:spcPts val="0"/>
              </a:spcAft>
              <a:buClr>
                <a:srgbClr val="000000"/>
              </a:buClr>
              <a:buSzPts val="1800"/>
              <a:buFont typeface="Arial"/>
              <a:buChar char="•"/>
            </a:pPr>
            <a:r>
              <a:rPr b="1" lang="ca" sz="1800"/>
              <a:t>Validació</a:t>
            </a:r>
            <a:r>
              <a:rPr b="0" lang="ca"/>
              <a:t>: Se cuiden de comprovar que el programa dona la resposta que l’usuari espera. Se centra en la comprovació dels requeriments del software. Intenta donar resposta a la pregunta: </a:t>
            </a:r>
            <a:r>
              <a:rPr b="0" i="1" lang="ca" u="sng"/>
              <a:t>El producte construït és correcte?</a:t>
            </a:r>
            <a:endParaRPr b="0" i="1" u="sng"/>
          </a:p>
          <a:p>
            <a:pPr indent="0" lvl="0" marL="0" rtl="0" algn="ctr">
              <a:lnSpc>
                <a:spcPct val="100000"/>
              </a:lnSpc>
              <a:spcBef>
                <a:spcPts val="1000"/>
              </a:spcBef>
              <a:spcAft>
                <a:spcPts val="0"/>
              </a:spcAft>
              <a:buClr>
                <a:srgbClr val="000000"/>
              </a:buClr>
              <a:buSzPts val="1600"/>
              <a:buFont typeface="Arial"/>
              <a:buNone/>
            </a:pPr>
            <a:r>
              <a:rPr lang="ca" sz="1400"/>
              <a:t>Estratègia beta testing o preview release</a:t>
            </a:r>
            <a:endParaRPr/>
          </a:p>
        </p:txBody>
      </p:sp>
      <p:sp>
        <p:nvSpPr>
          <p:cNvPr id="423" name="Google Shape;423;p45"/>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6"/>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lang="ca" sz="3600">
                <a:solidFill>
                  <a:srgbClr val="339933"/>
                </a:solidFill>
                <a:latin typeface="Arial"/>
                <a:ea typeface="Arial"/>
                <a:cs typeface="Arial"/>
                <a:sym typeface="Arial"/>
              </a:rPr>
              <a:t>7. </a:t>
            </a:r>
            <a:r>
              <a:rPr b="1" i="0" lang="ca" sz="3600" u="none" cap="none" strike="noStrike">
                <a:solidFill>
                  <a:srgbClr val="339933"/>
                </a:solidFill>
                <a:latin typeface="Arial"/>
                <a:ea typeface="Arial"/>
                <a:cs typeface="Arial"/>
                <a:sym typeface="Arial"/>
              </a:rPr>
              <a:t>Documentació</a:t>
            </a:r>
            <a:endParaRPr/>
          </a:p>
        </p:txBody>
      </p:sp>
      <p:sp>
        <p:nvSpPr>
          <p:cNvPr id="429" name="Google Shape;429;p46"/>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a:bodyPr>
          <a:lstStyle/>
          <a:p>
            <a:pPr indent="0" lvl="0" marL="0" rtl="0" algn="l">
              <a:lnSpc>
                <a:spcPct val="100000"/>
              </a:lnSpc>
              <a:spcBef>
                <a:spcPts val="0"/>
              </a:spcBef>
              <a:spcAft>
                <a:spcPts val="0"/>
              </a:spcAft>
              <a:buClr>
                <a:srgbClr val="000000"/>
              </a:buClr>
              <a:buSzPts val="1800"/>
              <a:buFont typeface="Arial"/>
              <a:buNone/>
            </a:pPr>
            <a:r>
              <a:rPr b="1" lang="ca" sz="2000"/>
              <a:t>La documentació és tot aquell conjunt de manuals i qualsevol altra informació descriptiva que expliqui una aplicació informàtica o programa.</a:t>
            </a:r>
            <a:endParaRPr sz="2000"/>
          </a:p>
          <a:p>
            <a:pPr indent="0" lvl="0" marL="0" rtl="0" algn="l">
              <a:lnSpc>
                <a:spcPct val="100000"/>
              </a:lnSpc>
              <a:spcBef>
                <a:spcPts val="1000"/>
              </a:spcBef>
              <a:spcAft>
                <a:spcPts val="0"/>
              </a:spcAft>
              <a:buClr>
                <a:srgbClr val="000000"/>
              </a:buClr>
              <a:buSzPts val="1800"/>
              <a:buFont typeface="Arial"/>
              <a:buNone/>
            </a:pPr>
            <a:r>
              <a:rPr lang="ca" sz="2000"/>
              <a:t>La documentació haurà de cobrir la vessant tècnica (informació pels informàtics) i la vessant funcional (informació per tothom, especialment pels usuaris).</a:t>
            </a:r>
            <a:endParaRPr sz="2000"/>
          </a:p>
          <a:p>
            <a:pPr indent="0" lvl="0" marL="0" rtl="0" algn="l">
              <a:lnSpc>
                <a:spcPct val="100000"/>
              </a:lnSpc>
              <a:spcBef>
                <a:spcPts val="1000"/>
              </a:spcBef>
              <a:spcAft>
                <a:spcPts val="0"/>
              </a:spcAft>
              <a:buClr>
                <a:srgbClr val="000000"/>
              </a:buClr>
              <a:buSzPts val="1800"/>
              <a:buFont typeface="Arial"/>
              <a:buNone/>
            </a:pPr>
            <a:r>
              <a:rPr lang="ca" sz="2000"/>
              <a:t>La procés de documentació és fonamental en qualsevol projecte de desenvolupament i comença des del mateix inici del projecte i se perllonga una vegada el sistema ja està en funcionament.</a:t>
            </a:r>
            <a:endParaRPr sz="2000"/>
          </a:p>
        </p:txBody>
      </p:sp>
      <p:sp>
        <p:nvSpPr>
          <p:cNvPr id="430" name="Google Shape;430;p46"/>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7"/>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Documentació</a:t>
            </a:r>
            <a:endParaRPr/>
          </a:p>
        </p:txBody>
      </p:sp>
      <p:sp>
        <p:nvSpPr>
          <p:cNvPr id="436" name="Google Shape;436;p47"/>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fontScale="85000" lnSpcReduction="20000"/>
          </a:bodyPr>
          <a:lstStyle/>
          <a:p>
            <a:pPr indent="0" lvl="0" marL="0" rtl="0" algn="l">
              <a:lnSpc>
                <a:spcPct val="100000"/>
              </a:lnSpc>
              <a:spcBef>
                <a:spcPts val="0"/>
              </a:spcBef>
              <a:spcAft>
                <a:spcPts val="0"/>
              </a:spcAft>
              <a:buClr>
                <a:srgbClr val="000000"/>
              </a:buClr>
              <a:buSzPct val="100000"/>
              <a:buFont typeface="Arial"/>
              <a:buNone/>
            </a:pPr>
            <a:r>
              <a:rPr lang="ca" sz="1386"/>
              <a:t>Segons el cicle de vida clàssic, la documentació va passant per diferents etapes:</a:t>
            </a:r>
            <a:endParaRPr/>
          </a:p>
          <a:p>
            <a:pPr indent="0" lvl="0" marL="0" rtl="0" algn="l">
              <a:lnSpc>
                <a:spcPct val="100000"/>
              </a:lnSpc>
              <a:spcBef>
                <a:spcPts val="800"/>
              </a:spcBef>
              <a:spcAft>
                <a:spcPts val="0"/>
              </a:spcAft>
              <a:buClr>
                <a:srgbClr val="000000"/>
              </a:buClr>
              <a:buSzPct val="100000"/>
              <a:buFont typeface="Arial"/>
              <a:buNone/>
            </a:pPr>
            <a:r>
              <a:t/>
            </a:r>
            <a:endParaRPr sz="1386"/>
          </a:p>
          <a:p>
            <a:pPr indent="-126581" lvl="0" marL="138964" rtl="0" algn="l">
              <a:lnSpc>
                <a:spcPct val="100000"/>
              </a:lnSpc>
              <a:spcBef>
                <a:spcPts val="800"/>
              </a:spcBef>
              <a:spcAft>
                <a:spcPts val="0"/>
              </a:spcAft>
              <a:buClr>
                <a:srgbClr val="000000"/>
              </a:buClr>
              <a:buSzPct val="72222"/>
              <a:buFont typeface="Arial"/>
              <a:buChar char="•"/>
            </a:pPr>
            <a:r>
              <a:rPr b="1" lang="ca"/>
              <a:t>Fase inicial</a:t>
            </a:r>
            <a:r>
              <a:rPr lang="ca" sz="1386"/>
              <a:t>: En aquesta fase es planifica el projecte. S'estableixen les base de com s'haurà de desenvolupar la resta de fases del projecte.</a:t>
            </a:r>
            <a:endParaRPr/>
          </a:p>
          <a:p>
            <a:pPr indent="-126581" lvl="0" marL="138964" rtl="0" algn="l">
              <a:lnSpc>
                <a:spcPct val="100000"/>
              </a:lnSpc>
              <a:spcBef>
                <a:spcPts val="800"/>
              </a:spcBef>
              <a:spcAft>
                <a:spcPts val="0"/>
              </a:spcAft>
              <a:buClr>
                <a:srgbClr val="000000"/>
              </a:buClr>
              <a:buSzPct val="72222"/>
              <a:buFont typeface="Arial"/>
              <a:buChar char="•"/>
            </a:pPr>
            <a:r>
              <a:rPr b="1" lang="ca"/>
              <a:t>Anàlisi</a:t>
            </a:r>
            <a:r>
              <a:rPr lang="ca" sz="1386"/>
              <a:t>: En aquesta fase s'analitza el problema. Es recopilen, examinen i formulen els requisits del client.</a:t>
            </a:r>
            <a:endParaRPr/>
          </a:p>
          <a:p>
            <a:pPr indent="-126581" lvl="0" marL="138964" rtl="0" algn="l">
              <a:lnSpc>
                <a:spcPct val="100000"/>
              </a:lnSpc>
              <a:spcBef>
                <a:spcPts val="800"/>
              </a:spcBef>
              <a:spcAft>
                <a:spcPts val="0"/>
              </a:spcAft>
              <a:buClr>
                <a:srgbClr val="000000"/>
              </a:buClr>
              <a:buSzPct val="72222"/>
              <a:buFont typeface="Arial"/>
              <a:buChar char="•"/>
            </a:pPr>
            <a:r>
              <a:rPr b="1" lang="ca"/>
              <a:t>Disseny</a:t>
            </a:r>
            <a:r>
              <a:rPr lang="ca" sz="1386"/>
              <a:t>: Es determinen els requisits generals de l'arquitectura de l'aplicació i es donen definicions precises de cada subconjunt de l'aplicació.</a:t>
            </a:r>
            <a:endParaRPr/>
          </a:p>
          <a:p>
            <a:pPr indent="-126581" lvl="0" marL="138964" rtl="0" algn="l">
              <a:lnSpc>
                <a:spcPct val="100000"/>
              </a:lnSpc>
              <a:spcBef>
                <a:spcPts val="800"/>
              </a:spcBef>
              <a:spcAft>
                <a:spcPts val="0"/>
              </a:spcAft>
              <a:buClr>
                <a:srgbClr val="000000"/>
              </a:buClr>
              <a:buSzPct val="72222"/>
              <a:buFont typeface="Arial"/>
              <a:buChar char="•"/>
            </a:pPr>
            <a:r>
              <a:rPr b="1" lang="ca"/>
              <a:t>Codificació</a:t>
            </a:r>
            <a:r>
              <a:rPr lang="ca" sz="1386"/>
              <a:t> o implementació: Implementació del software en un llenguatge de programació per crear les funcions definides al disseny.</a:t>
            </a:r>
            <a:endParaRPr/>
          </a:p>
          <a:p>
            <a:pPr indent="-126581" lvl="0" marL="138964" rtl="0" algn="l">
              <a:lnSpc>
                <a:spcPct val="100000"/>
              </a:lnSpc>
              <a:spcBef>
                <a:spcPts val="800"/>
              </a:spcBef>
              <a:spcAft>
                <a:spcPts val="0"/>
              </a:spcAft>
              <a:buClr>
                <a:srgbClr val="000000"/>
              </a:buClr>
              <a:buSzPct val="72222"/>
              <a:buFont typeface="Arial"/>
              <a:buChar char="•"/>
            </a:pPr>
            <a:r>
              <a:rPr b="1" lang="ca"/>
              <a:t>Proves</a:t>
            </a:r>
            <a:r>
              <a:rPr lang="ca" sz="1386"/>
              <a:t>: Es realitzaran proves per garantir que l'aplicació se va programar d'acord a les especificacions inicials i que els diferents programes estan perfectament integrats i preparats per passar a explotació.</a:t>
            </a:r>
            <a:endParaRPr/>
          </a:p>
          <a:p>
            <a:pPr indent="-126581" lvl="0" marL="138964" rtl="0" algn="l">
              <a:lnSpc>
                <a:spcPct val="100000"/>
              </a:lnSpc>
              <a:spcBef>
                <a:spcPts val="800"/>
              </a:spcBef>
              <a:spcAft>
                <a:spcPts val="0"/>
              </a:spcAft>
              <a:buClr>
                <a:srgbClr val="000000"/>
              </a:buClr>
              <a:buSzPct val="72222"/>
              <a:buFont typeface="Arial"/>
              <a:buChar char="•"/>
            </a:pPr>
            <a:r>
              <a:rPr b="1" lang="ca"/>
              <a:t>Explotació</a:t>
            </a:r>
            <a:r>
              <a:rPr lang="ca" sz="1386"/>
              <a:t>: Fase en la qual se instal·la el software en un entorn real d'ús i al qual s'hi treballa de forma contidiana.</a:t>
            </a:r>
            <a:endParaRPr/>
          </a:p>
          <a:p>
            <a:pPr indent="-126581" lvl="0" marL="138964" rtl="0" algn="l">
              <a:lnSpc>
                <a:spcPct val="100000"/>
              </a:lnSpc>
              <a:spcBef>
                <a:spcPts val="800"/>
              </a:spcBef>
              <a:spcAft>
                <a:spcPts val="0"/>
              </a:spcAft>
              <a:buClr>
                <a:srgbClr val="000000"/>
              </a:buClr>
              <a:buSzPct val="72222"/>
              <a:buFont typeface="Arial"/>
              <a:buChar char="•"/>
            </a:pPr>
            <a:r>
              <a:rPr b="1" lang="ca"/>
              <a:t>Manteniment</a:t>
            </a:r>
            <a:r>
              <a:rPr lang="ca" sz="1386"/>
              <a:t>: En aquesta fase se realitzen tot tipus de procediments correctius, preventius i evoluius.</a:t>
            </a:r>
            <a:endParaRPr/>
          </a:p>
        </p:txBody>
      </p:sp>
      <p:sp>
        <p:nvSpPr>
          <p:cNvPr id="437" name="Google Shape;437;p47"/>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8"/>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Documentació</a:t>
            </a:r>
            <a:endParaRPr/>
          </a:p>
        </p:txBody>
      </p:sp>
      <p:sp>
        <p:nvSpPr>
          <p:cNvPr id="443" name="Google Shape;443;p48"/>
          <p:cNvSpPr txBox="1"/>
          <p:nvPr>
            <p:ph idx="1" type="body"/>
          </p:nvPr>
        </p:nvSpPr>
        <p:spPr>
          <a:xfrm>
            <a:off x="311700" y="1225225"/>
            <a:ext cx="8520600" cy="3354000"/>
          </a:xfrm>
          <a:prstGeom prst="rect">
            <a:avLst/>
          </a:prstGeom>
          <a:noFill/>
          <a:ln>
            <a:noFill/>
          </a:ln>
        </p:spPr>
        <p:txBody>
          <a:bodyPr anchorCtr="0" anchor="t" bIns="45700" lIns="45700" spcFirstLastPara="1" rIns="45700" wrap="square" tIns="45700">
            <a:normAutofit lnSpcReduction="20000"/>
          </a:bodyPr>
          <a:lstStyle/>
          <a:p>
            <a:pPr indent="0" lvl="0" marL="0" rtl="0" algn="l">
              <a:lnSpc>
                <a:spcPct val="100000"/>
              </a:lnSpc>
              <a:spcBef>
                <a:spcPts val="0"/>
              </a:spcBef>
              <a:spcAft>
                <a:spcPts val="0"/>
              </a:spcAft>
              <a:buClr>
                <a:srgbClr val="000000"/>
              </a:buClr>
              <a:buSzPts val="1745"/>
              <a:buFont typeface="Arial"/>
              <a:buNone/>
            </a:pPr>
            <a:r>
              <a:rPr lang="ca" sz="1745"/>
              <a:t>A cada una de les fases anterior s'elaboren un o més documents.</a:t>
            </a:r>
            <a:endParaRPr/>
          </a:p>
          <a:p>
            <a:pPr indent="0" lvl="0" marL="0" rtl="0" algn="l">
              <a:lnSpc>
                <a:spcPct val="100000"/>
              </a:lnSpc>
              <a:spcBef>
                <a:spcPts val="1000"/>
              </a:spcBef>
              <a:spcAft>
                <a:spcPts val="0"/>
              </a:spcAft>
              <a:buClr>
                <a:schemeClr val="accent3"/>
              </a:buClr>
              <a:buSzPts val="1552"/>
              <a:buFont typeface="Arial"/>
              <a:buNone/>
            </a:pPr>
            <a:r>
              <a:rPr i="1" lang="ca" sz="1552">
                <a:solidFill>
                  <a:schemeClr val="accent3"/>
                </a:solidFill>
              </a:rPr>
              <a:t>(e.g.: encara que no el mirem mai, els cotxes solen dur un manual d'instruccions, però s'elabora un manual de manteniment i un manual pel taller)</a:t>
            </a:r>
            <a:endParaRPr/>
          </a:p>
          <a:p>
            <a:pPr indent="0" lvl="0" marL="0" rtl="0" algn="l">
              <a:lnSpc>
                <a:spcPct val="100000"/>
              </a:lnSpc>
              <a:spcBef>
                <a:spcPts val="1000"/>
              </a:spcBef>
              <a:spcAft>
                <a:spcPts val="0"/>
              </a:spcAft>
              <a:buClr>
                <a:srgbClr val="000000"/>
              </a:buClr>
              <a:buSzPts val="1745"/>
              <a:buFont typeface="Arial"/>
              <a:buNone/>
            </a:pPr>
            <a:r>
              <a:rPr lang="ca" sz="1745"/>
              <a:t>El </a:t>
            </a:r>
            <a:r>
              <a:rPr b="1" lang="ca" u="sng"/>
              <a:t>mínim de documentació</a:t>
            </a:r>
            <a:r>
              <a:rPr lang="ca" sz="1745"/>
              <a:t> que s'hauria d'elaborar en un projecte de desenvolupament de software és el següent:</a:t>
            </a:r>
            <a:endParaRPr/>
          </a:p>
          <a:p>
            <a:pPr indent="-175059" lvl="0" marL="175059" rtl="0" algn="l">
              <a:lnSpc>
                <a:spcPct val="100000"/>
              </a:lnSpc>
              <a:spcBef>
                <a:spcPts val="1000"/>
              </a:spcBef>
              <a:spcAft>
                <a:spcPts val="0"/>
              </a:spcAft>
              <a:buClr>
                <a:srgbClr val="000000"/>
              </a:buClr>
              <a:buSzPts val="1700"/>
              <a:buFont typeface="Arial"/>
              <a:buChar char="•"/>
            </a:pPr>
            <a:r>
              <a:rPr b="1" lang="ca"/>
              <a:t>Manual d'usuari</a:t>
            </a:r>
            <a:r>
              <a:rPr lang="ca" sz="1745"/>
              <a:t>: és el manual que utilitzarà l'usuari per saber com ha d'utilitzar el programa. Haurà de ser autoexplicatiu i d'ajuda per l'usuari.</a:t>
            </a:r>
            <a:endParaRPr/>
          </a:p>
          <a:p>
            <a:pPr indent="-175059" lvl="0" marL="175059" rtl="0" algn="l">
              <a:lnSpc>
                <a:spcPct val="100000"/>
              </a:lnSpc>
              <a:spcBef>
                <a:spcPts val="1000"/>
              </a:spcBef>
              <a:spcAft>
                <a:spcPts val="0"/>
              </a:spcAft>
              <a:buClr>
                <a:srgbClr val="000000"/>
              </a:buClr>
              <a:buSzPts val="1700"/>
              <a:buFont typeface="Arial"/>
              <a:buChar char="•"/>
            </a:pPr>
            <a:r>
              <a:rPr b="1" lang="ca"/>
              <a:t>Manual tècnic</a:t>
            </a:r>
            <a:r>
              <a:rPr lang="ca" sz="1745"/>
              <a:t>: és el manual dirigit als tècnics. Amb aquesta documentació qualsevol tècnic amb coneixements del llenguatge de programació utilitzat al desenvolupament hauria de ser capaç de realitzar qualsevol tasca sobre el codi.</a:t>
            </a:r>
            <a:endParaRPr/>
          </a:p>
          <a:p>
            <a:pPr indent="-175059" lvl="0" marL="175059" rtl="0" algn="l">
              <a:lnSpc>
                <a:spcPct val="100000"/>
              </a:lnSpc>
              <a:spcBef>
                <a:spcPts val="1000"/>
              </a:spcBef>
              <a:spcAft>
                <a:spcPts val="0"/>
              </a:spcAft>
              <a:buClr>
                <a:srgbClr val="000000"/>
              </a:buClr>
              <a:buSzPts val="1700"/>
              <a:buFont typeface="Arial"/>
              <a:buChar char="•"/>
            </a:pPr>
            <a:r>
              <a:rPr b="1" lang="ca"/>
              <a:t>Manual d'instal·lació</a:t>
            </a:r>
            <a:r>
              <a:rPr lang="ca" sz="1745"/>
              <a:t>: en aquest manual s'expliquen passa a passa tots els requisits i com s'instal·la i posa en marxa l'aplicació.</a:t>
            </a:r>
            <a:endParaRPr/>
          </a:p>
        </p:txBody>
      </p:sp>
      <p:sp>
        <p:nvSpPr>
          <p:cNvPr id="444" name="Google Shape;444;p48"/>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3"/>
          <p:cNvSpPr txBox="1"/>
          <p:nvPr>
            <p:ph type="title"/>
          </p:nvPr>
        </p:nvSpPr>
        <p:spPr>
          <a:xfrm>
            <a:off x="311700" y="315925"/>
            <a:ext cx="8520600" cy="8313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339933"/>
              </a:buClr>
              <a:buSzPts val="3600"/>
              <a:buFont typeface="Arial"/>
              <a:buNone/>
            </a:pPr>
            <a:r>
              <a:rPr b="1" i="0" lang="ca" sz="3600" u="none" cap="none" strike="noStrike">
                <a:solidFill>
                  <a:srgbClr val="339933"/>
                </a:solidFill>
                <a:latin typeface="Arial"/>
                <a:ea typeface="Arial"/>
                <a:cs typeface="Arial"/>
                <a:sym typeface="Arial"/>
              </a:rPr>
              <a:t>Documentació</a:t>
            </a:r>
            <a:endParaRPr/>
          </a:p>
        </p:txBody>
      </p:sp>
      <p:sp>
        <p:nvSpPr>
          <p:cNvPr id="450" name="Google Shape;450;p53"/>
          <p:cNvSpPr txBox="1"/>
          <p:nvPr>
            <p:ph idx="1" type="body"/>
          </p:nvPr>
        </p:nvSpPr>
        <p:spPr>
          <a:xfrm>
            <a:off x="311700" y="1225225"/>
            <a:ext cx="8520600" cy="3354000"/>
          </a:xfrm>
          <a:prstGeom prst="rect">
            <a:avLst/>
          </a:prstGeom>
          <a:noFill/>
          <a:ln>
            <a:noFill/>
          </a:ln>
        </p:spPr>
        <p:txBody>
          <a:bodyPr anchorCtr="0" anchor="ctr" bIns="45700" lIns="45700" spcFirstLastPara="1" rIns="45700" wrap="square" tIns="45700">
            <a:normAutofit/>
          </a:bodyPr>
          <a:lstStyle/>
          <a:p>
            <a:pPr indent="0" lvl="0" marL="0" rtl="0" algn="ctr">
              <a:lnSpc>
                <a:spcPct val="100000"/>
              </a:lnSpc>
              <a:spcBef>
                <a:spcPts val="0"/>
              </a:spcBef>
              <a:spcAft>
                <a:spcPts val="0"/>
              </a:spcAft>
              <a:buClr>
                <a:srgbClr val="FF2712"/>
              </a:buClr>
              <a:buSzPts val="3600"/>
              <a:buFont typeface="Arial"/>
              <a:buNone/>
            </a:pPr>
            <a:r>
              <a:rPr lang="ca" sz="3600">
                <a:solidFill>
                  <a:srgbClr val="FF2712"/>
                </a:solidFill>
                <a:latin typeface="Arial"/>
                <a:ea typeface="Arial"/>
                <a:cs typeface="Arial"/>
                <a:sym typeface="Arial"/>
              </a:rPr>
              <a:t>Recordeu la gran importància que té la documentació!!!</a:t>
            </a:r>
            <a:endParaRPr/>
          </a:p>
          <a:p>
            <a:pPr indent="0" lvl="0" marL="0" rtl="0" algn="ctr">
              <a:lnSpc>
                <a:spcPct val="100000"/>
              </a:lnSpc>
              <a:spcBef>
                <a:spcPts val="1000"/>
              </a:spcBef>
              <a:spcAft>
                <a:spcPts val="0"/>
              </a:spcAft>
              <a:buClr>
                <a:srgbClr val="000000"/>
              </a:buClr>
              <a:buSzPts val="2200"/>
              <a:buFont typeface="Arial"/>
              <a:buNone/>
            </a:pPr>
            <a:r>
              <a:rPr lang="ca" sz="2200">
                <a:latin typeface="Arial"/>
                <a:ea typeface="Arial"/>
                <a:cs typeface="Arial"/>
                <a:sym typeface="Arial"/>
              </a:rPr>
              <a:t>Una aplicació sense documentació és com un cotxe sense peces de recanvi</a:t>
            </a:r>
            <a:endParaRPr/>
          </a:p>
        </p:txBody>
      </p:sp>
      <p:sp>
        <p:nvSpPr>
          <p:cNvPr id="451" name="Google Shape;451;p53"/>
          <p:cNvSpPr txBox="1"/>
          <p:nvPr>
            <p:ph idx="12" type="sldNum"/>
          </p:nvPr>
        </p:nvSpPr>
        <p:spPr>
          <a:xfrm>
            <a:off x="8472458" y="4663217"/>
            <a:ext cx="548700" cy="246300"/>
          </a:xfrm>
          <a:prstGeom prst="rect">
            <a:avLst/>
          </a:prstGeom>
          <a:noFill/>
          <a:ln>
            <a:noFill/>
          </a:ln>
        </p:spPr>
        <p:txBody>
          <a:bodyPr anchorCtr="0" anchor="t" bIns="45700" lIns="45700" spcFirstLastPara="1" rIns="45700" wrap="square" tIns="45700">
            <a:spAutoFit/>
          </a:bodyPr>
          <a:lstStyle/>
          <a:p>
            <a:pPr indent="0" lvl="0" marL="0" rtl="0" algn="r">
              <a:lnSpc>
                <a:spcPct val="100000"/>
              </a:lnSpc>
              <a:spcBef>
                <a:spcPts val="0"/>
              </a:spcBef>
              <a:spcAft>
                <a:spcPts val="0"/>
              </a:spcAft>
              <a:buSzPts val="1000"/>
              <a:buNone/>
            </a:pPr>
            <a:fld id="{00000000-1234-1234-1234-123412341234}" type="slidenum">
              <a:rPr lang="ca" sz="1000">
                <a:solidFill>
                  <a:schemeClr val="dk1"/>
                </a:solidFill>
                <a:latin typeface="Economica"/>
                <a:ea typeface="Economica"/>
                <a:cs typeface="Economica"/>
                <a:sym typeface="Economica"/>
              </a:rPr>
              <a:t>‹#›</a:t>
            </a:fld>
            <a:endParaRPr sz="1000">
              <a:solidFill>
                <a:schemeClr val="dk1"/>
              </a:solidFill>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seño predeterminado">
  <a:themeElements>
    <a:clrScheme name="Diseño predeterminado">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